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014115c3-5c72-2463-dc59-ee7e47550ec5}">
          <p14:sldIdLst>
            <p14:sldId id="256"/>
          </p14:sldIdLst>
        </p14:section>
        <p14:section name="Modelo YOLO11s" id="{74a1c044-b619-22ac-9364-56a6699425d3}">
          <p14:sldIdLst>
            <p14:sldId id="257"/>
            <p14:sldId id="258"/>
          </p14:sldIdLst>
        </p14:section>
        <p14:section name="Datos y entrenamiento" id="{61f5033a-835c-4cb5-78f9-24ba7a507c3b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26343C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26343C"/>
                </a:solidFill>
                <a:latin typeface="+mn-lt"/>
              </a:rPr>
              <a:t>Instancias anotadas por clase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Instancias</c:v>
                </c:pt>
              </c:strCache>
            </c:strRef>
          </c:tx>
          <c:spPr>
            <a:solidFill>
              <a:srgbClr val="95C1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6343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stringing</c:v>
                  </c:pt>
                  <c:pt idx="1">
                    <c:v>spaghetti</c:v>
                  </c:pt>
                  <c:pt idx="2">
                    <c:v>under_extrusion</c:v>
                  </c:pt>
                  <c:pt idx="3">
                    <c:v>blob_over_extrusion</c:v>
                  </c:pt>
                  <c:pt idx="4">
                    <c:v>warping</c:v>
                  </c:pt>
                  <c:pt idx="5">
                    <c:v>layer_shift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2596</c:v>
                </c:pt>
                <c:pt idx="1">
                  <c:v>2150</c:v>
                </c:pt>
                <c:pt idx="2">
                  <c:v>1414</c:v>
                </c:pt>
                <c:pt idx="3">
                  <c:v>1119</c:v>
                </c:pt>
                <c:pt idx="4">
                  <c:v>805</c:v>
                </c:pt>
                <c:pt idx="5">
                  <c:v>629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26343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4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43C"/>
                </a:solidFill>
                <a:latin typeface="+mn-lt"/>
              </a:rPr>
              <a:t>Pérdida (ilustrativo)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5B8A0A"/>
            </a:solidFill>
            <a:ln w="31750" cap="flat">
              <a:solidFill>
                <a:srgbClr val="5B8A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8A0A"/>
              </a:solidFill>
              <a:ln w="9525" cap="flat">
                <a:solidFill>
                  <a:srgbClr val="5B8A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3.15</c:v>
                </c:pt>
                <c:pt idx="1">
                  <c:v>2.705</c:v>
                </c:pt>
                <c:pt idx="2">
                  <c:v>2.377</c:v>
                </c:pt>
                <c:pt idx="3">
                  <c:v>2.088</c:v>
                </c:pt>
                <c:pt idx="4">
                  <c:v>1.808</c:v>
                </c:pt>
                <c:pt idx="5">
                  <c:v>1.605</c:v>
                </c:pt>
                <c:pt idx="6">
                  <c:v>1.46</c:v>
                </c:pt>
                <c:pt idx="7">
                  <c:v>1.297</c:v>
                </c:pt>
                <c:pt idx="8">
                  <c:v>1.153</c:v>
                </c:pt>
                <c:pt idx="9">
                  <c:v>1.078</c:v>
                </c:pt>
                <c:pt idx="10">
                  <c:v>1.003</c:v>
                </c:pt>
                <c:pt idx="11">
                  <c:v>0.901</c:v>
                </c:pt>
                <c:pt idx="12">
                  <c:v>0.844</c:v>
                </c:pt>
                <c:pt idx="13">
                  <c:v>0.824</c:v>
                </c:pt>
                <c:pt idx="14">
                  <c:v>0.767</c:v>
                </c:pt>
                <c:pt idx="15">
                  <c:v>0.709</c:v>
                </c:pt>
                <c:pt idx="16">
                  <c:v>0.704</c:v>
                </c:pt>
                <c:pt idx="17">
                  <c:v>0.693</c:v>
                </c:pt>
                <c:pt idx="18">
                  <c:v>0.642</c:v>
                </c:pt>
                <c:pt idx="19">
                  <c:v>0.625</c:v>
                </c:pt>
                <c:pt idx="20">
                  <c:v>0.641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validación</c:v>
                </c:pt>
              </c:strCache>
            </c:strRef>
          </c:tx>
          <c:spPr>
            <a:solidFill>
              <a:srgbClr val="C96A00"/>
            </a:solidFill>
            <a:ln w="31750" cap="flat">
              <a:solidFill>
                <a:srgbClr val="C96A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6A00"/>
              </a:solidFill>
              <a:ln w="9525" cap="flat">
                <a:solidFill>
                  <a:srgbClr val="C96A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>3.55</c:v>
                </c:pt>
                <c:pt idx="1">
                  <c:v>3.021</c:v>
                </c:pt>
                <c:pt idx="2">
                  <c:v>2.672</c:v>
                </c:pt>
                <c:pt idx="3">
                  <c:v>2.355</c:v>
                </c:pt>
                <c:pt idx="4">
                  <c:v>2.017</c:v>
                </c:pt>
                <c:pt idx="5">
                  <c:v>1.801</c:v>
                </c:pt>
                <c:pt idx="6">
                  <c:v>1.671</c:v>
                </c:pt>
                <c:pt idx="7">
                  <c:v>1.482</c:v>
                </c:pt>
                <c:pt idx="8">
                  <c:v>1.312</c:v>
                </c:pt>
                <c:pt idx="9">
                  <c:v>1.259</c:v>
                </c:pt>
                <c:pt idx="10">
                  <c:v>1.193</c:v>
                </c:pt>
                <c:pt idx="11">
                  <c:v>1.06</c:v>
                </c:pt>
                <c:pt idx="12">
                  <c:v>1.006</c:v>
                </c:pt>
                <c:pt idx="13">
                  <c:v>1.017</c:v>
                </c:pt>
                <c:pt idx="14">
                  <c:v>0.946</c:v>
                </c:pt>
                <c:pt idx="15">
                  <c:v>0.866</c:v>
                </c:pt>
                <c:pt idx="16">
                  <c:v>0.889</c:v>
                </c:pt>
                <c:pt idx="17">
                  <c:v>0.892</c:v>
                </c:pt>
                <c:pt idx="18">
                  <c:v>0.813</c:v>
                </c:pt>
                <c:pt idx="19">
                  <c:v>0.797</c:v>
                </c:pt>
                <c:pt idx="20">
                  <c:v>0.846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F77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F77"/>
                    </a:solidFill>
                    <a:latin typeface="+mn-lt"/>
                  </a:rPr>
                  <a:t>Época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6343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4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43C"/>
                </a:solidFill>
                <a:latin typeface="+mn-lt"/>
              </a:rPr>
              <a:t>mAP50-95 (ilustrativo)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mAP50-95</c:v>
                </c:pt>
              </c:strCache>
            </c:strRef>
          </c:tx>
          <c:spPr>
            <a:solidFill>
              <a:srgbClr val="2E8B9A"/>
            </a:solidFill>
            <a:ln w="31750" cap="flat">
              <a:solidFill>
                <a:srgbClr val="2E8B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8B9A"/>
              </a:solidFill>
              <a:ln w="9525" cap="flat">
                <a:solidFill>
                  <a:srgbClr val="2E8B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0.12</c:v>
                </c:pt>
                <c:pt idx="2">
                  <c:v>0.218</c:v>
                </c:pt>
                <c:pt idx="3">
                  <c:v>0.301</c:v>
                </c:pt>
                <c:pt idx="4">
                  <c:v>0.37</c:v>
                </c:pt>
                <c:pt idx="5">
                  <c:v>0.427</c:v>
                </c:pt>
                <c:pt idx="6">
                  <c:v>0.469</c:v>
                </c:pt>
                <c:pt idx="7">
                  <c:v>0.499</c:v>
                </c:pt>
                <c:pt idx="8">
                  <c:v>0.52</c:v>
                </c:pt>
                <c:pt idx="9">
                  <c:v>0.534</c:v>
                </c:pt>
                <c:pt idx="10">
                  <c:v>0.548</c:v>
                </c:pt>
                <c:pt idx="11">
                  <c:v>0.563</c:v>
                </c:pt>
                <c:pt idx="12">
                  <c:v>0.579</c:v>
                </c:pt>
                <c:pt idx="13">
                  <c:v>0.593</c:v>
                </c:pt>
                <c:pt idx="14">
                  <c:v>0.602</c:v>
                </c:pt>
                <c:pt idx="15">
                  <c:v>0.605</c:v>
                </c:pt>
                <c:pt idx="16">
                  <c:v>0.604</c:v>
                </c:pt>
                <c:pt idx="17">
                  <c:v>0.602</c:v>
                </c:pt>
                <c:pt idx="18">
                  <c:v>0.602</c:v>
                </c:pt>
                <c:pt idx="19">
                  <c:v>0.606</c:v>
                </c:pt>
                <c:pt idx="20">
                  <c:v>0.613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F77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F77"/>
                    </a:solidFill>
                    <a:latin typeface="+mn-lt"/>
                  </a:rPr>
                  <a:t>Época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6343C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26343C"/>
                </a:solidFill>
                <a:latin typeface="+mn-lt"/>
              </a:rPr>
              <a:t>Learning rate (ilustrativo)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learning rate</c:v>
                </c:pt>
              </c:strCache>
            </c:strRef>
          </c:tx>
          <c:spPr>
            <a:solidFill>
              <a:srgbClr val="5B8A0A"/>
            </a:solidFill>
            <a:ln w="31750" cap="flat">
              <a:solidFill>
                <a:srgbClr val="5B8A0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8A0A"/>
              </a:solidFill>
              <a:ln w="9525" cap="flat">
                <a:solidFill>
                  <a:srgbClr val="5B8A0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  <c:pt idx="19">
                    <c:v>95</c:v>
                  </c:pt>
                  <c:pt idx="20">
                    <c:v>100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0</c:v>
                </c:pt>
                <c:pt idx="1">
                  <c:v>0.0095</c:v>
                </c:pt>
                <c:pt idx="2">
                  <c:v>0.00901</c:v>
                </c:pt>
                <c:pt idx="3">
                  <c:v>0.00851</c:v>
                </c:pt>
                <c:pt idx="4">
                  <c:v>0.00802</c:v>
                </c:pt>
                <c:pt idx="5">
                  <c:v>0.00752</c:v>
                </c:pt>
                <c:pt idx="6">
                  <c:v>0.00703</c:v>
                </c:pt>
                <c:pt idx="7">
                  <c:v>0.00654</c:v>
                </c:pt>
                <c:pt idx="8">
                  <c:v>0.00604</c:v>
                </c:pt>
                <c:pt idx="9">
                  <c:v>0.00555</c:v>
                </c:pt>
                <c:pt idx="10">
                  <c:v>0.00505</c:v>
                </c:pt>
                <c:pt idx="11">
                  <c:v>0.00456</c:v>
                </c:pt>
                <c:pt idx="12">
                  <c:v>0.00406</c:v>
                </c:pt>
                <c:pt idx="13">
                  <c:v>0.00357</c:v>
                </c:pt>
                <c:pt idx="14">
                  <c:v>0.00307</c:v>
                </c:pt>
                <c:pt idx="15">
                  <c:v>0.00258</c:v>
                </c:pt>
                <c:pt idx="16">
                  <c:v>0.00208</c:v>
                </c:pt>
                <c:pt idx="17">
                  <c:v>0.00159</c:v>
                </c:pt>
                <c:pt idx="18">
                  <c:v>0.00109</c:v>
                </c:pt>
                <c:pt idx="19">
                  <c:v>0.0006</c:v>
                </c:pt>
                <c:pt idx="20">
                  <c:v>0.0001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6F77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5F6F77"/>
                    </a:solidFill>
                    <a:latin typeface="+mn-lt"/>
                  </a:rPr>
                  <a:t>Época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C"/>
              </a:solidFill>
              <a:prstDash val="solid"/>
              <a:round/>
            </a:ln>
          </c:spPr>
        </c:majorGridlines>
        <c:numFmt formatCode="0.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F7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sección técnica de PrintWatch. Presenta el proyecto y a los autores. Esta parte explica cómo la red YOLO11s convierte una foto de la capa en detecciones.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tensor (1, 3, 640, 640) ya normalizado es lo que entra a la red. YOLO es un detector de una sola etapa: la misma pasada hacia adelante localiza y clasifica. La imagen se reparte en celdas en tres escalas, cada celda propone una caja y probabilidades de clase, y el NMS limpia los duplicados.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YOLO11s tiene tres bloques. El backbone (CSPDarknet con bloques C3k2, SPPF y C2PSA) extrae características. El neck PAN-FPN las combina en tres escalas, P3, P4 y P5. La head es anchor-free, desacoplada y usa DFL con reg_max 16. En total son cerca de 9.4 millones de parámetros y 21.5 GFLOPs por imagen a 640 por 640; son las cifras oficiales de Ultralytics.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cambia el expositor: se pasa de cómo funciona YOLO a cómo se entrenó. Combinamos tres datasets públicos de Roboflow Universe: 3612, 1002 y 999 imágenes, 5613 en total, mapeados a nuestras seis clases. Dividimos 70, 15 y 15 por ciento por secuencia de video y no por fotograma, porque frames consecutivos son casi idénticos y, si quedaran repartidos entre entrenamiento y prueba, las métricas saldrían infladas: eso es data leakage. El conjunto de prueba real quedó en 841 imágenes porque la división por secuencia no es exacta.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pérdida combina tres términos. CIoU mide la caja y pesa 7.5, porque localizar con precisión es lo más difícil; da gradiente incluso cuando las cajas no se tocan. BCE clasifica cada clase de forma independiente con peso 0.5. DFL afina los bordes con peso 1.5. YOLO11s ganó un bake-off corto de 15 épocas contra YOLOv8n; el entrenamiento final fue en Colab: hasta 100 épocas, batch 16, 640 píxeles, patience 20, lr inicial 0.01. El optimizador está configurado como auto en Ultralytics: confirmar en args.yaml cuál eligió. La regla base es descenso de gradiente con momentum y decaimiento de pesos; el learning rate tiene warmup y luego decae hasta cerca del 1 por ciento.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curvas son ilustrativas: el notebook de entrenamiento se guardó sin sus salidas, así que no tenemos las reales. Muestran el patrón sano: la pérdida de train y de validación bajan juntas y el mAP sube y se estabiliza. El learning rate tiene un warmup corto y luego decae casi hasta cero. Si la validación se aplana o sube mientras train sigue bajando, es overfitting, y patience detiene el entrenamiento conservando el mejor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IDO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35040" y="2240280"/>
            <a:ext cx="5394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035040" y="3200400"/>
            <a:ext cx="5394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35040" y="22402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PrintWatch</a:t>
            </a:r>
            <a:endParaRPr lang="en-US" sz="54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035040" y="32004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2"/>
                </a:solidFill>
              </a:rPr>
              <a:t>Monitoreo de impresión 3D con YOLO11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3977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Detección de defectos capa por capa con visión por computador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48006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Samuel Esteban Rodríguez Marín · Adrian Stiven Meneses Ávila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Docente: Jheyston Serrano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Ingeniería en Inteligencia Artificial · UIS Barrancabermeja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¿Cómo ve YOLO? Una sola pasada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914400" y="1463040"/>
            <a:ext cx="4754880" cy="26746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50876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0312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9748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9184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8620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74920" y="1463040"/>
            <a:ext cx="0" cy="26746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057400"/>
            <a:ext cx="4754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651760"/>
            <a:ext cx="4754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3246120"/>
            <a:ext cx="4754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840480"/>
            <a:ext cx="47548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86200" y="2651760"/>
            <a:ext cx="594360" cy="594360"/>
          </a:xfrm>
          <a:prstGeom prst="rect">
            <a:avLst/>
          </a:prstGeom>
          <a:solidFill>
            <a:schemeClr val="accent1">
              <a:alpha val="5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10712" y="2295144"/>
            <a:ext cx="1828800" cy="1371600"/>
          </a:xfrm>
          <a:prstGeom prst="ellipse">
            <a:avLst/>
          </a:prstGeom>
          <a:solidFill>
            <a:schemeClr val="tx2">
              <a:alpha val="75000"/>
            </a:schemeClr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91840" y="2176272"/>
            <a:ext cx="2286000" cy="1737360"/>
          </a:xfrm>
          <a:prstGeom prst="rect">
            <a:avLst/>
          </a:prstGeom>
          <a:ln w="31750">
            <a:solidFill>
              <a:schemeClr val="accent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0" y="1908810"/>
            <a:ext cx="1554480" cy="329184"/>
          </a:xfrm>
          <a:prstGeom prst="rect">
            <a:avLst/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91840" y="190881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spaghetti 0.91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42291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Grilla ilustrativa: la real es 80×80, 40×40 y 20×20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914400" y="4754880"/>
            <a:ext cx="475488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1188720" y="4892040"/>
            <a:ext cx="4297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YOLO: imagen → red → cajas y clases (1 paso)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Faster R-CNN: proponer regiones → clasificar (2 etapas)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126480" y="137160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355080" y="1801368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550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132320" y="1554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Una sola pasada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13232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Localiza y clasifica a la vez, sin proponer regiones.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126480" y="292608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355080" y="3355848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355080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132320" y="3108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Celdas en 3 escalas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132320" y="35204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80² + 40² + 20² = 8 400 candidatas; cada una predice caja + 6 clases.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126480" y="4480560"/>
            <a:ext cx="5029200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355080" y="4910328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355080" y="4910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7132320" y="4663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NMS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7132320" y="50749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Elimina duplicados: queda una caja por defecto.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Arquitectura de YOLO11s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25880"/>
            <a:ext cx="1033272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325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≈ 9.4 M</a:t>
            </a:r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parámetros     ·     </a:t>
            </a:r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≈ 21.5</a:t>
            </a:r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GFLOPs por imagen     ·     </a:t>
            </a:r>
            <a:pPr algn="ctr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6</a:t>
            </a:r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clases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377440"/>
            <a:ext cx="3246120" cy="356616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377440"/>
            <a:ext cx="3246120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377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Backbone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CSPDarknet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6576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C3k2: divide el flujo en dos ramas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SPPF: contexto a varias escalas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C2PSA: atención espacial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87368" y="2907792"/>
            <a:ext cx="237744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343400" y="2377440"/>
            <a:ext cx="3246120" cy="356616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377440"/>
            <a:ext cx="3246120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2377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Neck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PAN-FPN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6576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Fusiona P3, P4 y P5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Strides 8, 16 y 32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Arriba-abajo y abajo-arriba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07808" y="2907792"/>
            <a:ext cx="237744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863840" y="2377440"/>
            <a:ext cx="3246120" cy="3566160"/>
          </a:xfrm>
          <a:prstGeom prst="roundRect">
            <a:avLst>
              <a:gd name="adj" fmla="val 338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863840" y="2377440"/>
            <a:ext cx="3246120" cy="1051560"/>
          </a:xfrm>
          <a:prstGeom prst="roundRect">
            <a:avLst>
              <a:gd name="adj" fmla="val 10435"/>
            </a:avLst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0" y="2377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Head</a:t>
            </a:r>
            <a:endParaRPr lang="en-US" sz="1400" dirty="0"/>
          </a:p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Anchor-free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3657600"/>
            <a:ext cx="2743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Desacoplada: clase y caja separadas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DFL con reg_max = 16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6 clases + 4 bordes por celda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y división 70 / 15 / 15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7232904" cy="9144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72329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Entrenamiento · 70 %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≈ 3 929 imágenes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055864" y="1371600"/>
            <a:ext cx="1549908" cy="9144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55864" y="1371600"/>
            <a:ext cx="15499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Val · 15 %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≈ 842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05772" y="1371600"/>
            <a:ext cx="1549908" cy="914400"/>
          </a:xfrm>
          <a:prstGeom prst="rect">
            <a:avLst/>
          </a:prstGeom>
          <a:solidFill>
            <a:schemeClr val="accent4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5772" y="1371600"/>
            <a:ext cx="15499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Test · 15 %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841 (real)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377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5 613 imágenes de 3 datasets de Roboflow Universe · semilla 42 · el test real es de 841 porque la división por secuencia no es exacta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31520" y="2834640"/>
          <a:ext cx="58521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6858000" y="2880360"/>
            <a:ext cx="429768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086600" y="3017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División por secuencia de video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7086600" y="35204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Video 1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19872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75904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631936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887968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144000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400032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656064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912096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168128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424160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10680192" y="353872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086600" y="39319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Video 2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863840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119872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75904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631936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887968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9144000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400032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656064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912096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168128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424160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0680192" y="3950208"/>
            <a:ext cx="201168" cy="27432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086600" y="43434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Video 3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7863840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8119872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375904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631936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8887968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9144000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400032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656064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9912096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168128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10424160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680192" y="4361688"/>
            <a:ext cx="201168" cy="274320"/>
          </a:xfrm>
          <a:prstGeom prst="rect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53" name="Text 49"/>
          <p:cNvSpPr txBox="1"/>
          <p:nvPr/>
        </p:nvSpPr>
        <p:spPr>
          <a:xfrm>
            <a:off x="7086600" y="4846320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fotogramas vecinos son casi idénticos: separarlos entre train y test inflaría las métricas (data leakage).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Entrenamiento y función de pérdida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10332720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 = 7.5 · L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CIoU</a:t>
            </a:r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 + 0.5 · L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BCE</a:t>
            </a:r>
            <a:pPr algn="ctr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 + 1.5 · L</a:t>
            </a:r>
            <a:pPr algn="ctr" indent="0" marL="0">
              <a:buNone/>
            </a:pPr>
            <a:r>
              <a:rPr lang="en-US" sz="2200" b="1" baseline="-40000" dirty="0">
                <a:solidFill>
                  <a:schemeClr val="tx1"/>
                </a:solidFill>
              </a:rPr>
              <a:t>DFL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22960" y="26974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914400" y="2697480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7.5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CIoU · caja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Superposición, distancia de centros y proporción.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26974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434840" y="2697480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0.5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562356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BCE · clase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Entropía cruzada binaria por clase.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863840" y="2697480"/>
            <a:ext cx="329184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955280" y="2697480"/>
            <a:ext cx="1143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1.5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78892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DFL · bordes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Afina los bordes de la caja.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22960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100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épocas máx.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569464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2569464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16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2569464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5968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315968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640 px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4315968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imagen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062472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062472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20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6062472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patience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808976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808976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0.01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808976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lr inicial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9555480" y="46177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9555480" y="470916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auto</a:t>
            </a:r>
            <a:endParaRPr lang="en-US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9555480" y="5440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optimizador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1600200" y="182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Curvas de entrenamiento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22960" y="1371600"/>
            <a:ext cx="32918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868680" y="141732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4343400" y="1371600"/>
            <a:ext cx="32918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1" descr=""/>
          <p:cNvGraphicFramePr/>
          <p:nvPr/>
        </p:nvGraphicFramePr>
        <p:xfrm>
          <a:off x="4389120" y="141732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3"/>
          <p:cNvSpPr/>
          <p:nvPr/>
        </p:nvSpPr>
        <p:spPr>
          <a:xfrm>
            <a:off x="7863840" y="1371600"/>
            <a:ext cx="329184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9" name="Chart 2" descr=""/>
          <p:cNvGraphicFramePr/>
          <p:nvPr/>
        </p:nvGraphicFramePr>
        <p:xfrm>
          <a:off x="7909560" y="141732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4"/>
          <p:cNvSpPr/>
          <p:nvPr/>
        </p:nvSpPr>
        <p:spPr>
          <a:xfrm>
            <a:off x="822960" y="489204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1005840" y="4937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Sano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Train y validación bajan juntas.</a:t>
            </a:r>
            <a:endParaRPr lang="en-US" sz="1400" dirty="0"/>
          </a:p>
        </p:txBody>
      </p:sp>
      <p:sp>
        <p:nvSpPr>
          <p:cNvPr id="12" name="Shape 6"/>
          <p:cNvSpPr/>
          <p:nvPr/>
        </p:nvSpPr>
        <p:spPr>
          <a:xfrm>
            <a:off x="4343400" y="489204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4526280" y="4937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Overfitting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Validación se aplana o sube; patience corta ahí.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7863840" y="4892040"/>
            <a:ext cx="32918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8046720" y="49377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Checkpoint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 conserva el mejor, no el de la última época.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intWatch UIS">
  <a:themeElements>
    <a:clrScheme name="PrintWatch UIS">
      <a:dk1>
        <a:srgbClr val="26343C"/>
      </a:dk1>
      <a:lt1>
        <a:srgbClr val="FFFFFF"/>
      </a:lt1>
      <a:dk2>
        <a:srgbClr val="5F6F77"/>
      </a:dk2>
      <a:lt2>
        <a:srgbClr val="F4F8EC"/>
      </a:lt2>
      <a:accent1>
        <a:srgbClr val="95C12E"/>
      </a:accent1>
      <a:accent2>
        <a:srgbClr val="5B8A0A"/>
      </a:accent2>
      <a:accent3>
        <a:srgbClr val="2E8B9A"/>
      </a:accent3>
      <a:accent4>
        <a:srgbClr val="46586A"/>
      </a:accent4>
      <a:accent5>
        <a:srgbClr val="C96A00"/>
      </a:accent5>
      <a:accent6>
        <a:srgbClr val="E3E9EC"/>
      </a:accent6>
      <a:hlink>
        <a:srgbClr val="2E8B9A"/>
      </a:hlink>
      <a:folHlink>
        <a:srgbClr val="5F6F77"/>
      </a:folHlink>
    </a:clrScheme>
    <a:fontScheme name="PrintWatch U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PrintWatch: YOLO11 y detección de objetos</dc:title>
  <dc:subject>PptxGenJS Presentation</dc:subject>
  <dc:creator>Samuel Esteban Rodríguez Marín, Adrian Stiven Meneses Ávila</dc:creator>
  <cp:lastModifiedBy>Samuel Esteban Rodríguez Marín, Adrian Stiven Meneses Ávila</cp:lastModifiedBy>
  <cp:revision>1</cp:revision>
  <dcterms:created xsi:type="dcterms:W3CDTF">2026-10-27T03:51:53Z</dcterms:created>
  <dcterms:modified xsi:type="dcterms:W3CDTF">2026-10-27T03:51:53Z</dcterms:modified>
</cp:coreProperties>
</file>