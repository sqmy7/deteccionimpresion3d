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661aea7d-702c-7e71-9cda-5b0305e36ebf}">
          <p14:sldIdLst>
            <p14:sldId id="256"/>
          </p14:sldIdLst>
        </p14:section>
        <p14:section name="Modelo YOLO11s" id="{43353203-3683-85c5-39a9-5b174d460a4d}">
          <p14:sldIdLst>
            <p14:sldId id="257"/>
            <p14:sldId id="258"/>
            <p14:sldId id="259"/>
            <p14:sldId id="260"/>
            <p14:sldId id="261"/>
          </p14:sldIdLst>
        </p14:section>
        <p14:section name="Preprocesamiento" id="{83188847-1413-0a6b-5950-13ea31176e9f}">
          <p14:sldIdLst>
            <p14:sldId id="262"/>
            <p14:sldId id="263"/>
            <p14:sldId id="264"/>
          </p14:sldIdLst>
        </p14:section>
        <p14:section name="Datos y entrenamiento" id="{624c539c-057d-482e-cf12-de8ecd7c1006}">
          <p14:sldIdLst>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26343C"/>
                </a:solidFill>
                <a:latin typeface="+mn-lt"/>
              </a:defRPr>
            </a:pPr>
            <a:r>
              <a:rPr sz="1600" b="0" i="0" u="none" strike="noStrike">
                <a:solidFill>
                  <a:srgbClr val="26343C"/>
                </a:solidFill>
                <a:latin typeface="+mn-lt"/>
              </a:rPr>
              <a:t>Instancias anotadas por clase</a:t>
            </a:r>
          </a:p>
        </c:rich>
      </c:tx>
      <c:layout/>
      <c:overlay val="0"/>
    </c:title>
    <c:autoTitleDeleted val="0"/>
    <c:plotArea>
      <c:layout/>
      <c:barChart>
        <c:barDir val="bar"/>
        <c:grouping val="clustered"/>
        <c:varyColors val="0"/>
        <c:ser>
          <c:idx val="0"/>
          <c:order val="0"/>
          <c:tx>
            <c:strRef>
              <c:f>Sheet1!$B$1</c:f>
              <c:strCache>
                <c:ptCount val="1"/>
                <c:pt idx="0">
                  <c:v>Instancias</c:v>
                </c:pt>
              </c:strCache>
            </c:strRef>
          </c:tx>
          <c:spPr>
            <a:solidFill>
              <a:srgbClr val="95C12E"/>
            </a:solidFill>
            <a:effectLst/>
          </c:spPr>
          <c:invertIfNegative val="0"/>
          <c:dLbls>
            <c:numFmt formatCode="#,##0" sourceLinked="0"/>
            <c:txPr>
              <a:bodyPr/>
              <a:lstStyle/>
              <a:p>
                <a:pPr>
                  <a:defRPr b="0" i="0" strike="noStrike" sz="1300" u="none">
                    <a:solidFill>
                      <a:srgbClr val="26343C"/>
                    </a:solidFill>
                    <a:latin typeface="+mn-lt"/>
                  </a:defRPr>
                </a:pPr>
              </a:p>
            </c:txPr>
            <c:showLegendKey val="0"/>
            <c:showVal val="1"/>
            <c:showCatName val="0"/>
            <c:showSerName val="0"/>
            <c:showPercent val="0"/>
            <c:showBubbleSize val="0"/>
            <c:showLeaderLines val="0"/>
          </c:dLbls>
          <c:cat>
            <c:multiLvlStrRef>
              <c:f>Sheet1!$A$2:$A$7</c:f>
              <c:multiLvlStrCache>
                <c:ptCount val="6"/>
                <c:lvl>
                  <c:pt idx="0">
                    <c:v>stringing</c:v>
                  </c:pt>
                  <c:pt idx="1">
                    <c:v>spaghetti</c:v>
                  </c:pt>
                  <c:pt idx="2">
                    <c:v>under_extrusion</c:v>
                  </c:pt>
                  <c:pt idx="3">
                    <c:v>blob_over_extrusion</c:v>
                  </c:pt>
                  <c:pt idx="4">
                    <c:v>warping</c:v>
                  </c:pt>
                  <c:pt idx="5">
                    <c:v>layer_shift</c:v>
                  </c:pt>
                </c:lvl>
              </c:multiLvlStrCache>
            </c:multiLvlStrRef>
          </c:cat>
          <c:val>
            <c:numRef>
              <c:f>Sheet1!$B$2:$B$7</c:f>
              <c:numCache>
                <c:formatCode>General</c:formatCode>
                <c:ptCount val="6"/>
                <c:pt idx="0">
                  <c:v>2596</c:v>
                </c:pt>
                <c:pt idx="1">
                  <c:v>2150</c:v>
                </c:pt>
                <c:pt idx="2">
                  <c:v>1414</c:v>
                </c:pt>
                <c:pt idx="3">
                  <c:v>1119</c:v>
                </c:pt>
                <c:pt idx="4">
                  <c:v>805</c:v>
                </c:pt>
                <c:pt idx="5">
                  <c:v>629</c:v>
                </c:pt>
              </c:numCache>
            </c:numRef>
          </c:val>
        </c:ser>
        <c:dLbls>
          <c:numFmt formatCode="#,##0" sourceLinked="0"/>
          <c:txPr>
            <a:bodyPr/>
            <a:lstStyle/>
            <a:p>
              <a:pPr>
                <a:defRPr b="0" i="0" strike="noStrike" sz="1300" u="none">
                  <a:solidFill>
                    <a:srgbClr val="26343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6343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343C"/>
                </a:solidFill>
                <a:latin typeface="+mn-lt"/>
              </a:defRPr>
            </a:pPr>
            <a:r>
              <a:rPr sz="1400" b="0" i="0" u="none" strike="noStrike">
                <a:solidFill>
                  <a:srgbClr val="26343C"/>
                </a:solidFill>
                <a:latin typeface="+mn-lt"/>
              </a:rPr>
              <a:t>Learning rate (esquema ilustrativo)</a:t>
            </a:r>
          </a:p>
        </c:rich>
      </c:tx>
      <c:layout/>
      <c:overlay val="0"/>
    </c:title>
    <c:autoTitleDeleted val="0"/>
    <c:plotArea>
      <c:layout/>
      <c:lineChart>
        <c:varyColors val="0"/>
        <c:ser>
          <c:idx val="0"/>
          <c:order val="0"/>
          <c:tx>
            <c:strRef>
              <c:f>Sheet1!$B$1</c:f>
              <c:strCache>
                <c:ptCount val="1"/>
                <c:pt idx="0">
                  <c:v>learning rate</c:v>
                </c:pt>
              </c:strCache>
            </c:strRef>
          </c:tx>
          <c:spPr>
            <a:solidFill>
              <a:srgbClr val="5B8A0A"/>
            </a:solidFill>
            <a:ln w="38100" cap="flat">
              <a:solidFill>
                <a:srgbClr val="5B8A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8A0A"/>
              </a:solidFill>
              <a:ln w="9525" cap="flat">
                <a:solidFill>
                  <a:srgbClr val="5B8A0A"/>
                </a:solidFill>
                <a:prstDash val="solid"/>
                <a:round/>
              </a:ln>
              <a:effectLst/>
            </c:spPr>
          </c:marker>
          <c:cat>
            <c:multiLvlStrRef>
              <c:f>Sheet1!$A$2:$A$102</c:f>
              <c:multiLvlStrCache>
                <c:ptCount val="101"/>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lvl>
              </c:multiLvlStrCache>
            </c:multiLvlStrRef>
          </c:cat>
          <c:val>
            <c:numRef>
              <c:f>Sheet1!$B$2:$B$102</c:f>
              <c:numCache>
                <c:formatCode>General</c:formatCode>
                <c:ptCount val="101"/>
                <c:pt idx="0">
                  <c:v>0</c:v>
                </c:pt>
                <c:pt idx="1">
                  <c:v>0.00333</c:v>
                </c:pt>
                <c:pt idx="2">
                  <c:v>0.00667</c:v>
                </c:pt>
                <c:pt idx="3">
                  <c:v>0.0097</c:v>
                </c:pt>
                <c:pt idx="4">
                  <c:v>0.0096</c:v>
                </c:pt>
                <c:pt idx="5">
                  <c:v>0.0095</c:v>
                </c:pt>
                <c:pt idx="6">
                  <c:v>0.00941</c:v>
                </c:pt>
                <c:pt idx="7">
                  <c:v>0.00931</c:v>
                </c:pt>
                <c:pt idx="8">
                  <c:v>0.00921</c:v>
                </c:pt>
                <c:pt idx="9">
                  <c:v>0.00911</c:v>
                </c:pt>
                <c:pt idx="10">
                  <c:v>0.00901</c:v>
                </c:pt>
                <c:pt idx="11">
                  <c:v>0.00891</c:v>
                </c:pt>
                <c:pt idx="12">
                  <c:v>0.00881</c:v>
                </c:pt>
                <c:pt idx="13">
                  <c:v>0.00871</c:v>
                </c:pt>
                <c:pt idx="14">
                  <c:v>0.00861</c:v>
                </c:pt>
                <c:pt idx="15">
                  <c:v>0.00851</c:v>
                </c:pt>
                <c:pt idx="16">
                  <c:v>0.00842</c:v>
                </c:pt>
                <c:pt idx="17">
                  <c:v>0.00832</c:v>
                </c:pt>
                <c:pt idx="18">
                  <c:v>0.00822</c:v>
                </c:pt>
                <c:pt idx="19">
                  <c:v>0.00812</c:v>
                </c:pt>
                <c:pt idx="20">
                  <c:v>0.00802</c:v>
                </c:pt>
                <c:pt idx="21">
                  <c:v>0.00792</c:v>
                </c:pt>
                <c:pt idx="22">
                  <c:v>0.00782</c:v>
                </c:pt>
                <c:pt idx="23">
                  <c:v>0.00772</c:v>
                </c:pt>
                <c:pt idx="24">
                  <c:v>0.00762</c:v>
                </c:pt>
                <c:pt idx="25">
                  <c:v>0.00752</c:v>
                </c:pt>
                <c:pt idx="26">
                  <c:v>0.00743</c:v>
                </c:pt>
                <c:pt idx="27">
                  <c:v>0.00733</c:v>
                </c:pt>
                <c:pt idx="28">
                  <c:v>0.00723</c:v>
                </c:pt>
                <c:pt idx="29">
                  <c:v>0.00713</c:v>
                </c:pt>
                <c:pt idx="30">
                  <c:v>0.00703</c:v>
                </c:pt>
                <c:pt idx="31">
                  <c:v>0.00693</c:v>
                </c:pt>
                <c:pt idx="32">
                  <c:v>0.00683</c:v>
                </c:pt>
                <c:pt idx="33">
                  <c:v>0.00673</c:v>
                </c:pt>
                <c:pt idx="34">
                  <c:v>0.00663</c:v>
                </c:pt>
                <c:pt idx="35">
                  <c:v>0.00654</c:v>
                </c:pt>
                <c:pt idx="36">
                  <c:v>0.00644</c:v>
                </c:pt>
                <c:pt idx="37">
                  <c:v>0.00634</c:v>
                </c:pt>
                <c:pt idx="38">
                  <c:v>0.00624</c:v>
                </c:pt>
                <c:pt idx="39">
                  <c:v>0.00614</c:v>
                </c:pt>
                <c:pt idx="40">
                  <c:v>0.00604</c:v>
                </c:pt>
                <c:pt idx="41">
                  <c:v>0.00594</c:v>
                </c:pt>
                <c:pt idx="42">
                  <c:v>0.00584</c:v>
                </c:pt>
                <c:pt idx="43">
                  <c:v>0.00574</c:v>
                </c:pt>
                <c:pt idx="44">
                  <c:v>0.00564</c:v>
                </c:pt>
                <c:pt idx="45">
                  <c:v>0.00555</c:v>
                </c:pt>
                <c:pt idx="46">
                  <c:v>0.00545</c:v>
                </c:pt>
                <c:pt idx="47">
                  <c:v>0.00535</c:v>
                </c:pt>
                <c:pt idx="48">
                  <c:v>0.00525</c:v>
                </c:pt>
                <c:pt idx="49">
                  <c:v>0.00515</c:v>
                </c:pt>
                <c:pt idx="50">
                  <c:v>0.00505</c:v>
                </c:pt>
                <c:pt idx="51">
                  <c:v>0.00495</c:v>
                </c:pt>
                <c:pt idx="52">
                  <c:v>0.00485</c:v>
                </c:pt>
                <c:pt idx="53">
                  <c:v>0.00475</c:v>
                </c:pt>
                <c:pt idx="54">
                  <c:v>0.00465</c:v>
                </c:pt>
                <c:pt idx="55">
                  <c:v>0.00456</c:v>
                </c:pt>
                <c:pt idx="56">
                  <c:v>0.00446</c:v>
                </c:pt>
                <c:pt idx="57">
                  <c:v>0.00436</c:v>
                </c:pt>
                <c:pt idx="58">
                  <c:v>0.00426</c:v>
                </c:pt>
                <c:pt idx="59">
                  <c:v>0.00416</c:v>
                </c:pt>
                <c:pt idx="60">
                  <c:v>0.00406</c:v>
                </c:pt>
                <c:pt idx="61">
                  <c:v>0.00396</c:v>
                </c:pt>
                <c:pt idx="62">
                  <c:v>0.00386</c:v>
                </c:pt>
                <c:pt idx="63">
                  <c:v>0.00376</c:v>
                </c:pt>
                <c:pt idx="64">
                  <c:v>0.00366</c:v>
                </c:pt>
                <c:pt idx="65">
                  <c:v>0.00357</c:v>
                </c:pt>
                <c:pt idx="66">
                  <c:v>0.00347</c:v>
                </c:pt>
                <c:pt idx="67">
                  <c:v>0.00337</c:v>
                </c:pt>
                <c:pt idx="68">
                  <c:v>0.00327</c:v>
                </c:pt>
                <c:pt idx="69">
                  <c:v>0.00317</c:v>
                </c:pt>
                <c:pt idx="70">
                  <c:v>0.00307</c:v>
                </c:pt>
                <c:pt idx="71">
                  <c:v>0.00297</c:v>
                </c:pt>
                <c:pt idx="72">
                  <c:v>0.00287</c:v>
                </c:pt>
                <c:pt idx="73">
                  <c:v>0.00277</c:v>
                </c:pt>
                <c:pt idx="74">
                  <c:v>0.00267</c:v>
                </c:pt>
                <c:pt idx="75">
                  <c:v>0.00258</c:v>
                </c:pt>
                <c:pt idx="76">
                  <c:v>0.00248</c:v>
                </c:pt>
                <c:pt idx="77">
                  <c:v>0.00238</c:v>
                </c:pt>
                <c:pt idx="78">
                  <c:v>0.00228</c:v>
                </c:pt>
                <c:pt idx="79">
                  <c:v>0.00218</c:v>
                </c:pt>
                <c:pt idx="80">
                  <c:v>0.00208</c:v>
                </c:pt>
                <c:pt idx="81">
                  <c:v>0.00198</c:v>
                </c:pt>
                <c:pt idx="82">
                  <c:v>0.00188</c:v>
                </c:pt>
                <c:pt idx="83">
                  <c:v>0.00178</c:v>
                </c:pt>
                <c:pt idx="84">
                  <c:v>0.00168</c:v>
                </c:pt>
                <c:pt idx="85">
                  <c:v>0.00159</c:v>
                </c:pt>
                <c:pt idx="86">
                  <c:v>0.00149</c:v>
                </c:pt>
                <c:pt idx="87">
                  <c:v>0.00139</c:v>
                </c:pt>
                <c:pt idx="88">
                  <c:v>0.00129</c:v>
                </c:pt>
                <c:pt idx="89">
                  <c:v>0.00119</c:v>
                </c:pt>
                <c:pt idx="90">
                  <c:v>0.00109</c:v>
                </c:pt>
                <c:pt idx="91">
                  <c:v>0.00099</c:v>
                </c:pt>
                <c:pt idx="92">
                  <c:v>0.00089</c:v>
                </c:pt>
                <c:pt idx="93">
                  <c:v>0.00079</c:v>
                </c:pt>
                <c:pt idx="94">
                  <c:v>0.00069</c:v>
                </c:pt>
                <c:pt idx="95">
                  <c:v>0.0006</c:v>
                </c:pt>
                <c:pt idx="96">
                  <c:v>0.0005</c:v>
                </c:pt>
                <c:pt idx="97">
                  <c:v>0.0004</c:v>
                </c:pt>
                <c:pt idx="98">
                  <c:v>0.0003</c:v>
                </c:pt>
                <c:pt idx="99">
                  <c:v>0.0002</c:v>
                </c:pt>
                <c:pt idx="100">
                  <c:v>0.0001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6F77"/>
                    </a:solidFill>
                    <a:latin typeface="+mn-lt"/>
                  </a:defRPr>
                </a:pPr>
                <a:r>
                  <a:rPr sz="1100" b="0" i="0" u="none" strike="noStrike">
                    <a:solidFill>
                      <a:srgbClr val="5F6F77"/>
                    </a:solidFill>
                    <a:latin typeface="+mn-lt"/>
                  </a:rPr>
                  <a:t>Época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2"/>
        <c:crosses val="autoZero"/>
        <c:auto val="1"/>
        <c:lblAlgn val="ctr"/>
        <c:noMultiLvlLbl val="1"/>
        <c:tickLblSkip val="20"/>
      </c:catAx>
      <c:valAx>
        <c:axId val="2094734552"/>
        <c:scaling>
          <c:orientation val="minMax"/>
        </c:scaling>
        <c:delete val="0"/>
        <c:axPos val="l"/>
        <c:majorGridlines>
          <c:spPr>
            <a:ln w="9525" cap="flat">
              <a:solidFill>
                <a:srgbClr val="E3E9EC"/>
              </a:solidFill>
              <a:prstDash val="solid"/>
              <a:round/>
            </a:ln>
          </c:spPr>
        </c:majorGridlines>
        <c:numFmt formatCode="0.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343C"/>
                </a:solidFill>
                <a:latin typeface="+mn-lt"/>
              </a:defRPr>
            </a:pPr>
            <a:r>
              <a:rPr sz="1400" b="0" i="0" u="none" strike="noStrike">
                <a:solidFill>
                  <a:srgbClr val="26343C"/>
                </a:solidFill>
                <a:latin typeface="+mn-lt"/>
              </a:rPr>
              <a:t>Pérdida (ilustrativo)</a:t>
            </a:r>
          </a:p>
        </c:rich>
      </c:tx>
      <c:layout/>
      <c:overlay val="0"/>
    </c:title>
    <c:autoTitleDeleted val="0"/>
    <c:plotArea>
      <c:layout/>
      <c:lineChart>
        <c:varyColors val="0"/>
        <c:ser>
          <c:idx val="0"/>
          <c:order val="0"/>
          <c:tx>
            <c:strRef>
              <c:f>Sheet1!$B$1</c:f>
              <c:strCache>
                <c:ptCount val="1"/>
                <c:pt idx="0">
                  <c:v>train</c:v>
                </c:pt>
              </c:strCache>
            </c:strRef>
          </c:tx>
          <c:spPr>
            <a:solidFill>
              <a:srgbClr val="5B8A0A"/>
            </a:solidFill>
            <a:ln w="31750" cap="flat">
              <a:solidFill>
                <a:srgbClr val="5B8A0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8A0A"/>
              </a:solidFill>
              <a:ln w="9525" cap="flat">
                <a:solidFill>
                  <a:srgbClr val="5B8A0A"/>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Sheet1!$B$2:$B$22</c:f>
              <c:numCache>
                <c:formatCode>General</c:formatCode>
                <c:ptCount val="21"/>
                <c:pt idx="0">
                  <c:v>3.15</c:v>
                </c:pt>
                <c:pt idx="1">
                  <c:v>2.705</c:v>
                </c:pt>
                <c:pt idx="2">
                  <c:v>2.377</c:v>
                </c:pt>
                <c:pt idx="3">
                  <c:v>2.088</c:v>
                </c:pt>
                <c:pt idx="4">
                  <c:v>1.808</c:v>
                </c:pt>
                <c:pt idx="5">
                  <c:v>1.605</c:v>
                </c:pt>
                <c:pt idx="6">
                  <c:v>1.46</c:v>
                </c:pt>
                <c:pt idx="7">
                  <c:v>1.297</c:v>
                </c:pt>
                <c:pt idx="8">
                  <c:v>1.153</c:v>
                </c:pt>
                <c:pt idx="9">
                  <c:v>1.078</c:v>
                </c:pt>
                <c:pt idx="10">
                  <c:v>1.003</c:v>
                </c:pt>
                <c:pt idx="11">
                  <c:v>0.901</c:v>
                </c:pt>
                <c:pt idx="12">
                  <c:v>0.844</c:v>
                </c:pt>
                <c:pt idx="13">
                  <c:v>0.824</c:v>
                </c:pt>
                <c:pt idx="14">
                  <c:v>0.767</c:v>
                </c:pt>
                <c:pt idx="15">
                  <c:v>0.709</c:v>
                </c:pt>
                <c:pt idx="16">
                  <c:v>0.704</c:v>
                </c:pt>
                <c:pt idx="17">
                  <c:v>0.693</c:v>
                </c:pt>
                <c:pt idx="18">
                  <c:v>0.642</c:v>
                </c:pt>
                <c:pt idx="19">
                  <c:v>0.625</c:v>
                </c:pt>
                <c:pt idx="20">
                  <c:v>0.641</c:v>
                </c:pt>
              </c:numCache>
            </c:numRef>
          </c:val>
          <c:smooth val="0"/>
        </c:ser>
        <c:ser>
          <c:idx val="1"/>
          <c:order val="1"/>
          <c:tx>
            <c:strRef>
              <c:f>Sheet1!$C$1</c:f>
              <c:strCache>
                <c:ptCount val="1"/>
                <c:pt idx="0">
                  <c:v>validación</c:v>
                </c:pt>
              </c:strCache>
            </c:strRef>
          </c:tx>
          <c:spPr>
            <a:solidFill>
              <a:srgbClr val="C96A00"/>
            </a:solidFill>
            <a:ln w="31750" cap="flat">
              <a:solidFill>
                <a:srgbClr val="C96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96A00"/>
              </a:solidFill>
              <a:ln w="9525" cap="flat">
                <a:solidFill>
                  <a:srgbClr val="C96A00"/>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Sheet1!$C$2:$C$22</c:f>
              <c:numCache>
                <c:formatCode>General</c:formatCode>
                <c:ptCount val="21"/>
                <c:pt idx="0">
                  <c:v>3.55</c:v>
                </c:pt>
                <c:pt idx="1">
                  <c:v>3.021</c:v>
                </c:pt>
                <c:pt idx="2">
                  <c:v>2.672</c:v>
                </c:pt>
                <c:pt idx="3">
                  <c:v>2.355</c:v>
                </c:pt>
                <c:pt idx="4">
                  <c:v>2.017</c:v>
                </c:pt>
                <c:pt idx="5">
                  <c:v>1.801</c:v>
                </c:pt>
                <c:pt idx="6">
                  <c:v>1.671</c:v>
                </c:pt>
                <c:pt idx="7">
                  <c:v>1.482</c:v>
                </c:pt>
                <c:pt idx="8">
                  <c:v>1.312</c:v>
                </c:pt>
                <c:pt idx="9">
                  <c:v>1.259</c:v>
                </c:pt>
                <c:pt idx="10">
                  <c:v>1.193</c:v>
                </c:pt>
                <c:pt idx="11">
                  <c:v>1.06</c:v>
                </c:pt>
                <c:pt idx="12">
                  <c:v>1.006</c:v>
                </c:pt>
                <c:pt idx="13">
                  <c:v>1.017</c:v>
                </c:pt>
                <c:pt idx="14">
                  <c:v>0.946</c:v>
                </c:pt>
                <c:pt idx="15">
                  <c:v>0.866</c:v>
                </c:pt>
                <c:pt idx="16">
                  <c:v>0.889</c:v>
                </c:pt>
                <c:pt idx="17">
                  <c:v>0.892</c:v>
                </c:pt>
                <c:pt idx="18">
                  <c:v>0.813</c:v>
                </c:pt>
                <c:pt idx="19">
                  <c:v>0.797</c:v>
                </c:pt>
                <c:pt idx="20">
                  <c:v>0.846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6F77"/>
                    </a:solidFill>
                    <a:latin typeface="+mn-lt"/>
                  </a:defRPr>
                </a:pPr>
                <a:r>
                  <a:rPr sz="1100" b="0" i="0" u="none" strike="noStrike">
                    <a:solidFill>
                      <a:srgbClr val="5F6F77"/>
                    </a:solidFill>
                    <a:latin typeface="+mn-lt"/>
                  </a:rPr>
                  <a:t>Época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3E9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6343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6343C"/>
                </a:solidFill>
                <a:latin typeface="+mn-lt"/>
              </a:defRPr>
            </a:pPr>
            <a:r>
              <a:rPr sz="1400" b="0" i="0" u="none" strike="noStrike">
                <a:solidFill>
                  <a:srgbClr val="26343C"/>
                </a:solidFill>
                <a:latin typeface="+mn-lt"/>
              </a:rPr>
              <a:t>mAP50-95 en validación (ilustrativo)</a:t>
            </a:r>
          </a:p>
        </c:rich>
      </c:tx>
      <c:layout/>
      <c:overlay val="0"/>
    </c:title>
    <c:autoTitleDeleted val="0"/>
    <c:plotArea>
      <c:layout/>
      <c:lineChart>
        <c:varyColors val="0"/>
        <c:ser>
          <c:idx val="0"/>
          <c:order val="0"/>
          <c:tx>
            <c:strRef>
              <c:f>Sheet1!$B$1</c:f>
              <c:strCache>
                <c:ptCount val="1"/>
                <c:pt idx="0">
                  <c:v>mAP50-95</c:v>
                </c:pt>
              </c:strCache>
            </c:strRef>
          </c:tx>
          <c:spPr>
            <a:solidFill>
              <a:srgbClr val="2E8B9A"/>
            </a:solidFill>
            <a:ln w="31750" cap="flat">
              <a:solidFill>
                <a:srgbClr val="2E8B9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8B9A"/>
              </a:solidFill>
              <a:ln w="9525" cap="flat">
                <a:solidFill>
                  <a:srgbClr val="2E8B9A"/>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Sheet1!$B$2:$B$22</c:f>
              <c:numCache>
                <c:formatCode>General</c:formatCode>
                <c:ptCount val="21"/>
                <c:pt idx="0">
                  <c:v>0</c:v>
                </c:pt>
                <c:pt idx="1">
                  <c:v>0.12</c:v>
                </c:pt>
                <c:pt idx="2">
                  <c:v>0.218</c:v>
                </c:pt>
                <c:pt idx="3">
                  <c:v>0.301</c:v>
                </c:pt>
                <c:pt idx="4">
                  <c:v>0.37</c:v>
                </c:pt>
                <c:pt idx="5">
                  <c:v>0.427</c:v>
                </c:pt>
                <c:pt idx="6">
                  <c:v>0.469</c:v>
                </c:pt>
                <c:pt idx="7">
                  <c:v>0.499</c:v>
                </c:pt>
                <c:pt idx="8">
                  <c:v>0.52</c:v>
                </c:pt>
                <c:pt idx="9">
                  <c:v>0.534</c:v>
                </c:pt>
                <c:pt idx="10">
                  <c:v>0.548</c:v>
                </c:pt>
                <c:pt idx="11">
                  <c:v>0.563</c:v>
                </c:pt>
                <c:pt idx="12">
                  <c:v>0.579</c:v>
                </c:pt>
                <c:pt idx="13">
                  <c:v>0.593</c:v>
                </c:pt>
                <c:pt idx="14">
                  <c:v>0.602</c:v>
                </c:pt>
                <c:pt idx="15">
                  <c:v>0.605</c:v>
                </c:pt>
                <c:pt idx="16">
                  <c:v>0.604</c:v>
                </c:pt>
                <c:pt idx="17">
                  <c:v>0.602</c:v>
                </c:pt>
                <c:pt idx="18">
                  <c:v>0.602</c:v>
                </c:pt>
                <c:pt idx="19">
                  <c:v>0.606</c:v>
                </c:pt>
                <c:pt idx="20">
                  <c:v>0.613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6F77"/>
                    </a:solidFill>
                    <a:latin typeface="+mn-lt"/>
                  </a:defRPr>
                </a:pPr>
                <a:r>
                  <a:rPr sz="1100" b="0" i="0" u="none" strike="noStrike">
                    <a:solidFill>
                      <a:srgbClr val="5F6F77"/>
                    </a:solidFill>
                    <a:latin typeface="+mn-lt"/>
                  </a:rPr>
                  <a:t>Época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E3E9EC"/>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F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26343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la sección técnica de PrintWatch. Presenta el proyecto y a los autores. Esta parte explica cómo la red YOLO11s convierte una foto de la capa en detecciones.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del recorrido que hace una foto: la cámara la captura, se preprocesa, la red YOLO11s la procesa, se filtran las predicciones y queda el defecto con su caja. Todo corre una vez por capa y en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 es un detector de una sola etapa: la misma pasada hacia adelante localiza y clasifica. La imagen se reparte en celdas en tres escalas, cada celda propone una caja y probabilidades de clase, y el NMS limpia los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YOLO11s tiene tres bloques: backbone que extrae características, neck que las combina en tres escalas y head que produce las predicciones. Son cerca de 9.4 millones de parámetros y 21.5 GFLOPs por imagen a 640 por 640; son las cifras oficiales de Ultralytics.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backbone reduce la resolución y aumenta los canales para extraer características cada vez más abstractas. C3k2 divide el flujo en dos ramas; SPPF captura contexto a varias escalas; C2PSA agrega atención espacial. El neck PAN-FPN fusiona P3, P4 y P5 en dos direcciones.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head es anchor-free: cada celda predice directamente las distancias a los cuatro bordes de la caja. Está desacoplada: clasificación y caja usan subredes separadas. Cada borde se predice como una distribución sobre 16 valores, y el valor final es su esperanza (DFL).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cámara entrega 1280 por 720. YOLO espera un cuadrado de 640. El letterbox escala con un único factor s igual a 0.5 para no deformar los defectos y completa con gris 114. Ojo: en producción el worker redimensiona directo, y esa diferencia con el entrenamiento está registrada como limitación en 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del cuadrado, la imagen pasa de alto-ancho-canales a canales-alto-ancho y se le agrega la dimensión de batch. Luego se divide entre 255. No se resta media ni desviación porque la primera BatchNorm ya recentra. 640 es múltiplo de 32 porque el backbone reduce cinco veces por 2, y es el tamaño de preentrenamiento.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red entrega 8400 candidatas con 6 probabilidades de clase y 4 valores de caja. Primero se descartan las que no llegan a 0.25 de confianza. Luego el NMS ordena por confianza, acepta la mayor y elimina las que se solapan con IoU mayor a 0.45. Nuestro NMS es agnóstico a la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Combinamos tres datasets públicos de Roboflow Universe, 5613 imágenes en total, y mapeamos sus clases a nuestras seis. Las clases de origen que no corresponden a un defecto nuestro, como crack, se descartaron. La clase con más instancias es stringing y la menor es layer_shift.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Dividimos 70, 15 y 15 por ciento por secuencia de video y no por fotograma, porque frames consecutivos son casi idénticos y, si quedaran repartidos entre entrenamiento y prueba, las métricas saldrían infladas: eso es data leakage. El conjunto de prueba real quedó en 841 imágenes porque la división por secuencia no es exacta.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YOLO11s ganó un bake-off corto de 15 épocas contra YOLOv8n. El entrenamiento final fue en Google Colab: hasta 100 épocas, batch 16, 640 píxeles, patience 20, lr inicial 0.01 y semilla 42. El optimizador está configurado como auto en Ultralytics: confirmar en args.yaml cuál eligió. La regla de actualización base es descenso de gradiente con momentum y decaimiento de pesos. El learning rate tiene warmup y luego decae hasta cerca del 1 por ciento.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pérdida combina tres términos. CIoU mide la caja y pesa 7.5, porque localizar con precisión es lo más difícil. BCE clasifica cada clase de forma independiente con peso 0.5. DFL afina los bordes de la caja con peso 1.5. CIoU añade distancia entre centros y proporción, así da gradiente incluso cuando las cajas no se tocan.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curvas son ilustrativas: el notebook de entrenamiento se guardó sin sus salidas, así que no tenemos las reales. Muestran el patrón sano: la pérdida de train y de validación bajan juntas, y el mAP sube y se estabiliza. Si la validación se aplana o sube mientras train sigue bajando, es overfitting y patience detiene el entrenamiento conservando el mejor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conjunto de prueba, a nivel imagen y con umbral 0.25, el modelo alcanza 99.7 por ciento de precisión y 92.1 de recall en la pregunta general de si hay defecto. spaghetti llega a 0.963 y 0.975. Las clases débiles son under_extrusion, por su recall, y blob_over_extrusion. Todo esto se midió sobre fotos de Roboflow, no con nuestra cámara ni con un spaghetti real, y un enredo pequeño no se detecta.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035040" y="2240280"/>
            <a:ext cx="5394960" cy="91440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6035040" y="3200400"/>
            <a:ext cx="5394960" cy="914400"/>
          </a:xfrm>
          <a:prstGeom prst="rect">
            <a:avLst/>
          </a:prstGeom>
          <a:noFill/>
          <a:ln/>
        </p:spPr>
        <p:txBody>
          <a:bodyPr wrap="square" rtlCol="0"/>
          <a:lstStyle>
            <a:lvl1pPr algn="l" indent="0" marL="0">
              <a:buNone/>
              <a:defRPr lang="en-US" sz="2400" dirty="0">
                <a:solidFill>
                  <a:schemeClr val="accent2"/>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1600200" y="182880"/>
            <a:ext cx="78638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6035040" y="2240280"/>
            <a:ext cx="5394960" cy="914400"/>
          </a:xfrm>
          <a:prstGeom prst="rect">
            <a:avLst/>
          </a:prstGeom>
          <a:noFill/>
          <a:ln/>
        </p:spPr>
        <p:txBody>
          <a:bodyPr wrap="square" lIns="0" tIns="0" rIns="0" bIns="0" rtlCol="0" anchor="ctr"/>
          <a:lstStyle/>
          <a:p>
            <a:pPr algn="l" indent="0" marL="0">
              <a:buNone/>
            </a:pPr>
            <a:r>
              <a:rPr lang="en-US" sz="5400" b="1" dirty="0">
                <a:solidFill>
                  <a:schemeClr val="tx1"/>
                </a:solidFill>
              </a:rPr>
              <a:t>PrintWatch</a:t>
            </a:r>
            <a:endParaRPr lang="en-US" sz="5400" dirty="0"/>
          </a:p>
        </p:txBody>
      </p:sp>
      <p:sp>
        <p:nvSpPr>
          <p:cNvPr id="4" name="Text 0"/>
          <p:cNvSpPr/>
          <p:nvPr>
            <p:ph idx="101" type="body" hasCustomPrompt="1"/>
          </p:nvPr>
        </p:nvSpPr>
        <p:spPr>
          <a:xfrm>
            <a:off x="6035040" y="3200400"/>
            <a:ext cx="5394960" cy="914400"/>
          </a:xfrm>
          <a:prstGeom prst="rect">
            <a:avLst/>
          </a:prstGeom>
          <a:noFill/>
          <a:ln/>
        </p:spPr>
        <p:txBody>
          <a:bodyPr wrap="square" lIns="0" tIns="0" rIns="0" bIns="0" rtlCol="0" anchor="t"/>
          <a:lstStyle/>
          <a:p>
            <a:pPr algn="l" indent="0" marL="0">
              <a:buNone/>
            </a:pPr>
            <a:r>
              <a:rPr lang="en-US" sz="2400" dirty="0">
                <a:solidFill>
                  <a:schemeClr val="accent2"/>
                </a:solidFill>
              </a:rPr>
              <a:t>Monitoreo de impresión 3D con YOLO11</a:t>
            </a:r>
            <a:endParaRPr lang="en-US" sz="2400" dirty="0"/>
          </a:p>
        </p:txBody>
      </p:sp>
      <p:sp>
        <p:nvSpPr>
          <p:cNvPr id="5" name="Text 2"/>
          <p:cNvSpPr txBox="1"/>
          <p:nvPr/>
        </p:nvSpPr>
        <p:spPr>
          <a:xfrm>
            <a:off x="6035040" y="3977640"/>
            <a:ext cx="5303520" cy="640080"/>
          </a:xfrm>
          <a:prstGeom prst="rect">
            <a:avLst/>
          </a:prstGeom>
          <a:noFill/>
          <a:ln/>
        </p:spPr>
        <p:txBody>
          <a:bodyPr wrap="square" lIns="0" tIns="0" rIns="0" bIns="0" rtlCol="0" anchor="t"/>
          <a:lstStyle/>
          <a:p>
            <a:pPr indent="0" marL="0">
              <a:buNone/>
            </a:pPr>
            <a:r>
              <a:rPr lang="en-US" sz="1600" dirty="0">
                <a:solidFill>
                  <a:schemeClr val="tx2"/>
                </a:solidFill>
              </a:rPr>
              <a:t>Detección de defectos capa por capa con visión por computador</a:t>
            </a:r>
            <a:endParaRPr lang="en-US" sz="1600" dirty="0"/>
          </a:p>
        </p:txBody>
      </p:sp>
      <p:sp>
        <p:nvSpPr>
          <p:cNvPr id="6" name="Text 3"/>
          <p:cNvSpPr txBox="1"/>
          <p:nvPr/>
        </p:nvSpPr>
        <p:spPr>
          <a:xfrm>
            <a:off x="6035040" y="4800600"/>
            <a:ext cx="5486400" cy="100584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Samuel Esteban Rodríguez Marín · Adrian Stiven Meneses Ávila</a:t>
            </a:r>
            <a:endParaRPr lang="en-US" sz="1400" dirty="0"/>
          </a:p>
          <a:p>
            <a:pPr indent="0" marL="0">
              <a:spcAft>
                <a:spcPts val="400"/>
              </a:spcAft>
              <a:buNone/>
            </a:pPr>
            <a:r>
              <a:rPr lang="en-US" sz="1400" dirty="0">
                <a:solidFill>
                  <a:schemeClr val="tx1"/>
                </a:solidFill>
              </a:rPr>
              <a:t>Docente: Jheyston Serrano</a:t>
            </a:r>
            <a:endParaRPr lang="en-US" sz="1400" dirty="0"/>
          </a:p>
          <a:p>
            <a:pPr indent="0" marL="0">
              <a:spcAft>
                <a:spcPts val="400"/>
              </a:spcAft>
              <a:buNone/>
            </a:pPr>
            <a:r>
              <a:rPr lang="en-US" sz="1400" dirty="0">
                <a:solidFill>
                  <a:schemeClr val="tx1"/>
                </a:solidFill>
              </a:rPr>
              <a:t>Ingeniería en Inteligencia Artificial · UIS Barrancabermeja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Del píxel a la detección</a:t>
            </a:r>
            <a:endParaRPr lang="en-US" sz="3000" dirty="0"/>
          </a:p>
        </p:txBody>
      </p:sp>
      <p:sp>
        <p:nvSpPr>
          <p:cNvPr id="4" name="Shape 1"/>
          <p:cNvSpPr/>
          <p:nvPr/>
        </p:nvSpPr>
        <p:spPr>
          <a:xfrm>
            <a:off x="960120" y="1645920"/>
            <a:ext cx="1828800" cy="2560320"/>
          </a:xfrm>
          <a:prstGeom prst="roundRect">
            <a:avLst>
              <a:gd name="adj" fmla="val 6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508760" y="1874520"/>
            <a:ext cx="731520" cy="731520"/>
          </a:xfrm>
          <a:prstGeom prst="ellipse">
            <a:avLst/>
          </a:prstGeom>
          <a:solidFill>
            <a:schemeClr val="accent2"/>
          </a:solidFill>
          <a:ln w="6350">
            <a:solidFill>
              <a:schemeClr val="accent2"/>
            </a:solidFill>
            <a:prstDash val="solid"/>
          </a:ln>
        </p:spPr>
      </p:sp>
      <p:pic>
        <p:nvPicPr>
          <p:cNvPr id="6" name="Image 0" descr="icono">    </p:cNvPr>
          <p:cNvPicPr>
            <a:picLocks noChangeAspect="1"/>
          </p:cNvPicPr>
          <p:nvPr/>
        </p:nvPicPr>
        <p:blipFill>
          <a:blip r:embed="rId1"/>
          <a:stretch>
            <a:fillRect/>
          </a:stretch>
        </p:blipFill>
        <p:spPr>
          <a:xfrm>
            <a:off x="1706270" y="2072030"/>
            <a:ext cx="336499" cy="336499"/>
          </a:xfrm>
          <a:prstGeom prst="rect">
            <a:avLst/>
          </a:prstGeom>
        </p:spPr>
      </p:pic>
      <p:sp>
        <p:nvSpPr>
          <p:cNvPr id="7" name="Text 3"/>
          <p:cNvSpPr txBox="1"/>
          <p:nvPr/>
        </p:nvSpPr>
        <p:spPr>
          <a:xfrm>
            <a:off x="1051560" y="278892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Captura</a:t>
            </a:r>
            <a:endParaRPr lang="en-US" sz="1800" dirty="0"/>
          </a:p>
        </p:txBody>
      </p:sp>
      <p:sp>
        <p:nvSpPr>
          <p:cNvPr id="8" name="Text 4"/>
          <p:cNvSpPr txBox="1"/>
          <p:nvPr/>
        </p:nvSpPr>
        <p:spPr>
          <a:xfrm>
            <a:off x="1051560" y="3246120"/>
            <a:ext cx="1645920" cy="731520"/>
          </a:xfrm>
          <a:prstGeom prst="rect">
            <a:avLst/>
          </a:prstGeom>
          <a:noFill/>
          <a:ln/>
        </p:spPr>
        <p:txBody>
          <a:bodyPr wrap="square" lIns="0" tIns="0" rIns="0" bIns="0" rtlCol="0" anchor="t"/>
          <a:lstStyle/>
          <a:p>
            <a:pPr algn="ctr" indent="0" marL="0">
              <a:buNone/>
            </a:pPr>
            <a:r>
              <a:rPr lang="en-US" sz="1600" dirty="0">
                <a:solidFill>
                  <a:schemeClr val="tx2"/>
                </a:solidFill>
              </a:rPr>
              <a:t>1280 × 720</a:t>
            </a:r>
            <a:endParaRPr lang="en-US" sz="1600" dirty="0"/>
          </a:p>
        </p:txBody>
      </p:sp>
      <p:sp>
        <p:nvSpPr>
          <p:cNvPr id="9" name="Text 5"/>
          <p:cNvSpPr txBox="1"/>
          <p:nvPr/>
        </p:nvSpPr>
        <p:spPr>
          <a:xfrm>
            <a:off x="1069848" y="1737360"/>
            <a:ext cx="365760" cy="365760"/>
          </a:xfrm>
          <a:prstGeom prst="rect">
            <a:avLst/>
          </a:prstGeom>
          <a:noFill/>
          <a:ln/>
        </p:spPr>
        <p:txBody>
          <a:bodyPr wrap="square" lIns="0" tIns="0" rIns="0" bIns="0" rtlCol="0" anchor="t"/>
          <a:lstStyle/>
          <a:p>
            <a:pPr indent="0" marL="0">
              <a:buNone/>
            </a:pPr>
            <a:r>
              <a:rPr lang="en-US" sz="1600" b="1" dirty="0">
                <a:solidFill>
                  <a:schemeClr val="accent2"/>
                </a:solidFill>
              </a:rPr>
              <a:t>1</a:t>
            </a:r>
            <a:endParaRPr lang="en-US" sz="1600" dirty="0"/>
          </a:p>
        </p:txBody>
      </p:sp>
      <p:sp>
        <p:nvSpPr>
          <p:cNvPr id="10" name="Shape 6"/>
          <p:cNvSpPr/>
          <p:nvPr/>
        </p:nvSpPr>
        <p:spPr>
          <a:xfrm>
            <a:off x="2825496" y="2926080"/>
            <a:ext cx="201168" cy="0"/>
          </a:xfrm>
          <a:prstGeom prst="line">
            <a:avLst/>
          </a:prstGeom>
          <a:noFill/>
          <a:ln w="28575">
            <a:solidFill>
              <a:schemeClr val="accent2"/>
            </a:solidFill>
            <a:prstDash val="solid"/>
            <a:tailEnd type="triangle"/>
          </a:ln>
        </p:spPr>
      </p:sp>
      <p:sp>
        <p:nvSpPr>
          <p:cNvPr id="11" name="Shape 7"/>
          <p:cNvSpPr/>
          <p:nvPr/>
        </p:nvSpPr>
        <p:spPr>
          <a:xfrm>
            <a:off x="3063240" y="1645920"/>
            <a:ext cx="1828800" cy="2560320"/>
          </a:xfrm>
          <a:prstGeom prst="roundRect">
            <a:avLst>
              <a:gd name="adj" fmla="val 6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3611880" y="1874520"/>
            <a:ext cx="731520" cy="731520"/>
          </a:xfrm>
          <a:prstGeom prst="ellipse">
            <a:avLst/>
          </a:prstGeom>
          <a:solidFill>
            <a:schemeClr val="accent2"/>
          </a:solidFill>
          <a:ln w="6350">
            <a:solidFill>
              <a:schemeClr val="accent2"/>
            </a:solidFill>
            <a:prstDash val="solid"/>
          </a:ln>
        </p:spPr>
      </p:sp>
      <p:pic>
        <p:nvPicPr>
          <p:cNvPr id="13" name="Image 1" descr="icono">    </p:cNvPr>
          <p:cNvPicPr>
            <a:picLocks noChangeAspect="1"/>
          </p:cNvPicPr>
          <p:nvPr/>
        </p:nvPicPr>
        <p:blipFill>
          <a:blip r:embed="rId2"/>
          <a:stretch>
            <a:fillRect/>
          </a:stretch>
        </p:blipFill>
        <p:spPr>
          <a:xfrm>
            <a:off x="3809390" y="2072030"/>
            <a:ext cx="336499" cy="336499"/>
          </a:xfrm>
          <a:prstGeom prst="rect">
            <a:avLst/>
          </a:prstGeom>
        </p:spPr>
      </p:pic>
      <p:sp>
        <p:nvSpPr>
          <p:cNvPr id="14" name="Text 9"/>
          <p:cNvSpPr txBox="1"/>
          <p:nvPr/>
        </p:nvSpPr>
        <p:spPr>
          <a:xfrm>
            <a:off x="3154680" y="278892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Preproceso</a:t>
            </a:r>
            <a:endParaRPr lang="en-US" sz="1800" dirty="0"/>
          </a:p>
        </p:txBody>
      </p:sp>
      <p:sp>
        <p:nvSpPr>
          <p:cNvPr id="15" name="Text 10"/>
          <p:cNvSpPr txBox="1"/>
          <p:nvPr/>
        </p:nvSpPr>
        <p:spPr>
          <a:xfrm>
            <a:off x="3154680" y="3246120"/>
            <a:ext cx="1645920" cy="731520"/>
          </a:xfrm>
          <a:prstGeom prst="rect">
            <a:avLst/>
          </a:prstGeom>
          <a:noFill/>
          <a:ln/>
        </p:spPr>
        <p:txBody>
          <a:bodyPr wrap="square" lIns="0" tIns="0" rIns="0" bIns="0" rtlCol="0" anchor="t"/>
          <a:lstStyle/>
          <a:p>
            <a:pPr algn="ctr" indent="0" marL="0">
              <a:buNone/>
            </a:pPr>
            <a:r>
              <a:rPr lang="en-US" sz="1600" dirty="0">
                <a:solidFill>
                  <a:schemeClr val="tx2"/>
                </a:solidFill>
              </a:rPr>
              <a:t>640 × 640 · [0, 1]</a:t>
            </a:r>
            <a:endParaRPr lang="en-US" sz="1600" dirty="0"/>
          </a:p>
        </p:txBody>
      </p:sp>
      <p:sp>
        <p:nvSpPr>
          <p:cNvPr id="16" name="Text 11"/>
          <p:cNvSpPr txBox="1"/>
          <p:nvPr/>
        </p:nvSpPr>
        <p:spPr>
          <a:xfrm>
            <a:off x="3172968" y="1737360"/>
            <a:ext cx="365760" cy="365760"/>
          </a:xfrm>
          <a:prstGeom prst="rect">
            <a:avLst/>
          </a:prstGeom>
          <a:noFill/>
          <a:ln/>
        </p:spPr>
        <p:txBody>
          <a:bodyPr wrap="square" lIns="0" tIns="0" rIns="0" bIns="0" rtlCol="0" anchor="t"/>
          <a:lstStyle/>
          <a:p>
            <a:pPr indent="0" marL="0">
              <a:buNone/>
            </a:pPr>
            <a:r>
              <a:rPr lang="en-US" sz="1600" b="1" dirty="0">
                <a:solidFill>
                  <a:schemeClr val="accent2"/>
                </a:solidFill>
              </a:rPr>
              <a:t>2</a:t>
            </a:r>
            <a:endParaRPr lang="en-US" sz="1600" dirty="0"/>
          </a:p>
        </p:txBody>
      </p:sp>
      <p:sp>
        <p:nvSpPr>
          <p:cNvPr id="17" name="Shape 12"/>
          <p:cNvSpPr/>
          <p:nvPr/>
        </p:nvSpPr>
        <p:spPr>
          <a:xfrm>
            <a:off x="4928616" y="2926080"/>
            <a:ext cx="201168" cy="0"/>
          </a:xfrm>
          <a:prstGeom prst="line">
            <a:avLst/>
          </a:prstGeom>
          <a:noFill/>
          <a:ln w="28575">
            <a:solidFill>
              <a:schemeClr val="accent2"/>
            </a:solidFill>
            <a:prstDash val="solid"/>
            <a:tailEnd type="triangle"/>
          </a:ln>
        </p:spPr>
      </p:sp>
      <p:sp>
        <p:nvSpPr>
          <p:cNvPr id="18" name="Shape 13"/>
          <p:cNvSpPr/>
          <p:nvPr/>
        </p:nvSpPr>
        <p:spPr>
          <a:xfrm>
            <a:off x="5166360" y="1645920"/>
            <a:ext cx="1828800" cy="2560320"/>
          </a:xfrm>
          <a:prstGeom prst="roundRect">
            <a:avLst>
              <a:gd name="adj" fmla="val 6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9" name="Shape 14"/>
          <p:cNvSpPr/>
          <p:nvPr/>
        </p:nvSpPr>
        <p:spPr>
          <a:xfrm>
            <a:off x="5715000" y="1874520"/>
            <a:ext cx="731520" cy="731520"/>
          </a:xfrm>
          <a:prstGeom prst="ellipse">
            <a:avLst/>
          </a:prstGeom>
          <a:solidFill>
            <a:schemeClr val="accent2"/>
          </a:solidFill>
          <a:ln w="6350">
            <a:solidFill>
              <a:schemeClr val="accent2"/>
            </a:solidFill>
            <a:prstDash val="solid"/>
          </a:ln>
        </p:spPr>
      </p:sp>
      <p:pic>
        <p:nvPicPr>
          <p:cNvPr id="20" name="Image 2" descr="icono">    </p:cNvPr>
          <p:cNvPicPr>
            <a:picLocks noChangeAspect="1"/>
          </p:cNvPicPr>
          <p:nvPr/>
        </p:nvPicPr>
        <p:blipFill>
          <a:blip r:embed="rId3"/>
          <a:stretch>
            <a:fillRect/>
          </a:stretch>
        </p:blipFill>
        <p:spPr>
          <a:xfrm>
            <a:off x="5912510" y="2072030"/>
            <a:ext cx="336499" cy="336499"/>
          </a:xfrm>
          <a:prstGeom prst="rect">
            <a:avLst/>
          </a:prstGeom>
        </p:spPr>
      </p:pic>
      <p:sp>
        <p:nvSpPr>
          <p:cNvPr id="21" name="Text 15"/>
          <p:cNvSpPr txBox="1"/>
          <p:nvPr/>
        </p:nvSpPr>
        <p:spPr>
          <a:xfrm>
            <a:off x="5257800" y="278892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Red YOLO11s</a:t>
            </a:r>
            <a:endParaRPr lang="en-US" sz="1800" dirty="0"/>
          </a:p>
        </p:txBody>
      </p:sp>
      <p:sp>
        <p:nvSpPr>
          <p:cNvPr id="22" name="Text 16"/>
          <p:cNvSpPr txBox="1"/>
          <p:nvPr/>
        </p:nvSpPr>
        <p:spPr>
          <a:xfrm>
            <a:off x="5257800" y="3246120"/>
            <a:ext cx="1645920" cy="731520"/>
          </a:xfrm>
          <a:prstGeom prst="rect">
            <a:avLst/>
          </a:prstGeom>
          <a:noFill/>
          <a:ln/>
        </p:spPr>
        <p:txBody>
          <a:bodyPr wrap="square" lIns="0" tIns="0" rIns="0" bIns="0" rtlCol="0" anchor="t"/>
          <a:lstStyle/>
          <a:p>
            <a:pPr algn="ctr" indent="0" marL="0">
              <a:buNone/>
            </a:pPr>
            <a:r>
              <a:rPr lang="en-US" sz="1600" dirty="0">
                <a:solidFill>
                  <a:schemeClr val="tx2"/>
                </a:solidFill>
              </a:rPr>
              <a:t>una sola pasada</a:t>
            </a:r>
            <a:endParaRPr lang="en-US" sz="1600" dirty="0"/>
          </a:p>
        </p:txBody>
      </p:sp>
      <p:sp>
        <p:nvSpPr>
          <p:cNvPr id="23" name="Text 17"/>
          <p:cNvSpPr txBox="1"/>
          <p:nvPr/>
        </p:nvSpPr>
        <p:spPr>
          <a:xfrm>
            <a:off x="5276088" y="1737360"/>
            <a:ext cx="365760" cy="365760"/>
          </a:xfrm>
          <a:prstGeom prst="rect">
            <a:avLst/>
          </a:prstGeom>
          <a:noFill/>
          <a:ln/>
        </p:spPr>
        <p:txBody>
          <a:bodyPr wrap="square" lIns="0" tIns="0" rIns="0" bIns="0" rtlCol="0" anchor="t"/>
          <a:lstStyle/>
          <a:p>
            <a:pPr indent="0" marL="0">
              <a:buNone/>
            </a:pPr>
            <a:r>
              <a:rPr lang="en-US" sz="1600" b="1" dirty="0">
                <a:solidFill>
                  <a:schemeClr val="accent2"/>
                </a:solidFill>
              </a:rPr>
              <a:t>3</a:t>
            </a:r>
            <a:endParaRPr lang="en-US" sz="1600" dirty="0"/>
          </a:p>
        </p:txBody>
      </p:sp>
      <p:sp>
        <p:nvSpPr>
          <p:cNvPr id="24" name="Shape 18"/>
          <p:cNvSpPr/>
          <p:nvPr/>
        </p:nvSpPr>
        <p:spPr>
          <a:xfrm>
            <a:off x="7031736" y="2926080"/>
            <a:ext cx="201168" cy="0"/>
          </a:xfrm>
          <a:prstGeom prst="line">
            <a:avLst/>
          </a:prstGeom>
          <a:noFill/>
          <a:ln w="28575">
            <a:solidFill>
              <a:schemeClr val="accent2"/>
            </a:solidFill>
            <a:prstDash val="solid"/>
            <a:tailEnd type="triangle"/>
          </a:ln>
        </p:spPr>
      </p:sp>
      <p:sp>
        <p:nvSpPr>
          <p:cNvPr id="25" name="Shape 19"/>
          <p:cNvSpPr/>
          <p:nvPr/>
        </p:nvSpPr>
        <p:spPr>
          <a:xfrm>
            <a:off x="7269480" y="1645920"/>
            <a:ext cx="1828800" cy="2560320"/>
          </a:xfrm>
          <a:prstGeom prst="roundRect">
            <a:avLst>
              <a:gd name="adj" fmla="val 6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6" name="Shape 20"/>
          <p:cNvSpPr/>
          <p:nvPr/>
        </p:nvSpPr>
        <p:spPr>
          <a:xfrm>
            <a:off x="7818120" y="1874520"/>
            <a:ext cx="731520" cy="731520"/>
          </a:xfrm>
          <a:prstGeom prst="ellipse">
            <a:avLst/>
          </a:prstGeom>
          <a:solidFill>
            <a:schemeClr val="accent2"/>
          </a:solidFill>
          <a:ln w="6350">
            <a:solidFill>
              <a:schemeClr val="accent2"/>
            </a:solidFill>
            <a:prstDash val="solid"/>
          </a:ln>
        </p:spPr>
      </p:sp>
      <p:pic>
        <p:nvPicPr>
          <p:cNvPr id="27" name="Image 3" descr="icono">    </p:cNvPr>
          <p:cNvPicPr>
            <a:picLocks noChangeAspect="1"/>
          </p:cNvPicPr>
          <p:nvPr/>
        </p:nvPicPr>
        <p:blipFill>
          <a:blip r:embed="rId4"/>
          <a:stretch>
            <a:fillRect/>
          </a:stretch>
        </p:blipFill>
        <p:spPr>
          <a:xfrm>
            <a:off x="8015630" y="2072030"/>
            <a:ext cx="336499" cy="336499"/>
          </a:xfrm>
          <a:prstGeom prst="rect">
            <a:avLst/>
          </a:prstGeom>
        </p:spPr>
      </p:pic>
      <p:sp>
        <p:nvSpPr>
          <p:cNvPr id="28" name="Text 21"/>
          <p:cNvSpPr txBox="1"/>
          <p:nvPr/>
        </p:nvSpPr>
        <p:spPr>
          <a:xfrm>
            <a:off x="7360920" y="278892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Filtrado</a:t>
            </a:r>
            <a:endParaRPr lang="en-US" sz="1800" dirty="0"/>
          </a:p>
        </p:txBody>
      </p:sp>
      <p:sp>
        <p:nvSpPr>
          <p:cNvPr id="29" name="Text 22"/>
          <p:cNvSpPr txBox="1"/>
          <p:nvPr/>
        </p:nvSpPr>
        <p:spPr>
          <a:xfrm>
            <a:off x="7360920" y="3246120"/>
            <a:ext cx="1645920" cy="731520"/>
          </a:xfrm>
          <a:prstGeom prst="rect">
            <a:avLst/>
          </a:prstGeom>
          <a:noFill/>
          <a:ln/>
        </p:spPr>
        <p:txBody>
          <a:bodyPr wrap="square" lIns="0" tIns="0" rIns="0" bIns="0" rtlCol="0" anchor="t"/>
          <a:lstStyle/>
          <a:p>
            <a:pPr algn="ctr" indent="0" marL="0">
              <a:buNone/>
            </a:pPr>
            <a:r>
              <a:rPr lang="en-US" sz="1600" dirty="0">
                <a:solidFill>
                  <a:schemeClr val="tx2"/>
                </a:solidFill>
              </a:rPr>
              <a:t>umbral + NMS</a:t>
            </a:r>
            <a:endParaRPr lang="en-US" sz="1600" dirty="0"/>
          </a:p>
        </p:txBody>
      </p:sp>
      <p:sp>
        <p:nvSpPr>
          <p:cNvPr id="30" name="Text 23"/>
          <p:cNvSpPr txBox="1"/>
          <p:nvPr/>
        </p:nvSpPr>
        <p:spPr>
          <a:xfrm>
            <a:off x="7379208" y="1737360"/>
            <a:ext cx="365760" cy="365760"/>
          </a:xfrm>
          <a:prstGeom prst="rect">
            <a:avLst/>
          </a:prstGeom>
          <a:noFill/>
          <a:ln/>
        </p:spPr>
        <p:txBody>
          <a:bodyPr wrap="square" lIns="0" tIns="0" rIns="0" bIns="0" rtlCol="0" anchor="t"/>
          <a:lstStyle/>
          <a:p>
            <a:pPr indent="0" marL="0">
              <a:buNone/>
            </a:pPr>
            <a:r>
              <a:rPr lang="en-US" sz="1600" b="1" dirty="0">
                <a:solidFill>
                  <a:schemeClr val="accent2"/>
                </a:solidFill>
              </a:rPr>
              <a:t>4</a:t>
            </a:r>
            <a:endParaRPr lang="en-US" sz="1600" dirty="0"/>
          </a:p>
        </p:txBody>
      </p:sp>
      <p:sp>
        <p:nvSpPr>
          <p:cNvPr id="31" name="Shape 24"/>
          <p:cNvSpPr/>
          <p:nvPr/>
        </p:nvSpPr>
        <p:spPr>
          <a:xfrm>
            <a:off x="9134856" y="2926080"/>
            <a:ext cx="201168" cy="0"/>
          </a:xfrm>
          <a:prstGeom prst="line">
            <a:avLst/>
          </a:prstGeom>
          <a:noFill/>
          <a:ln w="28575">
            <a:solidFill>
              <a:schemeClr val="accent2"/>
            </a:solidFill>
            <a:prstDash val="solid"/>
            <a:tailEnd type="triangle"/>
          </a:ln>
        </p:spPr>
      </p:sp>
      <p:sp>
        <p:nvSpPr>
          <p:cNvPr id="32" name="Shape 25"/>
          <p:cNvSpPr/>
          <p:nvPr/>
        </p:nvSpPr>
        <p:spPr>
          <a:xfrm>
            <a:off x="9372600" y="1645920"/>
            <a:ext cx="1828800" cy="2560320"/>
          </a:xfrm>
          <a:prstGeom prst="roundRect">
            <a:avLst>
              <a:gd name="adj" fmla="val 6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33" name="Shape 26"/>
          <p:cNvSpPr/>
          <p:nvPr/>
        </p:nvSpPr>
        <p:spPr>
          <a:xfrm>
            <a:off x="9921240" y="1874520"/>
            <a:ext cx="731520" cy="731520"/>
          </a:xfrm>
          <a:prstGeom prst="ellipse">
            <a:avLst/>
          </a:prstGeom>
          <a:solidFill>
            <a:schemeClr val="accent2"/>
          </a:solidFill>
          <a:ln w="6350">
            <a:solidFill>
              <a:schemeClr val="accent2"/>
            </a:solidFill>
            <a:prstDash val="solid"/>
          </a:ln>
        </p:spPr>
      </p:sp>
      <p:pic>
        <p:nvPicPr>
          <p:cNvPr id="34" name="Image 4" descr="icono">    </p:cNvPr>
          <p:cNvPicPr>
            <a:picLocks noChangeAspect="1"/>
          </p:cNvPicPr>
          <p:nvPr/>
        </p:nvPicPr>
        <p:blipFill>
          <a:blip r:embed="rId5"/>
          <a:stretch>
            <a:fillRect/>
          </a:stretch>
        </p:blipFill>
        <p:spPr>
          <a:xfrm>
            <a:off x="10118750" y="2072030"/>
            <a:ext cx="336499" cy="336499"/>
          </a:xfrm>
          <a:prstGeom prst="rect">
            <a:avLst/>
          </a:prstGeom>
        </p:spPr>
      </p:pic>
      <p:sp>
        <p:nvSpPr>
          <p:cNvPr id="35" name="Text 27"/>
          <p:cNvSpPr txBox="1"/>
          <p:nvPr/>
        </p:nvSpPr>
        <p:spPr>
          <a:xfrm>
            <a:off x="9464040" y="2788920"/>
            <a:ext cx="1645920" cy="411480"/>
          </a:xfrm>
          <a:prstGeom prst="rect">
            <a:avLst/>
          </a:prstGeom>
          <a:noFill/>
          <a:ln/>
        </p:spPr>
        <p:txBody>
          <a:bodyPr wrap="square" lIns="0" tIns="0" rIns="0" bIns="0" rtlCol="0" anchor="t"/>
          <a:lstStyle/>
          <a:p>
            <a:pPr algn="ctr" indent="0" marL="0">
              <a:buNone/>
            </a:pPr>
            <a:r>
              <a:rPr lang="en-US" sz="1800" b="1" dirty="0">
                <a:solidFill>
                  <a:schemeClr val="tx1"/>
                </a:solidFill>
              </a:rPr>
              <a:t>Resultado</a:t>
            </a:r>
            <a:endParaRPr lang="en-US" sz="1800" dirty="0"/>
          </a:p>
        </p:txBody>
      </p:sp>
      <p:sp>
        <p:nvSpPr>
          <p:cNvPr id="36" name="Text 28"/>
          <p:cNvSpPr txBox="1"/>
          <p:nvPr/>
        </p:nvSpPr>
        <p:spPr>
          <a:xfrm>
            <a:off x="9464040" y="3246120"/>
            <a:ext cx="1645920" cy="731520"/>
          </a:xfrm>
          <a:prstGeom prst="rect">
            <a:avLst/>
          </a:prstGeom>
          <a:noFill/>
          <a:ln/>
        </p:spPr>
        <p:txBody>
          <a:bodyPr wrap="square" lIns="0" tIns="0" rIns="0" bIns="0" rtlCol="0" anchor="t"/>
          <a:lstStyle/>
          <a:p>
            <a:pPr algn="ctr" indent="0" marL="0">
              <a:buNone/>
            </a:pPr>
            <a:r>
              <a:rPr lang="en-US" sz="1600" dirty="0">
                <a:solidFill>
                  <a:schemeClr val="tx2"/>
                </a:solidFill>
              </a:rPr>
              <a:t>clase + caja</a:t>
            </a:r>
            <a:endParaRPr lang="en-US" sz="1600" dirty="0"/>
          </a:p>
        </p:txBody>
      </p:sp>
      <p:sp>
        <p:nvSpPr>
          <p:cNvPr id="37" name="Text 29"/>
          <p:cNvSpPr txBox="1"/>
          <p:nvPr/>
        </p:nvSpPr>
        <p:spPr>
          <a:xfrm>
            <a:off x="9482328" y="1737360"/>
            <a:ext cx="365760" cy="365760"/>
          </a:xfrm>
          <a:prstGeom prst="rect">
            <a:avLst/>
          </a:prstGeom>
          <a:noFill/>
          <a:ln/>
        </p:spPr>
        <p:txBody>
          <a:bodyPr wrap="square" lIns="0" tIns="0" rIns="0" bIns="0" rtlCol="0" anchor="t"/>
          <a:lstStyle/>
          <a:p>
            <a:pPr indent="0" marL="0">
              <a:buNone/>
            </a:pPr>
            <a:r>
              <a:rPr lang="en-US" sz="1600" b="1" dirty="0">
                <a:solidFill>
                  <a:schemeClr val="accent2"/>
                </a:solidFill>
              </a:rPr>
              <a:t>5</a:t>
            </a:r>
            <a:endParaRPr lang="en-US" sz="1600" dirty="0"/>
          </a:p>
        </p:txBody>
      </p:sp>
      <p:sp>
        <p:nvSpPr>
          <p:cNvPr id="38" name="Shape 30"/>
          <p:cNvSpPr/>
          <p:nvPr/>
        </p:nvSpPr>
        <p:spPr>
          <a:xfrm>
            <a:off x="960120" y="4663440"/>
            <a:ext cx="10241280" cy="1188720"/>
          </a:xfrm>
          <a:prstGeom prst="roundRect">
            <a:avLst>
              <a:gd name="adj" fmla="val 7692"/>
            </a:avLst>
          </a:prstGeom>
          <a:solidFill>
            <a:schemeClr val="bg2"/>
          </a:solidFill>
          <a:ln w="9525">
            <a:solidFill>
              <a:schemeClr val="accent1"/>
            </a:solidFill>
            <a:prstDash val="solid"/>
          </a:ln>
        </p:spPr>
      </p:sp>
      <p:sp>
        <p:nvSpPr>
          <p:cNvPr id="39" name="Text 31"/>
          <p:cNvSpPr txBox="1"/>
          <p:nvPr/>
        </p:nvSpPr>
        <p:spPr>
          <a:xfrm>
            <a:off x="1280160" y="4846320"/>
            <a:ext cx="9601200" cy="86868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Una foto por capa</a:t>
            </a:r>
            <a:endParaRPr lang="en-US" sz="1600" dirty="0"/>
          </a:p>
          <a:p>
            <a:pPr indent="0" marL="0">
              <a:spcAft>
                <a:spcPts val="400"/>
              </a:spcAft>
              <a:buNone/>
            </a:pPr>
            <a:r>
              <a:rPr lang="en-US" sz="1600" dirty="0">
                <a:solidFill>
                  <a:schemeClr val="tx1"/>
                </a:solidFill>
              </a:rPr>
              <a:t>Modelo FP32 en ONNX Runtime, sobre la CPU de un laptop, sin GPU dedicada.</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¿Cómo ve YOLO? Una sola pasada</a:t>
            </a:r>
            <a:endParaRPr lang="en-US" sz="3000" dirty="0"/>
          </a:p>
        </p:txBody>
      </p:sp>
      <p:sp>
        <p:nvSpPr>
          <p:cNvPr id="4" name="Shape 1"/>
          <p:cNvSpPr/>
          <p:nvPr/>
        </p:nvSpPr>
        <p:spPr>
          <a:xfrm>
            <a:off x="914400" y="1463040"/>
            <a:ext cx="4754880" cy="2674620"/>
          </a:xfrm>
          <a:prstGeom prst="rect">
            <a:avLst/>
          </a:prstGeom>
          <a:solidFill>
            <a:schemeClr val="accent6"/>
          </a:solidFill>
          <a:ln w="12700">
            <a:solidFill>
              <a:schemeClr val="tx2"/>
            </a:solidFill>
            <a:prstDash val="solid"/>
          </a:ln>
        </p:spPr>
      </p:sp>
      <p:sp>
        <p:nvSpPr>
          <p:cNvPr id="5" name="Shape 2"/>
          <p:cNvSpPr/>
          <p:nvPr/>
        </p:nvSpPr>
        <p:spPr>
          <a:xfrm>
            <a:off x="1508760" y="1463040"/>
            <a:ext cx="0" cy="2674620"/>
          </a:xfrm>
          <a:prstGeom prst="line">
            <a:avLst/>
          </a:prstGeom>
          <a:noFill/>
          <a:ln w="12700">
            <a:solidFill>
              <a:srgbClr val="FFFFFF"/>
            </a:solidFill>
            <a:prstDash val="solid"/>
          </a:ln>
        </p:spPr>
      </p:sp>
      <p:sp>
        <p:nvSpPr>
          <p:cNvPr id="6" name="Shape 3"/>
          <p:cNvSpPr/>
          <p:nvPr/>
        </p:nvSpPr>
        <p:spPr>
          <a:xfrm>
            <a:off x="2103120" y="1463040"/>
            <a:ext cx="0" cy="2674620"/>
          </a:xfrm>
          <a:prstGeom prst="line">
            <a:avLst/>
          </a:prstGeom>
          <a:noFill/>
          <a:ln w="12700">
            <a:solidFill>
              <a:srgbClr val="FFFFFF"/>
            </a:solidFill>
            <a:prstDash val="solid"/>
          </a:ln>
        </p:spPr>
      </p:sp>
      <p:sp>
        <p:nvSpPr>
          <p:cNvPr id="7" name="Shape 4"/>
          <p:cNvSpPr/>
          <p:nvPr/>
        </p:nvSpPr>
        <p:spPr>
          <a:xfrm>
            <a:off x="2697480" y="1463040"/>
            <a:ext cx="0" cy="2674620"/>
          </a:xfrm>
          <a:prstGeom prst="line">
            <a:avLst/>
          </a:prstGeom>
          <a:noFill/>
          <a:ln w="12700">
            <a:solidFill>
              <a:srgbClr val="FFFFFF"/>
            </a:solidFill>
            <a:prstDash val="solid"/>
          </a:ln>
        </p:spPr>
      </p:sp>
      <p:sp>
        <p:nvSpPr>
          <p:cNvPr id="8" name="Shape 5"/>
          <p:cNvSpPr/>
          <p:nvPr/>
        </p:nvSpPr>
        <p:spPr>
          <a:xfrm>
            <a:off x="3291840" y="1463040"/>
            <a:ext cx="0" cy="2674620"/>
          </a:xfrm>
          <a:prstGeom prst="line">
            <a:avLst/>
          </a:prstGeom>
          <a:noFill/>
          <a:ln w="12700">
            <a:solidFill>
              <a:srgbClr val="FFFFFF"/>
            </a:solidFill>
            <a:prstDash val="solid"/>
          </a:ln>
        </p:spPr>
      </p:sp>
      <p:sp>
        <p:nvSpPr>
          <p:cNvPr id="9" name="Shape 6"/>
          <p:cNvSpPr/>
          <p:nvPr/>
        </p:nvSpPr>
        <p:spPr>
          <a:xfrm>
            <a:off x="3886200" y="1463040"/>
            <a:ext cx="0" cy="2674620"/>
          </a:xfrm>
          <a:prstGeom prst="line">
            <a:avLst/>
          </a:prstGeom>
          <a:noFill/>
          <a:ln w="12700">
            <a:solidFill>
              <a:srgbClr val="FFFFFF"/>
            </a:solidFill>
            <a:prstDash val="solid"/>
          </a:ln>
        </p:spPr>
      </p:sp>
      <p:sp>
        <p:nvSpPr>
          <p:cNvPr id="10" name="Shape 7"/>
          <p:cNvSpPr/>
          <p:nvPr/>
        </p:nvSpPr>
        <p:spPr>
          <a:xfrm>
            <a:off x="4480560" y="1463040"/>
            <a:ext cx="0" cy="2674620"/>
          </a:xfrm>
          <a:prstGeom prst="line">
            <a:avLst/>
          </a:prstGeom>
          <a:noFill/>
          <a:ln w="12700">
            <a:solidFill>
              <a:srgbClr val="FFFFFF"/>
            </a:solidFill>
            <a:prstDash val="solid"/>
          </a:ln>
        </p:spPr>
      </p:sp>
      <p:sp>
        <p:nvSpPr>
          <p:cNvPr id="11" name="Shape 8"/>
          <p:cNvSpPr/>
          <p:nvPr/>
        </p:nvSpPr>
        <p:spPr>
          <a:xfrm>
            <a:off x="5074920" y="1463040"/>
            <a:ext cx="0" cy="2674620"/>
          </a:xfrm>
          <a:prstGeom prst="line">
            <a:avLst/>
          </a:prstGeom>
          <a:noFill/>
          <a:ln w="12700">
            <a:solidFill>
              <a:srgbClr val="FFFFFF"/>
            </a:solidFill>
            <a:prstDash val="solid"/>
          </a:ln>
        </p:spPr>
      </p:sp>
      <p:sp>
        <p:nvSpPr>
          <p:cNvPr id="12" name="Shape 9"/>
          <p:cNvSpPr/>
          <p:nvPr/>
        </p:nvSpPr>
        <p:spPr>
          <a:xfrm>
            <a:off x="914400" y="2057400"/>
            <a:ext cx="4754880" cy="0"/>
          </a:xfrm>
          <a:prstGeom prst="line">
            <a:avLst/>
          </a:prstGeom>
          <a:noFill/>
          <a:ln w="12700">
            <a:solidFill>
              <a:srgbClr val="FFFFFF"/>
            </a:solidFill>
            <a:prstDash val="solid"/>
          </a:ln>
        </p:spPr>
      </p:sp>
      <p:sp>
        <p:nvSpPr>
          <p:cNvPr id="13" name="Shape 10"/>
          <p:cNvSpPr/>
          <p:nvPr/>
        </p:nvSpPr>
        <p:spPr>
          <a:xfrm>
            <a:off x="914400" y="2651760"/>
            <a:ext cx="4754880" cy="0"/>
          </a:xfrm>
          <a:prstGeom prst="line">
            <a:avLst/>
          </a:prstGeom>
          <a:noFill/>
          <a:ln w="12700">
            <a:solidFill>
              <a:srgbClr val="FFFFFF"/>
            </a:solidFill>
            <a:prstDash val="solid"/>
          </a:ln>
        </p:spPr>
      </p:sp>
      <p:sp>
        <p:nvSpPr>
          <p:cNvPr id="14" name="Shape 11"/>
          <p:cNvSpPr/>
          <p:nvPr/>
        </p:nvSpPr>
        <p:spPr>
          <a:xfrm>
            <a:off x="914400" y="3246120"/>
            <a:ext cx="4754880" cy="0"/>
          </a:xfrm>
          <a:prstGeom prst="line">
            <a:avLst/>
          </a:prstGeom>
          <a:noFill/>
          <a:ln w="12700">
            <a:solidFill>
              <a:srgbClr val="FFFFFF"/>
            </a:solidFill>
            <a:prstDash val="solid"/>
          </a:ln>
        </p:spPr>
      </p:sp>
      <p:sp>
        <p:nvSpPr>
          <p:cNvPr id="15" name="Shape 12"/>
          <p:cNvSpPr/>
          <p:nvPr/>
        </p:nvSpPr>
        <p:spPr>
          <a:xfrm>
            <a:off x="914400" y="3840480"/>
            <a:ext cx="4754880" cy="0"/>
          </a:xfrm>
          <a:prstGeom prst="line">
            <a:avLst/>
          </a:prstGeom>
          <a:noFill/>
          <a:ln w="12700">
            <a:solidFill>
              <a:srgbClr val="FFFFFF"/>
            </a:solidFill>
            <a:prstDash val="solid"/>
          </a:ln>
        </p:spPr>
      </p:sp>
      <p:sp>
        <p:nvSpPr>
          <p:cNvPr id="16" name="Shape 13"/>
          <p:cNvSpPr/>
          <p:nvPr/>
        </p:nvSpPr>
        <p:spPr>
          <a:xfrm>
            <a:off x="3886200" y="2651760"/>
            <a:ext cx="594360" cy="594360"/>
          </a:xfrm>
          <a:prstGeom prst="rect">
            <a:avLst/>
          </a:prstGeom>
          <a:solidFill>
            <a:schemeClr val="accent1">
              <a:alpha val="55000"/>
            </a:schemeClr>
          </a:solidFill>
          <a:ln w="12700">
            <a:solidFill>
              <a:schemeClr val="accent1"/>
            </a:solidFill>
            <a:prstDash val="solid"/>
          </a:ln>
        </p:spPr>
      </p:sp>
      <p:sp>
        <p:nvSpPr>
          <p:cNvPr id="17" name="Shape 14"/>
          <p:cNvSpPr/>
          <p:nvPr/>
        </p:nvSpPr>
        <p:spPr>
          <a:xfrm>
            <a:off x="3410712" y="2295144"/>
            <a:ext cx="1828800" cy="1371600"/>
          </a:xfrm>
          <a:prstGeom prst="ellipse">
            <a:avLst/>
          </a:prstGeom>
          <a:solidFill>
            <a:schemeClr val="tx2">
              <a:alpha val="75000"/>
            </a:schemeClr>
          </a:solidFill>
          <a:ln w="6350">
            <a:solidFill>
              <a:schemeClr val="tx2"/>
            </a:solidFill>
            <a:prstDash val="solid"/>
          </a:ln>
        </p:spPr>
      </p:sp>
      <p:sp>
        <p:nvSpPr>
          <p:cNvPr id="18" name="Shape 15"/>
          <p:cNvSpPr/>
          <p:nvPr/>
        </p:nvSpPr>
        <p:spPr>
          <a:xfrm>
            <a:off x="3291840" y="2176272"/>
            <a:ext cx="2286000" cy="1737360"/>
          </a:xfrm>
          <a:prstGeom prst="rect">
            <a:avLst/>
          </a:prstGeom>
          <a:ln w="31750">
            <a:solidFill>
              <a:schemeClr val="accent5"/>
            </a:solidFill>
            <a:prstDash val="solid"/>
          </a:ln>
        </p:spPr>
      </p:sp>
      <p:sp>
        <p:nvSpPr>
          <p:cNvPr id="19" name="Shape 16"/>
          <p:cNvSpPr/>
          <p:nvPr/>
        </p:nvSpPr>
        <p:spPr>
          <a:xfrm>
            <a:off x="3291840" y="1908810"/>
            <a:ext cx="1554480" cy="329184"/>
          </a:xfrm>
          <a:prstGeom prst="rect">
            <a:avLst/>
          </a:prstGeom>
          <a:solidFill>
            <a:schemeClr val="accent5"/>
          </a:solidFill>
          <a:ln w="6350">
            <a:solidFill>
              <a:schemeClr val="accent5"/>
            </a:solidFill>
            <a:prstDash val="solid"/>
          </a:ln>
        </p:spPr>
      </p:sp>
      <p:sp>
        <p:nvSpPr>
          <p:cNvPr id="20" name="Text 17"/>
          <p:cNvSpPr txBox="1"/>
          <p:nvPr/>
        </p:nvSpPr>
        <p:spPr>
          <a:xfrm>
            <a:off x="3291840" y="1908810"/>
            <a:ext cx="1554480" cy="329184"/>
          </a:xfrm>
          <a:prstGeom prst="rect">
            <a:avLst/>
          </a:prstGeom>
          <a:noFill/>
          <a:ln/>
        </p:spPr>
        <p:txBody>
          <a:bodyPr wrap="square" lIns="0" tIns="0" rIns="0" bIns="0" rtlCol="0" anchor="ctr"/>
          <a:lstStyle/>
          <a:p>
            <a:pPr algn="ctr" indent="0" marL="0">
              <a:buNone/>
            </a:pPr>
            <a:r>
              <a:rPr lang="en-US" sz="1200" b="1" dirty="0">
                <a:solidFill>
                  <a:schemeClr val="bg1"/>
                </a:solidFill>
              </a:rPr>
              <a:t>spaghetti 0.91</a:t>
            </a:r>
            <a:endParaRPr lang="en-US" sz="1200" dirty="0"/>
          </a:p>
        </p:txBody>
      </p:sp>
      <p:sp>
        <p:nvSpPr>
          <p:cNvPr id="21" name="Text 18"/>
          <p:cNvSpPr txBox="1"/>
          <p:nvPr/>
        </p:nvSpPr>
        <p:spPr>
          <a:xfrm>
            <a:off x="914400" y="4229100"/>
            <a:ext cx="4754880" cy="274320"/>
          </a:xfrm>
          <a:prstGeom prst="rect">
            <a:avLst/>
          </a:prstGeom>
          <a:noFill/>
          <a:ln/>
        </p:spPr>
        <p:txBody>
          <a:bodyPr wrap="square" lIns="0" tIns="0" rIns="0" bIns="0" rtlCol="0" anchor="t"/>
          <a:lstStyle/>
          <a:p>
            <a:pPr indent="0" marL="0">
              <a:buNone/>
            </a:pPr>
            <a:r>
              <a:rPr lang="en-US" sz="1200" dirty="0">
                <a:solidFill>
                  <a:schemeClr val="tx2"/>
                </a:solidFill>
              </a:rPr>
              <a:t>Grilla ilustrativa: la real es 80×80, 40×40 y 20×20</a:t>
            </a:r>
            <a:endParaRPr lang="en-US" sz="1200" dirty="0"/>
          </a:p>
        </p:txBody>
      </p:sp>
      <p:sp>
        <p:nvSpPr>
          <p:cNvPr id="22" name="Shape 19"/>
          <p:cNvSpPr/>
          <p:nvPr/>
        </p:nvSpPr>
        <p:spPr>
          <a:xfrm>
            <a:off x="914400" y="4754880"/>
            <a:ext cx="4754880" cy="1325880"/>
          </a:xfrm>
          <a:prstGeom prst="roundRect">
            <a:avLst>
              <a:gd name="adj" fmla="val 8276"/>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1188720" y="4892040"/>
            <a:ext cx="4297680" cy="1051560"/>
          </a:xfrm>
          <a:prstGeom prst="rect">
            <a:avLst/>
          </a:prstGeom>
          <a:noFill/>
          <a:ln/>
        </p:spPr>
        <p:txBody>
          <a:bodyPr wrap="square" lIns="0" tIns="0" rIns="0" bIns="0" rtlCol="0" anchor="ctr"/>
          <a:lstStyle/>
          <a:p>
            <a:pPr indent="0" marL="0">
              <a:spcAft>
                <a:spcPts val="600"/>
              </a:spcAft>
              <a:buNone/>
            </a:pPr>
            <a:r>
              <a:rPr lang="en-US" sz="1400" b="1" dirty="0">
                <a:solidFill>
                  <a:schemeClr val="tx1"/>
                </a:solidFill>
              </a:rPr>
              <a:t>YOLO: imagen → red → cajas y clases (1 paso)</a:t>
            </a:r>
            <a:endParaRPr lang="en-US" sz="1400" dirty="0"/>
          </a:p>
          <a:p>
            <a:pPr indent="0" marL="0">
              <a:spcAft>
                <a:spcPts val="600"/>
              </a:spcAft>
              <a:buNone/>
            </a:pPr>
            <a:r>
              <a:rPr lang="en-US" sz="1400" dirty="0">
                <a:solidFill>
                  <a:schemeClr val="tx2"/>
                </a:solidFill>
              </a:rPr>
              <a:t>Faster R-CNN: proponer regiones → clasificar (2 etapas)</a:t>
            </a:r>
            <a:endParaRPr lang="en-US" sz="1400" dirty="0"/>
          </a:p>
        </p:txBody>
      </p:sp>
      <p:sp>
        <p:nvSpPr>
          <p:cNvPr id="24" name="Shape 21"/>
          <p:cNvSpPr/>
          <p:nvPr/>
        </p:nvSpPr>
        <p:spPr>
          <a:xfrm>
            <a:off x="6126480" y="1371600"/>
            <a:ext cx="502920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5" name="Shape 22"/>
          <p:cNvSpPr/>
          <p:nvPr/>
        </p:nvSpPr>
        <p:spPr>
          <a:xfrm>
            <a:off x="6355080" y="1801368"/>
            <a:ext cx="548640" cy="548640"/>
          </a:xfrm>
          <a:prstGeom prst="ellipse">
            <a:avLst/>
          </a:prstGeom>
          <a:solidFill>
            <a:schemeClr val="accent2"/>
          </a:solidFill>
          <a:ln w="6350">
            <a:solidFill>
              <a:schemeClr val="accent2"/>
            </a:solidFill>
            <a:prstDash val="solid"/>
          </a:ln>
        </p:spPr>
      </p:sp>
      <p:sp>
        <p:nvSpPr>
          <p:cNvPr id="26" name="Text 23"/>
          <p:cNvSpPr txBox="1"/>
          <p:nvPr/>
        </p:nvSpPr>
        <p:spPr>
          <a:xfrm>
            <a:off x="6355080" y="180136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27" name="Text 24"/>
          <p:cNvSpPr txBox="1"/>
          <p:nvPr/>
        </p:nvSpPr>
        <p:spPr>
          <a:xfrm>
            <a:off x="7132320" y="1554480"/>
            <a:ext cx="3840480" cy="365760"/>
          </a:xfrm>
          <a:prstGeom prst="rect">
            <a:avLst/>
          </a:prstGeom>
          <a:noFill/>
          <a:ln/>
        </p:spPr>
        <p:txBody>
          <a:bodyPr wrap="square" lIns="0" tIns="0" rIns="0" bIns="0" rtlCol="0" anchor="t"/>
          <a:lstStyle/>
          <a:p>
            <a:pPr indent="0" marL="0">
              <a:buNone/>
            </a:pPr>
            <a:r>
              <a:rPr lang="en-US" sz="1800" b="1" dirty="0">
                <a:solidFill>
                  <a:schemeClr val="tx1"/>
                </a:solidFill>
              </a:rPr>
              <a:t>Una sola pasada</a:t>
            </a:r>
            <a:endParaRPr lang="en-US" sz="1800" dirty="0"/>
          </a:p>
        </p:txBody>
      </p:sp>
      <p:sp>
        <p:nvSpPr>
          <p:cNvPr id="28" name="Text 25"/>
          <p:cNvSpPr txBox="1"/>
          <p:nvPr/>
        </p:nvSpPr>
        <p:spPr>
          <a:xfrm>
            <a:off x="7132320" y="1965960"/>
            <a:ext cx="3840480" cy="777240"/>
          </a:xfrm>
          <a:prstGeom prst="rect">
            <a:avLst/>
          </a:prstGeom>
          <a:noFill/>
          <a:ln/>
        </p:spPr>
        <p:txBody>
          <a:bodyPr wrap="square" lIns="0" tIns="0" rIns="0" bIns="0" rtlCol="0" anchor="t"/>
          <a:lstStyle/>
          <a:p>
            <a:pPr indent="0" marL="0">
              <a:buNone/>
            </a:pPr>
            <a:r>
              <a:rPr lang="en-US" sz="1600" dirty="0">
                <a:solidFill>
                  <a:schemeClr val="tx2"/>
                </a:solidFill>
              </a:rPr>
              <a:t>Localiza y clasifica a la vez, sin proponer regiones.</a:t>
            </a:r>
            <a:endParaRPr lang="en-US" sz="1600" dirty="0"/>
          </a:p>
        </p:txBody>
      </p:sp>
      <p:sp>
        <p:nvSpPr>
          <p:cNvPr id="29" name="Shape 26"/>
          <p:cNvSpPr/>
          <p:nvPr/>
        </p:nvSpPr>
        <p:spPr>
          <a:xfrm>
            <a:off x="6126480" y="2926080"/>
            <a:ext cx="502920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30" name="Shape 27"/>
          <p:cNvSpPr/>
          <p:nvPr/>
        </p:nvSpPr>
        <p:spPr>
          <a:xfrm>
            <a:off x="6355080" y="3355848"/>
            <a:ext cx="548640" cy="548640"/>
          </a:xfrm>
          <a:prstGeom prst="ellipse">
            <a:avLst/>
          </a:prstGeom>
          <a:solidFill>
            <a:schemeClr val="accent2"/>
          </a:solidFill>
          <a:ln w="6350">
            <a:solidFill>
              <a:schemeClr val="accent2"/>
            </a:solidFill>
            <a:prstDash val="solid"/>
          </a:ln>
        </p:spPr>
      </p:sp>
      <p:sp>
        <p:nvSpPr>
          <p:cNvPr id="31" name="Text 28"/>
          <p:cNvSpPr txBox="1"/>
          <p:nvPr/>
        </p:nvSpPr>
        <p:spPr>
          <a:xfrm>
            <a:off x="6355080" y="335584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32" name="Text 29"/>
          <p:cNvSpPr txBox="1"/>
          <p:nvPr/>
        </p:nvSpPr>
        <p:spPr>
          <a:xfrm>
            <a:off x="7132320" y="3108960"/>
            <a:ext cx="3840480" cy="365760"/>
          </a:xfrm>
          <a:prstGeom prst="rect">
            <a:avLst/>
          </a:prstGeom>
          <a:noFill/>
          <a:ln/>
        </p:spPr>
        <p:txBody>
          <a:bodyPr wrap="square" lIns="0" tIns="0" rIns="0" bIns="0" rtlCol="0" anchor="t"/>
          <a:lstStyle/>
          <a:p>
            <a:pPr indent="0" marL="0">
              <a:buNone/>
            </a:pPr>
            <a:r>
              <a:rPr lang="en-US" sz="1800" b="1" dirty="0">
                <a:solidFill>
                  <a:schemeClr val="tx1"/>
                </a:solidFill>
              </a:rPr>
              <a:t>Celdas en 3 escalas</a:t>
            </a:r>
            <a:endParaRPr lang="en-US" sz="1800" dirty="0"/>
          </a:p>
        </p:txBody>
      </p:sp>
      <p:sp>
        <p:nvSpPr>
          <p:cNvPr id="33" name="Text 30"/>
          <p:cNvSpPr txBox="1"/>
          <p:nvPr/>
        </p:nvSpPr>
        <p:spPr>
          <a:xfrm>
            <a:off x="7132320" y="3520440"/>
            <a:ext cx="3840480" cy="777240"/>
          </a:xfrm>
          <a:prstGeom prst="rect">
            <a:avLst/>
          </a:prstGeom>
          <a:noFill/>
          <a:ln/>
        </p:spPr>
        <p:txBody>
          <a:bodyPr wrap="square" lIns="0" tIns="0" rIns="0" bIns="0" rtlCol="0" anchor="t"/>
          <a:lstStyle/>
          <a:p>
            <a:pPr indent="0" marL="0">
              <a:buNone/>
            </a:pPr>
            <a:r>
              <a:rPr lang="en-US" sz="1600" dirty="0">
                <a:solidFill>
                  <a:schemeClr val="tx2"/>
                </a:solidFill>
              </a:rPr>
              <a:t>80² + 40² + 20² = 8 400 candidatas; cada una predice caja + 6 clases.</a:t>
            </a:r>
            <a:endParaRPr lang="en-US" sz="1600" dirty="0"/>
          </a:p>
        </p:txBody>
      </p:sp>
      <p:sp>
        <p:nvSpPr>
          <p:cNvPr id="34" name="Shape 31"/>
          <p:cNvSpPr/>
          <p:nvPr/>
        </p:nvSpPr>
        <p:spPr>
          <a:xfrm>
            <a:off x="6126480" y="4480560"/>
            <a:ext cx="502920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35" name="Shape 32"/>
          <p:cNvSpPr/>
          <p:nvPr/>
        </p:nvSpPr>
        <p:spPr>
          <a:xfrm>
            <a:off x="6355080" y="4910328"/>
            <a:ext cx="548640" cy="548640"/>
          </a:xfrm>
          <a:prstGeom prst="ellipse">
            <a:avLst/>
          </a:prstGeom>
          <a:solidFill>
            <a:schemeClr val="accent2"/>
          </a:solidFill>
          <a:ln w="6350">
            <a:solidFill>
              <a:schemeClr val="accent2"/>
            </a:solidFill>
            <a:prstDash val="solid"/>
          </a:ln>
        </p:spPr>
      </p:sp>
      <p:sp>
        <p:nvSpPr>
          <p:cNvPr id="36" name="Text 33"/>
          <p:cNvSpPr txBox="1"/>
          <p:nvPr/>
        </p:nvSpPr>
        <p:spPr>
          <a:xfrm>
            <a:off x="6355080" y="4910328"/>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37" name="Text 34"/>
          <p:cNvSpPr txBox="1"/>
          <p:nvPr/>
        </p:nvSpPr>
        <p:spPr>
          <a:xfrm>
            <a:off x="7132320" y="4663440"/>
            <a:ext cx="3840480" cy="365760"/>
          </a:xfrm>
          <a:prstGeom prst="rect">
            <a:avLst/>
          </a:prstGeom>
          <a:noFill/>
          <a:ln/>
        </p:spPr>
        <p:txBody>
          <a:bodyPr wrap="square" lIns="0" tIns="0" rIns="0" bIns="0" rtlCol="0" anchor="t"/>
          <a:lstStyle/>
          <a:p>
            <a:pPr indent="0" marL="0">
              <a:buNone/>
            </a:pPr>
            <a:r>
              <a:rPr lang="en-US" sz="1800" b="1" dirty="0">
                <a:solidFill>
                  <a:schemeClr val="tx1"/>
                </a:solidFill>
              </a:rPr>
              <a:t>NMS</a:t>
            </a:r>
            <a:endParaRPr lang="en-US" sz="1800" dirty="0"/>
          </a:p>
        </p:txBody>
      </p:sp>
      <p:sp>
        <p:nvSpPr>
          <p:cNvPr id="38" name="Text 35"/>
          <p:cNvSpPr txBox="1"/>
          <p:nvPr/>
        </p:nvSpPr>
        <p:spPr>
          <a:xfrm>
            <a:off x="7132320" y="5074920"/>
            <a:ext cx="3840480" cy="777240"/>
          </a:xfrm>
          <a:prstGeom prst="rect">
            <a:avLst/>
          </a:prstGeom>
          <a:noFill/>
          <a:ln/>
        </p:spPr>
        <p:txBody>
          <a:bodyPr wrap="square" lIns="0" tIns="0" rIns="0" bIns="0" rtlCol="0" anchor="t"/>
          <a:lstStyle/>
          <a:p>
            <a:pPr indent="0" marL="0">
              <a:buNone/>
            </a:pPr>
            <a:r>
              <a:rPr lang="en-US" sz="1600" dirty="0">
                <a:solidFill>
                  <a:schemeClr val="tx2"/>
                </a:solidFill>
              </a:rPr>
              <a:t>Elimina duplicados: queda una caja por defecto.</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Arquitectura de YOLO11s</a:t>
            </a:r>
            <a:endParaRPr lang="en-US" sz="3000" dirty="0"/>
          </a:p>
        </p:txBody>
      </p:sp>
      <p:sp>
        <p:nvSpPr>
          <p:cNvPr id="4" name="Shape 1"/>
          <p:cNvSpPr/>
          <p:nvPr/>
        </p:nvSpPr>
        <p:spPr>
          <a:xfrm>
            <a:off x="960120" y="1463040"/>
            <a:ext cx="1828800" cy="1280160"/>
          </a:xfrm>
          <a:prstGeom prst="roundRect">
            <a:avLst>
              <a:gd name="adj" fmla="val 7143"/>
            </a:avLst>
          </a:prstGeom>
          <a:solidFill>
            <a:schemeClr val="accent6"/>
          </a:solidFill>
          <a:ln w="6350">
            <a:solidFill>
              <a:schemeClr val="accent6"/>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960120" y="1463040"/>
            <a:ext cx="1828800" cy="1280160"/>
          </a:xfrm>
          <a:prstGeom prst="rect">
            <a:avLst/>
          </a:prstGeom>
          <a:noFill/>
          <a:ln/>
        </p:spPr>
        <p:txBody>
          <a:bodyPr wrap="square" lIns="0" tIns="0" rIns="0" bIns="0" rtlCol="0" anchor="ctr"/>
          <a:lstStyle/>
          <a:p>
            <a:pPr algn="ctr" indent="0" marL="0">
              <a:buNone/>
            </a:pPr>
            <a:r>
              <a:rPr lang="en-US" sz="2000" b="1" dirty="0">
                <a:solidFill>
                  <a:schemeClr val="tx1"/>
                </a:solidFill>
              </a:rPr>
              <a:t>Entrada</a:t>
            </a:r>
            <a:endParaRPr lang="en-US" sz="1400" dirty="0"/>
          </a:p>
          <a:p>
            <a:pPr algn="ctr" indent="0" marL="0">
              <a:buNone/>
            </a:pPr>
            <a:r>
              <a:rPr lang="en-US" sz="1400" dirty="0">
                <a:solidFill>
                  <a:schemeClr val="tx1"/>
                </a:solidFill>
              </a:rPr>
              <a:t>640 × 640 × 3</a:t>
            </a:r>
            <a:endParaRPr lang="en-US" sz="1400" dirty="0"/>
          </a:p>
        </p:txBody>
      </p:sp>
      <p:sp>
        <p:nvSpPr>
          <p:cNvPr id="6" name="Text 3"/>
          <p:cNvSpPr txBox="1"/>
          <p:nvPr/>
        </p:nvSpPr>
        <p:spPr>
          <a:xfrm>
            <a:off x="914400" y="2834640"/>
            <a:ext cx="1920240" cy="320040"/>
          </a:xfrm>
          <a:prstGeom prst="rect">
            <a:avLst/>
          </a:prstGeom>
          <a:noFill/>
          <a:ln/>
        </p:spPr>
        <p:txBody>
          <a:bodyPr wrap="square" lIns="0" tIns="0" rIns="0" bIns="0" rtlCol="0" anchor="t"/>
          <a:lstStyle/>
          <a:p>
            <a:pPr algn="ctr" indent="0" marL="0">
              <a:buNone/>
            </a:pPr>
            <a:r>
              <a:rPr lang="en-US" sz="1300" dirty="0">
                <a:solidFill>
                  <a:schemeClr val="tx2"/>
                </a:solidFill>
              </a:rPr>
              <a:t>imagen normalizada</a:t>
            </a:r>
            <a:endParaRPr lang="en-US" sz="1300" dirty="0"/>
          </a:p>
        </p:txBody>
      </p:sp>
      <p:sp>
        <p:nvSpPr>
          <p:cNvPr id="7" name="Shape 4"/>
          <p:cNvSpPr/>
          <p:nvPr/>
        </p:nvSpPr>
        <p:spPr>
          <a:xfrm>
            <a:off x="2825496" y="2103120"/>
            <a:ext cx="201168" cy="0"/>
          </a:xfrm>
          <a:prstGeom prst="line">
            <a:avLst/>
          </a:prstGeom>
          <a:noFill/>
          <a:ln w="28575">
            <a:solidFill>
              <a:schemeClr val="accent2"/>
            </a:solidFill>
            <a:prstDash val="solid"/>
            <a:tailEnd type="triangle"/>
          </a:ln>
        </p:spPr>
      </p:sp>
      <p:sp>
        <p:nvSpPr>
          <p:cNvPr id="8" name="Shape 5"/>
          <p:cNvSpPr/>
          <p:nvPr/>
        </p:nvSpPr>
        <p:spPr>
          <a:xfrm>
            <a:off x="3063240" y="1463040"/>
            <a:ext cx="1828800" cy="1280160"/>
          </a:xfrm>
          <a:prstGeom prst="roundRect">
            <a:avLst>
              <a:gd name="adj" fmla="val 7143"/>
            </a:avLst>
          </a:prstGeom>
          <a:solidFill>
            <a:schemeClr val="accent2"/>
          </a:solidFill>
          <a:ln w="6350">
            <a:solidFill>
              <a:schemeClr val="accent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3063240" y="1463040"/>
            <a:ext cx="1828800" cy="1280160"/>
          </a:xfrm>
          <a:prstGeom prst="rect">
            <a:avLst/>
          </a:prstGeom>
          <a:noFill/>
          <a:ln/>
        </p:spPr>
        <p:txBody>
          <a:bodyPr wrap="square" lIns="0" tIns="0" rIns="0" bIns="0" rtlCol="0" anchor="ctr"/>
          <a:lstStyle/>
          <a:p>
            <a:pPr algn="ctr" indent="0" marL="0">
              <a:buNone/>
            </a:pPr>
            <a:r>
              <a:rPr lang="en-US" sz="2000" b="1" dirty="0">
                <a:solidFill>
                  <a:schemeClr val="bg1"/>
                </a:solidFill>
              </a:rPr>
              <a:t>Backbone</a:t>
            </a:r>
            <a:endParaRPr lang="en-US" sz="1400" dirty="0"/>
          </a:p>
          <a:p>
            <a:pPr algn="ctr" indent="0" marL="0">
              <a:buNone/>
            </a:pPr>
            <a:r>
              <a:rPr lang="en-US" sz="1400" dirty="0">
                <a:solidFill>
                  <a:schemeClr val="bg1"/>
                </a:solidFill>
              </a:rPr>
              <a:t>CSPDarknet</a:t>
            </a:r>
            <a:endParaRPr lang="en-US" sz="1400" dirty="0"/>
          </a:p>
        </p:txBody>
      </p:sp>
      <p:sp>
        <p:nvSpPr>
          <p:cNvPr id="10" name="Text 7"/>
          <p:cNvSpPr txBox="1"/>
          <p:nvPr/>
        </p:nvSpPr>
        <p:spPr>
          <a:xfrm>
            <a:off x="3017520" y="2834640"/>
            <a:ext cx="1920240" cy="320040"/>
          </a:xfrm>
          <a:prstGeom prst="rect">
            <a:avLst/>
          </a:prstGeom>
          <a:noFill/>
          <a:ln/>
        </p:spPr>
        <p:txBody>
          <a:bodyPr wrap="square" lIns="0" tIns="0" rIns="0" bIns="0" rtlCol="0" anchor="t"/>
          <a:lstStyle/>
          <a:p>
            <a:pPr algn="ctr" indent="0" marL="0">
              <a:buNone/>
            </a:pPr>
            <a:r>
              <a:rPr lang="en-US" sz="1300" dirty="0">
                <a:solidFill>
                  <a:schemeClr val="tx2"/>
                </a:solidFill>
              </a:rPr>
              <a:t>extrae características</a:t>
            </a:r>
            <a:endParaRPr lang="en-US" sz="1300" dirty="0"/>
          </a:p>
        </p:txBody>
      </p:sp>
      <p:sp>
        <p:nvSpPr>
          <p:cNvPr id="11" name="Shape 8"/>
          <p:cNvSpPr/>
          <p:nvPr/>
        </p:nvSpPr>
        <p:spPr>
          <a:xfrm>
            <a:off x="4928616" y="2103120"/>
            <a:ext cx="201168" cy="0"/>
          </a:xfrm>
          <a:prstGeom prst="line">
            <a:avLst/>
          </a:prstGeom>
          <a:noFill/>
          <a:ln w="28575">
            <a:solidFill>
              <a:schemeClr val="accent2"/>
            </a:solidFill>
            <a:prstDash val="solid"/>
            <a:tailEnd type="triangle"/>
          </a:ln>
        </p:spPr>
      </p:sp>
      <p:sp>
        <p:nvSpPr>
          <p:cNvPr id="12" name="Shape 9"/>
          <p:cNvSpPr/>
          <p:nvPr/>
        </p:nvSpPr>
        <p:spPr>
          <a:xfrm>
            <a:off x="5166360" y="1463040"/>
            <a:ext cx="1828800" cy="1280160"/>
          </a:xfrm>
          <a:prstGeom prst="roundRect">
            <a:avLst>
              <a:gd name="adj" fmla="val 7143"/>
            </a:avLst>
          </a:prstGeom>
          <a:solidFill>
            <a:schemeClr val="accent3"/>
          </a:solidFill>
          <a:ln w="6350">
            <a:solidFill>
              <a:schemeClr val="accent3"/>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5166360" y="1463040"/>
            <a:ext cx="1828800" cy="1280160"/>
          </a:xfrm>
          <a:prstGeom prst="rect">
            <a:avLst/>
          </a:prstGeom>
          <a:noFill/>
          <a:ln/>
        </p:spPr>
        <p:txBody>
          <a:bodyPr wrap="square" lIns="0" tIns="0" rIns="0" bIns="0" rtlCol="0" anchor="ctr"/>
          <a:lstStyle/>
          <a:p>
            <a:pPr algn="ctr" indent="0" marL="0">
              <a:buNone/>
            </a:pPr>
            <a:r>
              <a:rPr lang="en-US" sz="2000" b="1" dirty="0">
                <a:solidFill>
                  <a:schemeClr val="bg1"/>
                </a:solidFill>
              </a:rPr>
              <a:t>Neck</a:t>
            </a:r>
            <a:endParaRPr lang="en-US" sz="1400" dirty="0"/>
          </a:p>
          <a:p>
            <a:pPr algn="ctr" indent="0" marL="0">
              <a:buNone/>
            </a:pPr>
            <a:r>
              <a:rPr lang="en-US" sz="1400" dirty="0">
                <a:solidFill>
                  <a:schemeClr val="bg1"/>
                </a:solidFill>
              </a:rPr>
              <a:t>PAN-FPN</a:t>
            </a:r>
            <a:endParaRPr lang="en-US" sz="1400" dirty="0"/>
          </a:p>
        </p:txBody>
      </p:sp>
      <p:sp>
        <p:nvSpPr>
          <p:cNvPr id="14" name="Text 11"/>
          <p:cNvSpPr txBox="1"/>
          <p:nvPr/>
        </p:nvSpPr>
        <p:spPr>
          <a:xfrm>
            <a:off x="5120640" y="2834640"/>
            <a:ext cx="1920240" cy="320040"/>
          </a:xfrm>
          <a:prstGeom prst="rect">
            <a:avLst/>
          </a:prstGeom>
          <a:noFill/>
          <a:ln/>
        </p:spPr>
        <p:txBody>
          <a:bodyPr wrap="square" lIns="0" tIns="0" rIns="0" bIns="0" rtlCol="0" anchor="t"/>
          <a:lstStyle/>
          <a:p>
            <a:pPr algn="ctr" indent="0" marL="0">
              <a:buNone/>
            </a:pPr>
            <a:r>
              <a:rPr lang="en-US" sz="1300" dirty="0">
                <a:solidFill>
                  <a:schemeClr val="tx2"/>
                </a:solidFill>
              </a:rPr>
              <a:t>fusiona P3, P4 y P5</a:t>
            </a:r>
            <a:endParaRPr lang="en-US" sz="1300" dirty="0"/>
          </a:p>
        </p:txBody>
      </p:sp>
      <p:sp>
        <p:nvSpPr>
          <p:cNvPr id="15" name="Shape 12"/>
          <p:cNvSpPr/>
          <p:nvPr/>
        </p:nvSpPr>
        <p:spPr>
          <a:xfrm>
            <a:off x="7031736" y="2103120"/>
            <a:ext cx="201168" cy="0"/>
          </a:xfrm>
          <a:prstGeom prst="line">
            <a:avLst/>
          </a:prstGeom>
          <a:noFill/>
          <a:ln w="28575">
            <a:solidFill>
              <a:schemeClr val="accent2"/>
            </a:solidFill>
            <a:prstDash val="solid"/>
            <a:tailEnd type="triangle"/>
          </a:ln>
        </p:spPr>
      </p:sp>
      <p:sp>
        <p:nvSpPr>
          <p:cNvPr id="16" name="Shape 13"/>
          <p:cNvSpPr/>
          <p:nvPr/>
        </p:nvSpPr>
        <p:spPr>
          <a:xfrm>
            <a:off x="7269480" y="1463040"/>
            <a:ext cx="1828800" cy="1280160"/>
          </a:xfrm>
          <a:prstGeom prst="roundRect">
            <a:avLst>
              <a:gd name="adj" fmla="val 7143"/>
            </a:avLst>
          </a:prstGeom>
          <a:solidFill>
            <a:schemeClr val="accent4"/>
          </a:solidFill>
          <a:ln w="6350">
            <a:solidFill>
              <a:schemeClr val="accent4"/>
            </a:solidFill>
            <a:prstDash val="solid"/>
          </a:ln>
          <a:effectLst>
            <a:outerShdw sx="100000" sy="100000" kx="0" ky="0" algn="bl" rotWithShape="0" blurRad="76200" dist="25400" dir="5400000">
              <a:srgbClr val="000000">
                <a:alpha val="12000"/>
              </a:srgbClr>
            </a:outerShdw>
          </a:effectLst>
        </p:spPr>
      </p:sp>
      <p:sp>
        <p:nvSpPr>
          <p:cNvPr id="17" name="Text 14"/>
          <p:cNvSpPr txBox="1"/>
          <p:nvPr/>
        </p:nvSpPr>
        <p:spPr>
          <a:xfrm>
            <a:off x="7269480" y="1463040"/>
            <a:ext cx="1828800" cy="1280160"/>
          </a:xfrm>
          <a:prstGeom prst="rect">
            <a:avLst/>
          </a:prstGeom>
          <a:noFill/>
          <a:ln/>
        </p:spPr>
        <p:txBody>
          <a:bodyPr wrap="square" lIns="0" tIns="0" rIns="0" bIns="0" rtlCol="0" anchor="ctr"/>
          <a:lstStyle/>
          <a:p>
            <a:pPr algn="ctr" indent="0" marL="0">
              <a:buNone/>
            </a:pPr>
            <a:r>
              <a:rPr lang="en-US" sz="2000" b="1" dirty="0">
                <a:solidFill>
                  <a:schemeClr val="bg1"/>
                </a:solidFill>
              </a:rPr>
              <a:t>Head</a:t>
            </a:r>
            <a:endParaRPr lang="en-US" sz="1400" dirty="0"/>
          </a:p>
          <a:p>
            <a:pPr algn="ctr" indent="0" marL="0">
              <a:buNone/>
            </a:pPr>
            <a:r>
              <a:rPr lang="en-US" sz="1400" dirty="0">
                <a:solidFill>
                  <a:schemeClr val="bg1"/>
                </a:solidFill>
              </a:rPr>
              <a:t>anchor-free</a:t>
            </a:r>
            <a:endParaRPr lang="en-US" sz="1400" dirty="0"/>
          </a:p>
        </p:txBody>
      </p:sp>
      <p:sp>
        <p:nvSpPr>
          <p:cNvPr id="18" name="Text 15"/>
          <p:cNvSpPr txBox="1"/>
          <p:nvPr/>
        </p:nvSpPr>
        <p:spPr>
          <a:xfrm>
            <a:off x="7223760" y="2834640"/>
            <a:ext cx="1920240" cy="320040"/>
          </a:xfrm>
          <a:prstGeom prst="rect">
            <a:avLst/>
          </a:prstGeom>
          <a:noFill/>
          <a:ln/>
        </p:spPr>
        <p:txBody>
          <a:bodyPr wrap="square" lIns="0" tIns="0" rIns="0" bIns="0" rtlCol="0" anchor="t"/>
          <a:lstStyle/>
          <a:p>
            <a:pPr algn="ctr" indent="0" marL="0">
              <a:buNone/>
            </a:pPr>
            <a:r>
              <a:rPr lang="en-US" sz="1300" dirty="0">
                <a:solidFill>
                  <a:schemeClr val="tx2"/>
                </a:solidFill>
              </a:rPr>
              <a:t>predice clase y caja</a:t>
            </a:r>
            <a:endParaRPr lang="en-US" sz="1300" dirty="0"/>
          </a:p>
        </p:txBody>
      </p:sp>
      <p:sp>
        <p:nvSpPr>
          <p:cNvPr id="19" name="Shape 16"/>
          <p:cNvSpPr/>
          <p:nvPr/>
        </p:nvSpPr>
        <p:spPr>
          <a:xfrm>
            <a:off x="9134856" y="2103120"/>
            <a:ext cx="201168" cy="0"/>
          </a:xfrm>
          <a:prstGeom prst="line">
            <a:avLst/>
          </a:prstGeom>
          <a:noFill/>
          <a:ln w="28575">
            <a:solidFill>
              <a:schemeClr val="accent2"/>
            </a:solidFill>
            <a:prstDash val="solid"/>
            <a:tailEnd type="triangle"/>
          </a:ln>
        </p:spPr>
      </p:sp>
      <p:sp>
        <p:nvSpPr>
          <p:cNvPr id="20" name="Shape 17"/>
          <p:cNvSpPr/>
          <p:nvPr/>
        </p:nvSpPr>
        <p:spPr>
          <a:xfrm>
            <a:off x="9372600" y="1463040"/>
            <a:ext cx="1828800" cy="1280160"/>
          </a:xfrm>
          <a:prstGeom prst="roundRect">
            <a:avLst>
              <a:gd name="adj" fmla="val 7143"/>
            </a:avLst>
          </a:prstGeom>
          <a:solidFill>
            <a:schemeClr val="accent6"/>
          </a:solidFill>
          <a:ln w="6350">
            <a:solidFill>
              <a:schemeClr val="accent6"/>
            </a:solidFill>
            <a:prstDash val="solid"/>
          </a:ln>
          <a:effectLst>
            <a:outerShdw sx="100000" sy="100000" kx="0" ky="0" algn="bl" rotWithShape="0" blurRad="76200" dist="25400" dir="5400000">
              <a:srgbClr val="000000">
                <a:alpha val="12000"/>
              </a:srgbClr>
            </a:outerShdw>
          </a:effectLst>
        </p:spPr>
      </p:sp>
      <p:sp>
        <p:nvSpPr>
          <p:cNvPr id="21" name="Text 18"/>
          <p:cNvSpPr txBox="1"/>
          <p:nvPr/>
        </p:nvSpPr>
        <p:spPr>
          <a:xfrm>
            <a:off x="9372600" y="1463040"/>
            <a:ext cx="1828800" cy="1280160"/>
          </a:xfrm>
          <a:prstGeom prst="rect">
            <a:avLst/>
          </a:prstGeom>
          <a:noFill/>
          <a:ln/>
        </p:spPr>
        <p:txBody>
          <a:bodyPr wrap="square" lIns="0" tIns="0" rIns="0" bIns="0" rtlCol="0" anchor="ctr"/>
          <a:lstStyle/>
          <a:p>
            <a:pPr algn="ctr" indent="0" marL="0">
              <a:buNone/>
            </a:pPr>
            <a:r>
              <a:rPr lang="en-US" sz="2000" b="1" dirty="0">
                <a:solidFill>
                  <a:schemeClr val="tx1"/>
                </a:solidFill>
              </a:rPr>
              <a:t>Salida</a:t>
            </a:r>
            <a:endParaRPr lang="en-US" sz="1400" dirty="0"/>
          </a:p>
          <a:p>
            <a:pPr algn="ctr" indent="0" marL="0">
              <a:buNone/>
            </a:pPr>
            <a:r>
              <a:rPr lang="en-US" sz="1400" dirty="0">
                <a:solidFill>
                  <a:schemeClr val="tx1"/>
                </a:solidFill>
              </a:rPr>
              <a:t>8 400 × (4 + 6)</a:t>
            </a:r>
            <a:endParaRPr lang="en-US" sz="1400" dirty="0"/>
          </a:p>
        </p:txBody>
      </p:sp>
      <p:sp>
        <p:nvSpPr>
          <p:cNvPr id="22" name="Text 19"/>
          <p:cNvSpPr txBox="1"/>
          <p:nvPr/>
        </p:nvSpPr>
        <p:spPr>
          <a:xfrm>
            <a:off x="9326880" y="2834640"/>
            <a:ext cx="1920240" cy="320040"/>
          </a:xfrm>
          <a:prstGeom prst="rect">
            <a:avLst/>
          </a:prstGeom>
          <a:noFill/>
          <a:ln/>
        </p:spPr>
        <p:txBody>
          <a:bodyPr wrap="square" lIns="0" tIns="0" rIns="0" bIns="0" rtlCol="0" anchor="t"/>
          <a:lstStyle/>
          <a:p>
            <a:pPr algn="ctr" indent="0" marL="0">
              <a:buNone/>
            </a:pPr>
            <a:r>
              <a:rPr lang="en-US" sz="1300" dirty="0">
                <a:solidFill>
                  <a:schemeClr val="tx2"/>
                </a:solidFill>
              </a:rPr>
              <a:t>candidatas por imagen</a:t>
            </a:r>
            <a:endParaRPr lang="en-US" sz="1300" dirty="0"/>
          </a:p>
        </p:txBody>
      </p:sp>
      <p:sp>
        <p:nvSpPr>
          <p:cNvPr id="23" name="Shape 20"/>
          <p:cNvSpPr/>
          <p:nvPr/>
        </p:nvSpPr>
        <p:spPr>
          <a:xfrm>
            <a:off x="960120" y="3611880"/>
            <a:ext cx="3291840" cy="2194560"/>
          </a:xfrm>
          <a:prstGeom prst="roundRect">
            <a:avLst>
              <a:gd name="adj" fmla="val 5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4" name="Text 21"/>
          <p:cNvSpPr txBox="1"/>
          <p:nvPr/>
        </p:nvSpPr>
        <p:spPr>
          <a:xfrm>
            <a:off x="960120" y="3886200"/>
            <a:ext cx="3291840" cy="1005840"/>
          </a:xfrm>
          <a:prstGeom prst="rect">
            <a:avLst/>
          </a:prstGeom>
          <a:noFill/>
          <a:ln/>
        </p:spPr>
        <p:txBody>
          <a:bodyPr wrap="square" lIns="0" tIns="0" rIns="0" bIns="0" rtlCol="0" anchor="ctr"/>
          <a:lstStyle/>
          <a:p>
            <a:pPr algn="ctr" indent="0" marL="0">
              <a:buNone/>
            </a:pPr>
            <a:r>
              <a:rPr lang="en-US" sz="5400" b="1" dirty="0">
                <a:solidFill>
                  <a:schemeClr val="accent2"/>
                </a:solidFill>
              </a:rPr>
              <a:t>≈ 9.4 M</a:t>
            </a:r>
            <a:endParaRPr lang="en-US" sz="5400" dirty="0"/>
          </a:p>
        </p:txBody>
      </p:sp>
      <p:sp>
        <p:nvSpPr>
          <p:cNvPr id="25" name="Text 22"/>
          <p:cNvSpPr txBox="1"/>
          <p:nvPr/>
        </p:nvSpPr>
        <p:spPr>
          <a:xfrm>
            <a:off x="960120" y="4937760"/>
            <a:ext cx="3291840" cy="457200"/>
          </a:xfrm>
          <a:prstGeom prst="rect">
            <a:avLst/>
          </a:prstGeom>
          <a:noFill/>
          <a:ln/>
        </p:spPr>
        <p:txBody>
          <a:bodyPr wrap="square" lIns="0" tIns="0" rIns="0" bIns="0" rtlCol="0" anchor="t"/>
          <a:lstStyle/>
          <a:p>
            <a:pPr algn="ctr" indent="0" marL="0">
              <a:buNone/>
            </a:pPr>
            <a:r>
              <a:rPr lang="en-US" sz="1800" dirty="0">
                <a:solidFill>
                  <a:schemeClr val="tx1"/>
                </a:solidFill>
              </a:rPr>
              <a:t>parámetros</a:t>
            </a:r>
            <a:endParaRPr lang="en-US" sz="1800" dirty="0"/>
          </a:p>
        </p:txBody>
      </p:sp>
      <p:sp>
        <p:nvSpPr>
          <p:cNvPr id="26" name="Shape 23"/>
          <p:cNvSpPr/>
          <p:nvPr/>
        </p:nvSpPr>
        <p:spPr>
          <a:xfrm>
            <a:off x="4434840" y="3611880"/>
            <a:ext cx="3291840" cy="2194560"/>
          </a:xfrm>
          <a:prstGeom prst="roundRect">
            <a:avLst>
              <a:gd name="adj" fmla="val 5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7" name="Text 24"/>
          <p:cNvSpPr txBox="1"/>
          <p:nvPr/>
        </p:nvSpPr>
        <p:spPr>
          <a:xfrm>
            <a:off x="4434840" y="3886200"/>
            <a:ext cx="3291840" cy="1005840"/>
          </a:xfrm>
          <a:prstGeom prst="rect">
            <a:avLst/>
          </a:prstGeom>
          <a:noFill/>
          <a:ln/>
        </p:spPr>
        <p:txBody>
          <a:bodyPr wrap="square" lIns="0" tIns="0" rIns="0" bIns="0" rtlCol="0" anchor="ctr"/>
          <a:lstStyle/>
          <a:p>
            <a:pPr algn="ctr" indent="0" marL="0">
              <a:buNone/>
            </a:pPr>
            <a:r>
              <a:rPr lang="en-US" sz="5400" b="1" dirty="0">
                <a:solidFill>
                  <a:schemeClr val="accent2"/>
                </a:solidFill>
              </a:rPr>
              <a:t>≈ 21.5</a:t>
            </a:r>
            <a:endParaRPr lang="en-US" sz="5400" dirty="0"/>
          </a:p>
        </p:txBody>
      </p:sp>
      <p:sp>
        <p:nvSpPr>
          <p:cNvPr id="28" name="Text 25"/>
          <p:cNvSpPr txBox="1"/>
          <p:nvPr/>
        </p:nvSpPr>
        <p:spPr>
          <a:xfrm>
            <a:off x="4434840" y="4937760"/>
            <a:ext cx="3291840" cy="457200"/>
          </a:xfrm>
          <a:prstGeom prst="rect">
            <a:avLst/>
          </a:prstGeom>
          <a:noFill/>
          <a:ln/>
        </p:spPr>
        <p:txBody>
          <a:bodyPr wrap="square" lIns="0" tIns="0" rIns="0" bIns="0" rtlCol="0" anchor="t"/>
          <a:lstStyle/>
          <a:p>
            <a:pPr algn="ctr" indent="0" marL="0">
              <a:buNone/>
            </a:pPr>
            <a:r>
              <a:rPr lang="en-US" sz="1800" dirty="0">
                <a:solidFill>
                  <a:schemeClr val="tx1"/>
                </a:solidFill>
              </a:rPr>
              <a:t>GFLOPs por imagen</a:t>
            </a:r>
            <a:endParaRPr lang="en-US" sz="1800" dirty="0"/>
          </a:p>
        </p:txBody>
      </p:sp>
      <p:sp>
        <p:nvSpPr>
          <p:cNvPr id="29" name="Shape 26"/>
          <p:cNvSpPr/>
          <p:nvPr/>
        </p:nvSpPr>
        <p:spPr>
          <a:xfrm>
            <a:off x="7909560" y="3611880"/>
            <a:ext cx="3291840" cy="2194560"/>
          </a:xfrm>
          <a:prstGeom prst="roundRect">
            <a:avLst>
              <a:gd name="adj" fmla="val 5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30" name="Text 27"/>
          <p:cNvSpPr txBox="1"/>
          <p:nvPr/>
        </p:nvSpPr>
        <p:spPr>
          <a:xfrm>
            <a:off x="7909560" y="3886200"/>
            <a:ext cx="3291840" cy="1005840"/>
          </a:xfrm>
          <a:prstGeom prst="rect">
            <a:avLst/>
          </a:prstGeom>
          <a:noFill/>
          <a:ln/>
        </p:spPr>
        <p:txBody>
          <a:bodyPr wrap="square" lIns="0" tIns="0" rIns="0" bIns="0" rtlCol="0" anchor="ctr"/>
          <a:lstStyle/>
          <a:p>
            <a:pPr algn="ctr" indent="0" marL="0">
              <a:buNone/>
            </a:pPr>
            <a:r>
              <a:rPr lang="en-US" sz="5400" b="1" dirty="0">
                <a:solidFill>
                  <a:schemeClr val="accent2"/>
                </a:solidFill>
              </a:rPr>
              <a:t>6</a:t>
            </a:r>
            <a:endParaRPr lang="en-US" sz="5400" dirty="0"/>
          </a:p>
        </p:txBody>
      </p:sp>
      <p:sp>
        <p:nvSpPr>
          <p:cNvPr id="31" name="Text 28"/>
          <p:cNvSpPr txBox="1"/>
          <p:nvPr/>
        </p:nvSpPr>
        <p:spPr>
          <a:xfrm>
            <a:off x="7909560" y="4937760"/>
            <a:ext cx="3291840" cy="457200"/>
          </a:xfrm>
          <a:prstGeom prst="rect">
            <a:avLst/>
          </a:prstGeom>
          <a:noFill/>
          <a:ln/>
        </p:spPr>
        <p:txBody>
          <a:bodyPr wrap="square" lIns="0" tIns="0" rIns="0" bIns="0" rtlCol="0" anchor="t"/>
          <a:lstStyle/>
          <a:p>
            <a:pPr algn="ctr" indent="0" marL="0">
              <a:buNone/>
            </a:pPr>
            <a:r>
              <a:rPr lang="en-US" sz="1800" dirty="0">
                <a:solidFill>
                  <a:schemeClr val="tx1"/>
                </a:solidFill>
              </a:rPr>
              <a:t>clases de defecto</a:t>
            </a:r>
            <a:endParaRPr lang="en-US" sz="1800" dirty="0"/>
          </a:p>
        </p:txBody>
      </p:sp>
      <p:sp>
        <p:nvSpPr>
          <p:cNvPr id="32" name="Text 29"/>
          <p:cNvSpPr txBox="1"/>
          <p:nvPr/>
        </p:nvSpPr>
        <p:spPr>
          <a:xfrm>
            <a:off x="960120" y="5897880"/>
            <a:ext cx="7315200" cy="274320"/>
          </a:xfrm>
          <a:prstGeom prst="rect">
            <a:avLst/>
          </a:prstGeom>
          <a:noFill/>
          <a:ln/>
        </p:spPr>
        <p:txBody>
          <a:bodyPr wrap="square" lIns="0" tIns="0" rIns="0" bIns="0" rtlCol="0" anchor="t"/>
          <a:lstStyle/>
          <a:p>
            <a:pPr indent="0" marL="0">
              <a:buNone/>
            </a:pPr>
            <a:r>
              <a:rPr lang="en-US" sz="1200" dirty="0">
                <a:solidFill>
                  <a:schemeClr val="tx2"/>
                </a:solidFill>
              </a:rPr>
              <a:t>Cifras oficiales de Ultralytics a 640×640.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Backbone y Neck</a:t>
            </a:r>
            <a:endParaRPr lang="en-US" sz="3000" dirty="0"/>
          </a:p>
        </p:txBody>
      </p:sp>
      <p:sp>
        <p:nvSpPr>
          <p:cNvPr id="4" name="Shape 1"/>
          <p:cNvSpPr/>
          <p:nvPr/>
        </p:nvSpPr>
        <p:spPr>
          <a:xfrm>
            <a:off x="822960" y="1417320"/>
            <a:ext cx="5029200" cy="2057400"/>
          </a:xfrm>
          <a:prstGeom prst="roundRect">
            <a:avLst>
              <a:gd name="adj" fmla="val 5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097280" y="1737360"/>
            <a:ext cx="731520" cy="731520"/>
          </a:xfrm>
          <a:prstGeom prst="ellipse">
            <a:avLst/>
          </a:prstGeom>
          <a:solidFill>
            <a:schemeClr val="accent2"/>
          </a:solidFill>
          <a:ln w="6350">
            <a:solidFill>
              <a:schemeClr val="accent2"/>
            </a:solidFill>
            <a:prstDash val="solid"/>
          </a:ln>
        </p:spPr>
      </p:sp>
      <p:pic>
        <p:nvPicPr>
          <p:cNvPr id="6" name="Image 0" descr="icono">    </p:cNvPr>
          <p:cNvPicPr>
            <a:picLocks noChangeAspect="1"/>
          </p:cNvPicPr>
          <p:nvPr/>
        </p:nvPicPr>
        <p:blipFill>
          <a:blip r:embed="rId1"/>
          <a:stretch>
            <a:fillRect/>
          </a:stretch>
        </p:blipFill>
        <p:spPr>
          <a:xfrm>
            <a:off x="1294790" y="1934870"/>
            <a:ext cx="336499" cy="336499"/>
          </a:xfrm>
          <a:prstGeom prst="rect">
            <a:avLst/>
          </a:prstGeom>
        </p:spPr>
      </p:pic>
      <p:sp>
        <p:nvSpPr>
          <p:cNvPr id="7" name="Text 3"/>
          <p:cNvSpPr txBox="1"/>
          <p:nvPr/>
        </p:nvSpPr>
        <p:spPr>
          <a:xfrm>
            <a:off x="2057400" y="1737360"/>
            <a:ext cx="3611880" cy="411480"/>
          </a:xfrm>
          <a:prstGeom prst="rect">
            <a:avLst/>
          </a:prstGeom>
          <a:noFill/>
          <a:ln/>
        </p:spPr>
        <p:txBody>
          <a:bodyPr wrap="square" lIns="0" tIns="0" rIns="0" bIns="0" rtlCol="0" anchor="t"/>
          <a:lstStyle/>
          <a:p>
            <a:pPr indent="0" marL="0">
              <a:buNone/>
            </a:pPr>
            <a:r>
              <a:rPr lang="en-US" sz="2200" b="1" dirty="0">
                <a:solidFill>
                  <a:schemeClr val="tx1"/>
                </a:solidFill>
              </a:rPr>
              <a:t>C3k2 (CSPDarknet)</a:t>
            </a:r>
            <a:endParaRPr lang="en-US" sz="2200" dirty="0"/>
          </a:p>
        </p:txBody>
      </p:sp>
      <p:sp>
        <p:nvSpPr>
          <p:cNvPr id="8" name="Text 4"/>
          <p:cNvSpPr txBox="1"/>
          <p:nvPr/>
        </p:nvSpPr>
        <p:spPr>
          <a:xfrm>
            <a:off x="2057400" y="2240280"/>
            <a:ext cx="3611880" cy="1143000"/>
          </a:xfrm>
          <a:prstGeom prst="rect">
            <a:avLst/>
          </a:prstGeom>
          <a:noFill/>
          <a:ln/>
        </p:spPr>
        <p:txBody>
          <a:bodyPr wrap="square" lIns="0" tIns="0" rIns="0" bIns="0" rtlCol="0" anchor="t"/>
          <a:lstStyle/>
          <a:p>
            <a:pPr indent="0" marL="0">
              <a:buNone/>
            </a:pPr>
            <a:r>
              <a:rPr lang="en-US" sz="1600" dirty="0">
                <a:solidFill>
                  <a:schemeClr val="tx2"/>
                </a:solidFill>
              </a:rPr>
              <a:t>Divide el flujo en dos ramas y las une: menos cómputo con la misma capacidad.</a:t>
            </a:r>
            <a:endParaRPr lang="en-US" sz="1600" dirty="0"/>
          </a:p>
        </p:txBody>
      </p:sp>
      <p:sp>
        <p:nvSpPr>
          <p:cNvPr id="9" name="Shape 5"/>
          <p:cNvSpPr/>
          <p:nvPr/>
        </p:nvSpPr>
        <p:spPr>
          <a:xfrm>
            <a:off x="6126480" y="1417320"/>
            <a:ext cx="5029200" cy="2057400"/>
          </a:xfrm>
          <a:prstGeom prst="roundRect">
            <a:avLst>
              <a:gd name="adj" fmla="val 5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0" name="Shape 6"/>
          <p:cNvSpPr/>
          <p:nvPr/>
        </p:nvSpPr>
        <p:spPr>
          <a:xfrm>
            <a:off x="6400800" y="1737360"/>
            <a:ext cx="731520" cy="731520"/>
          </a:xfrm>
          <a:prstGeom prst="ellipse">
            <a:avLst/>
          </a:prstGeom>
          <a:solidFill>
            <a:schemeClr val="accent2"/>
          </a:solidFill>
          <a:ln w="6350">
            <a:solidFill>
              <a:schemeClr val="accent2"/>
            </a:solidFill>
            <a:prstDash val="solid"/>
          </a:ln>
        </p:spPr>
      </p:sp>
      <p:pic>
        <p:nvPicPr>
          <p:cNvPr id="11" name="Image 1" descr="icono">    </p:cNvPr>
          <p:cNvPicPr>
            <a:picLocks noChangeAspect="1"/>
          </p:cNvPicPr>
          <p:nvPr/>
        </p:nvPicPr>
        <p:blipFill>
          <a:blip r:embed="rId2"/>
          <a:stretch>
            <a:fillRect/>
          </a:stretch>
        </p:blipFill>
        <p:spPr>
          <a:xfrm>
            <a:off x="6598310" y="1934870"/>
            <a:ext cx="336499" cy="336499"/>
          </a:xfrm>
          <a:prstGeom prst="rect">
            <a:avLst/>
          </a:prstGeom>
        </p:spPr>
      </p:pic>
      <p:sp>
        <p:nvSpPr>
          <p:cNvPr id="12" name="Text 7"/>
          <p:cNvSpPr txBox="1"/>
          <p:nvPr/>
        </p:nvSpPr>
        <p:spPr>
          <a:xfrm>
            <a:off x="7360920" y="1737360"/>
            <a:ext cx="3611880" cy="411480"/>
          </a:xfrm>
          <a:prstGeom prst="rect">
            <a:avLst/>
          </a:prstGeom>
          <a:noFill/>
          <a:ln/>
        </p:spPr>
        <p:txBody>
          <a:bodyPr wrap="square" lIns="0" tIns="0" rIns="0" bIns="0" rtlCol="0" anchor="t"/>
          <a:lstStyle/>
          <a:p>
            <a:pPr indent="0" marL="0">
              <a:buNone/>
            </a:pPr>
            <a:r>
              <a:rPr lang="en-US" sz="2200" b="1" dirty="0">
                <a:solidFill>
                  <a:schemeClr val="tx1"/>
                </a:solidFill>
              </a:rPr>
              <a:t>SPPF</a:t>
            </a:r>
            <a:endParaRPr lang="en-US" sz="2200" dirty="0"/>
          </a:p>
        </p:txBody>
      </p:sp>
      <p:sp>
        <p:nvSpPr>
          <p:cNvPr id="13" name="Text 8"/>
          <p:cNvSpPr txBox="1"/>
          <p:nvPr/>
        </p:nvSpPr>
        <p:spPr>
          <a:xfrm>
            <a:off x="7360920" y="2240280"/>
            <a:ext cx="3611880" cy="1143000"/>
          </a:xfrm>
          <a:prstGeom prst="rect">
            <a:avLst/>
          </a:prstGeom>
          <a:noFill/>
          <a:ln/>
        </p:spPr>
        <p:txBody>
          <a:bodyPr wrap="square" lIns="0" tIns="0" rIns="0" bIns="0" rtlCol="0" anchor="t"/>
          <a:lstStyle/>
          <a:p>
            <a:pPr indent="0" marL="0">
              <a:buNone/>
            </a:pPr>
            <a:r>
              <a:rPr lang="en-US" sz="1600" dirty="0">
                <a:solidFill>
                  <a:schemeClr val="tx2"/>
                </a:solidFill>
              </a:rPr>
              <a:t>Pooling en cascada: ve defectos pequeños y grandes con el mismo costo.</a:t>
            </a:r>
            <a:endParaRPr lang="en-US" sz="1600" dirty="0"/>
          </a:p>
        </p:txBody>
      </p:sp>
      <p:sp>
        <p:nvSpPr>
          <p:cNvPr id="14" name="Shape 9"/>
          <p:cNvSpPr/>
          <p:nvPr/>
        </p:nvSpPr>
        <p:spPr>
          <a:xfrm>
            <a:off x="822960" y="3703320"/>
            <a:ext cx="5029200" cy="2057400"/>
          </a:xfrm>
          <a:prstGeom prst="roundRect">
            <a:avLst>
              <a:gd name="adj" fmla="val 5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5" name="Shape 10"/>
          <p:cNvSpPr/>
          <p:nvPr/>
        </p:nvSpPr>
        <p:spPr>
          <a:xfrm>
            <a:off x="1097280" y="4023360"/>
            <a:ext cx="731520" cy="731520"/>
          </a:xfrm>
          <a:prstGeom prst="ellipse">
            <a:avLst/>
          </a:prstGeom>
          <a:solidFill>
            <a:schemeClr val="accent2"/>
          </a:solidFill>
          <a:ln w="6350">
            <a:solidFill>
              <a:schemeClr val="accent2"/>
            </a:solidFill>
            <a:prstDash val="solid"/>
          </a:ln>
        </p:spPr>
      </p:sp>
      <p:pic>
        <p:nvPicPr>
          <p:cNvPr id="16" name="Image 2" descr="icono">    </p:cNvPr>
          <p:cNvPicPr>
            <a:picLocks noChangeAspect="1"/>
          </p:cNvPicPr>
          <p:nvPr/>
        </p:nvPicPr>
        <p:blipFill>
          <a:blip r:embed="rId3"/>
          <a:stretch>
            <a:fillRect/>
          </a:stretch>
        </p:blipFill>
        <p:spPr>
          <a:xfrm>
            <a:off x="1294790" y="4220870"/>
            <a:ext cx="336499" cy="336499"/>
          </a:xfrm>
          <a:prstGeom prst="rect">
            <a:avLst/>
          </a:prstGeom>
        </p:spPr>
      </p:pic>
      <p:sp>
        <p:nvSpPr>
          <p:cNvPr id="17" name="Text 11"/>
          <p:cNvSpPr txBox="1"/>
          <p:nvPr/>
        </p:nvSpPr>
        <p:spPr>
          <a:xfrm>
            <a:off x="2057400" y="4023360"/>
            <a:ext cx="3611880" cy="411480"/>
          </a:xfrm>
          <a:prstGeom prst="rect">
            <a:avLst/>
          </a:prstGeom>
          <a:noFill/>
          <a:ln/>
        </p:spPr>
        <p:txBody>
          <a:bodyPr wrap="square" lIns="0" tIns="0" rIns="0" bIns="0" rtlCol="0" anchor="t"/>
          <a:lstStyle/>
          <a:p>
            <a:pPr indent="0" marL="0">
              <a:buNone/>
            </a:pPr>
            <a:r>
              <a:rPr lang="en-US" sz="2200" b="1" dirty="0">
                <a:solidFill>
                  <a:schemeClr val="tx1"/>
                </a:solidFill>
              </a:rPr>
              <a:t>C2PSA</a:t>
            </a:r>
            <a:endParaRPr lang="en-US" sz="2200" dirty="0"/>
          </a:p>
        </p:txBody>
      </p:sp>
      <p:sp>
        <p:nvSpPr>
          <p:cNvPr id="18" name="Text 12"/>
          <p:cNvSpPr txBox="1"/>
          <p:nvPr/>
        </p:nvSpPr>
        <p:spPr>
          <a:xfrm>
            <a:off x="2057400" y="4526280"/>
            <a:ext cx="3611880" cy="1143000"/>
          </a:xfrm>
          <a:prstGeom prst="rect">
            <a:avLst/>
          </a:prstGeom>
          <a:noFill/>
          <a:ln/>
        </p:spPr>
        <p:txBody>
          <a:bodyPr wrap="square" lIns="0" tIns="0" rIns="0" bIns="0" rtlCol="0" anchor="t"/>
          <a:lstStyle/>
          <a:p>
            <a:pPr indent="0" marL="0">
              <a:buNone/>
            </a:pPr>
            <a:r>
              <a:rPr lang="en-US" sz="1600" dirty="0">
                <a:solidFill>
                  <a:schemeClr val="tx2"/>
                </a:solidFill>
              </a:rPr>
              <a:t>Atención espacial: pondera qué regiones de la imagen importan más.</a:t>
            </a:r>
            <a:endParaRPr lang="en-US" sz="1600" dirty="0"/>
          </a:p>
        </p:txBody>
      </p:sp>
      <p:sp>
        <p:nvSpPr>
          <p:cNvPr id="19" name="Shape 13"/>
          <p:cNvSpPr/>
          <p:nvPr/>
        </p:nvSpPr>
        <p:spPr>
          <a:xfrm>
            <a:off x="6126480" y="3703320"/>
            <a:ext cx="5029200" cy="2057400"/>
          </a:xfrm>
          <a:prstGeom prst="roundRect">
            <a:avLst>
              <a:gd name="adj" fmla="val 5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0" name="Shape 14"/>
          <p:cNvSpPr/>
          <p:nvPr/>
        </p:nvSpPr>
        <p:spPr>
          <a:xfrm>
            <a:off x="6400800" y="4023360"/>
            <a:ext cx="731520" cy="731520"/>
          </a:xfrm>
          <a:prstGeom prst="ellipse">
            <a:avLst/>
          </a:prstGeom>
          <a:solidFill>
            <a:schemeClr val="accent2"/>
          </a:solidFill>
          <a:ln w="6350">
            <a:solidFill>
              <a:schemeClr val="accent2"/>
            </a:solidFill>
            <a:prstDash val="solid"/>
          </a:ln>
        </p:spPr>
      </p:sp>
      <p:pic>
        <p:nvPicPr>
          <p:cNvPr id="21" name="Image 3" descr="icono">    </p:cNvPr>
          <p:cNvPicPr>
            <a:picLocks noChangeAspect="1"/>
          </p:cNvPicPr>
          <p:nvPr/>
        </p:nvPicPr>
        <p:blipFill>
          <a:blip r:embed="rId4"/>
          <a:stretch>
            <a:fillRect/>
          </a:stretch>
        </p:blipFill>
        <p:spPr>
          <a:xfrm>
            <a:off x="6598310" y="4220870"/>
            <a:ext cx="336499" cy="336499"/>
          </a:xfrm>
          <a:prstGeom prst="rect">
            <a:avLst/>
          </a:prstGeom>
        </p:spPr>
      </p:pic>
      <p:sp>
        <p:nvSpPr>
          <p:cNvPr id="22" name="Text 15"/>
          <p:cNvSpPr txBox="1"/>
          <p:nvPr/>
        </p:nvSpPr>
        <p:spPr>
          <a:xfrm>
            <a:off x="7360920" y="4023360"/>
            <a:ext cx="3611880" cy="411480"/>
          </a:xfrm>
          <a:prstGeom prst="rect">
            <a:avLst/>
          </a:prstGeom>
          <a:noFill/>
          <a:ln/>
        </p:spPr>
        <p:txBody>
          <a:bodyPr wrap="square" lIns="0" tIns="0" rIns="0" bIns="0" rtlCol="0" anchor="t"/>
          <a:lstStyle/>
          <a:p>
            <a:pPr indent="0" marL="0">
              <a:buNone/>
            </a:pPr>
            <a:r>
              <a:rPr lang="en-US" sz="2200" b="1" dirty="0">
                <a:solidFill>
                  <a:schemeClr val="tx1"/>
                </a:solidFill>
              </a:rPr>
              <a:t>PAN-FPN: P3, P4, P5</a:t>
            </a:r>
            <a:endParaRPr lang="en-US" sz="2200" dirty="0"/>
          </a:p>
        </p:txBody>
      </p:sp>
      <p:sp>
        <p:nvSpPr>
          <p:cNvPr id="23" name="Text 16"/>
          <p:cNvSpPr txBox="1"/>
          <p:nvPr/>
        </p:nvSpPr>
        <p:spPr>
          <a:xfrm>
            <a:off x="7360920" y="4526280"/>
            <a:ext cx="3611880" cy="1143000"/>
          </a:xfrm>
          <a:prstGeom prst="rect">
            <a:avLst/>
          </a:prstGeom>
          <a:noFill/>
          <a:ln/>
        </p:spPr>
        <p:txBody>
          <a:bodyPr wrap="square" lIns="0" tIns="0" rIns="0" bIns="0" rtlCol="0" anchor="t"/>
          <a:lstStyle/>
          <a:p>
            <a:pPr indent="0" marL="0">
              <a:buNone/>
            </a:pPr>
            <a:r>
              <a:rPr lang="en-US" sz="1600" dirty="0">
                <a:solidFill>
                  <a:schemeClr val="tx2"/>
                </a:solidFill>
              </a:rPr>
              <a:t>Strides 8, 16 y 32. P3 aporta detalle fino y P5 contexto; se fusionan en dos sentidos.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Head: sin anchors y desacoplada</a:t>
            </a:r>
            <a:endParaRPr lang="en-US" sz="3000" dirty="0"/>
          </a:p>
        </p:txBody>
      </p:sp>
      <p:sp>
        <p:nvSpPr>
          <p:cNvPr id="4" name="Shape 1"/>
          <p:cNvSpPr/>
          <p:nvPr/>
        </p:nvSpPr>
        <p:spPr>
          <a:xfrm>
            <a:off x="1188720" y="1463040"/>
            <a:ext cx="3840480" cy="822960"/>
          </a:xfrm>
          <a:prstGeom prst="roundRect">
            <a:avLst>
              <a:gd name="adj" fmla="val 11111"/>
            </a:avLst>
          </a:prstGeom>
          <a:solidFill>
            <a:schemeClr val="accent3"/>
          </a:solidFill>
          <a:ln w="6350">
            <a:solidFill>
              <a:schemeClr val="accent3"/>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1188720" y="1463040"/>
            <a:ext cx="3840480" cy="822960"/>
          </a:xfrm>
          <a:prstGeom prst="rect">
            <a:avLst/>
          </a:prstGeom>
          <a:noFill/>
          <a:ln/>
        </p:spPr>
        <p:txBody>
          <a:bodyPr wrap="square" lIns="0" tIns="0" rIns="0" bIns="0" rtlCol="0" anchor="ctr"/>
          <a:lstStyle/>
          <a:p>
            <a:pPr algn="ctr" indent="0" marL="0">
              <a:buNone/>
            </a:pPr>
            <a:r>
              <a:rPr lang="en-US" sz="1800" b="1" dirty="0">
                <a:solidFill>
                  <a:schemeClr val="bg1"/>
                </a:solidFill>
              </a:rPr>
              <a:t>Neck: P3 · P4 · P5</a:t>
            </a:r>
            <a:endParaRPr lang="en-US" sz="1800" dirty="0"/>
          </a:p>
        </p:txBody>
      </p:sp>
      <p:sp>
        <p:nvSpPr>
          <p:cNvPr id="6" name="Shape 3"/>
          <p:cNvSpPr/>
          <p:nvPr/>
        </p:nvSpPr>
        <p:spPr>
          <a:xfrm>
            <a:off x="2148840" y="2331720"/>
            <a:ext cx="0" cy="777240"/>
          </a:xfrm>
          <a:prstGeom prst="line">
            <a:avLst/>
          </a:prstGeom>
          <a:noFill/>
          <a:ln w="28575">
            <a:solidFill>
              <a:schemeClr val="accent2"/>
            </a:solidFill>
            <a:prstDash val="solid"/>
            <a:tailEnd type="triangle"/>
          </a:ln>
        </p:spPr>
      </p:sp>
      <p:sp>
        <p:nvSpPr>
          <p:cNvPr id="7" name="Shape 4"/>
          <p:cNvSpPr/>
          <p:nvPr/>
        </p:nvSpPr>
        <p:spPr>
          <a:xfrm>
            <a:off x="4069080" y="2331720"/>
            <a:ext cx="0" cy="777240"/>
          </a:xfrm>
          <a:prstGeom prst="line">
            <a:avLst/>
          </a:prstGeom>
          <a:noFill/>
          <a:ln w="28575">
            <a:solidFill>
              <a:schemeClr val="accent2"/>
            </a:solidFill>
            <a:prstDash val="solid"/>
            <a:tailEnd type="triangle"/>
          </a:ln>
        </p:spPr>
      </p:sp>
      <p:sp>
        <p:nvSpPr>
          <p:cNvPr id="8" name="Shape 5"/>
          <p:cNvSpPr/>
          <p:nvPr/>
        </p:nvSpPr>
        <p:spPr>
          <a:xfrm>
            <a:off x="822960" y="3200400"/>
            <a:ext cx="2103120" cy="2011680"/>
          </a:xfrm>
          <a:prstGeom prst="roundRect">
            <a:avLst>
              <a:gd name="adj" fmla="val 4545"/>
            </a:avLst>
          </a:prstGeom>
          <a:solidFill>
            <a:schemeClr val="accent2"/>
          </a:solidFill>
          <a:ln w="6350">
            <a:solidFill>
              <a:schemeClr val="accent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3200400"/>
            <a:ext cx="2103120" cy="2011680"/>
          </a:xfrm>
          <a:prstGeom prst="rect">
            <a:avLst/>
          </a:prstGeom>
          <a:noFill/>
          <a:ln/>
        </p:spPr>
        <p:txBody>
          <a:bodyPr wrap="square" lIns="0" tIns="0" rIns="0" bIns="0" rtlCol="0" anchor="ctr"/>
          <a:lstStyle/>
          <a:p>
            <a:pPr algn="ctr" indent="0" marL="0">
              <a:buNone/>
            </a:pPr>
            <a:r>
              <a:rPr lang="en-US" sz="1800" b="1" dirty="0">
                <a:solidFill>
                  <a:schemeClr val="bg1"/>
                </a:solidFill>
              </a:rPr>
              <a:t>Rama de clase</a:t>
            </a:r>
            <a:endParaRPr lang="en-US" sz="1400" dirty="0"/>
          </a:p>
          <a:p>
            <a:pPr algn="ctr" indent="0" marL="0">
              <a:buNone/>
            </a:pPr>
            <a:r>
              <a:rPr lang="en-US" sz="1400" dirty="0">
                <a:solidFill>
                  <a:schemeClr val="bg1"/>
                </a:solidFill>
              </a:rPr>
              <a:t>6 probabilidades por celda</a:t>
            </a:r>
            <a:endParaRPr lang="en-US" sz="1400" dirty="0"/>
          </a:p>
        </p:txBody>
      </p:sp>
      <p:sp>
        <p:nvSpPr>
          <p:cNvPr id="10" name="Shape 7"/>
          <p:cNvSpPr/>
          <p:nvPr/>
        </p:nvSpPr>
        <p:spPr>
          <a:xfrm>
            <a:off x="3291840" y="3200400"/>
            <a:ext cx="2103120" cy="2011680"/>
          </a:xfrm>
          <a:prstGeom prst="roundRect">
            <a:avLst>
              <a:gd name="adj" fmla="val 4545"/>
            </a:avLst>
          </a:prstGeom>
          <a:solidFill>
            <a:schemeClr val="accent4"/>
          </a:solidFill>
          <a:ln w="6350">
            <a:solidFill>
              <a:schemeClr val="accent4"/>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3291840" y="3200400"/>
            <a:ext cx="2103120" cy="2011680"/>
          </a:xfrm>
          <a:prstGeom prst="rect">
            <a:avLst/>
          </a:prstGeom>
          <a:noFill/>
          <a:ln/>
        </p:spPr>
        <p:txBody>
          <a:bodyPr wrap="square" lIns="0" tIns="0" rIns="0" bIns="0" rtlCol="0" anchor="ctr"/>
          <a:lstStyle/>
          <a:p>
            <a:pPr algn="ctr" indent="0" marL="0">
              <a:buNone/>
            </a:pPr>
            <a:r>
              <a:rPr lang="en-US" sz="1800" b="1" dirty="0">
                <a:solidFill>
                  <a:schemeClr val="bg1"/>
                </a:solidFill>
              </a:rPr>
              <a:t>Rama de caja</a:t>
            </a:r>
            <a:endParaRPr lang="en-US" sz="1400" dirty="0"/>
          </a:p>
          <a:p>
            <a:pPr algn="ctr" indent="0" marL="0">
              <a:buNone/>
            </a:pPr>
            <a:r>
              <a:rPr lang="en-US" sz="1400" dirty="0">
                <a:solidFill>
                  <a:schemeClr val="bg1"/>
                </a:solidFill>
              </a:rPr>
              <a:t>4 bordes × 16 valores (DFL)</a:t>
            </a:r>
            <a:endParaRPr lang="en-US" sz="1400" dirty="0"/>
          </a:p>
        </p:txBody>
      </p:sp>
      <p:sp>
        <p:nvSpPr>
          <p:cNvPr id="12" name="Text 9"/>
          <p:cNvSpPr txBox="1"/>
          <p:nvPr/>
        </p:nvSpPr>
        <p:spPr>
          <a:xfrm>
            <a:off x="822960" y="5349240"/>
            <a:ext cx="4572000" cy="320040"/>
          </a:xfrm>
          <a:prstGeom prst="rect">
            <a:avLst/>
          </a:prstGeom>
          <a:noFill/>
          <a:ln/>
        </p:spPr>
        <p:txBody>
          <a:bodyPr wrap="square" lIns="0" tIns="0" rIns="0" bIns="0" rtlCol="0" anchor="t"/>
          <a:lstStyle/>
          <a:p>
            <a:pPr algn="ctr" indent="0" marL="0">
              <a:buNone/>
            </a:pPr>
            <a:r>
              <a:rPr lang="en-US" sz="1300" dirty="0">
                <a:solidFill>
                  <a:schemeClr val="tx2"/>
                </a:solidFill>
              </a:rPr>
              <a:t>Mismo mapa de entrada, pesos distintos</a:t>
            </a:r>
            <a:endParaRPr lang="en-US" sz="1300" dirty="0"/>
          </a:p>
        </p:txBody>
      </p:sp>
      <p:sp>
        <p:nvSpPr>
          <p:cNvPr id="13" name="Shape 10"/>
          <p:cNvSpPr/>
          <p:nvPr/>
        </p:nvSpPr>
        <p:spPr>
          <a:xfrm>
            <a:off x="5852160" y="1371600"/>
            <a:ext cx="530352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4" name="Shape 11"/>
          <p:cNvSpPr/>
          <p:nvPr/>
        </p:nvSpPr>
        <p:spPr>
          <a:xfrm>
            <a:off x="6080760" y="1709928"/>
            <a:ext cx="731520" cy="731520"/>
          </a:xfrm>
          <a:prstGeom prst="ellipse">
            <a:avLst/>
          </a:prstGeom>
          <a:solidFill>
            <a:schemeClr val="accent2"/>
          </a:solidFill>
          <a:ln w="6350">
            <a:solidFill>
              <a:schemeClr val="accent2"/>
            </a:solidFill>
            <a:prstDash val="solid"/>
          </a:ln>
        </p:spPr>
      </p:sp>
      <p:pic>
        <p:nvPicPr>
          <p:cNvPr id="15" name="Image 0" descr="icono">    </p:cNvPr>
          <p:cNvPicPr>
            <a:picLocks noChangeAspect="1"/>
          </p:cNvPicPr>
          <p:nvPr/>
        </p:nvPicPr>
        <p:blipFill>
          <a:blip r:embed="rId1"/>
          <a:stretch>
            <a:fillRect/>
          </a:stretch>
        </p:blipFill>
        <p:spPr>
          <a:xfrm>
            <a:off x="6278270" y="1907438"/>
            <a:ext cx="336499" cy="336499"/>
          </a:xfrm>
          <a:prstGeom prst="rect">
            <a:avLst/>
          </a:prstGeom>
        </p:spPr>
      </p:pic>
      <p:sp>
        <p:nvSpPr>
          <p:cNvPr id="16" name="Text 12"/>
          <p:cNvSpPr txBox="1"/>
          <p:nvPr/>
        </p:nvSpPr>
        <p:spPr>
          <a:xfrm>
            <a:off x="7040880" y="1508760"/>
            <a:ext cx="3931920" cy="365760"/>
          </a:xfrm>
          <a:prstGeom prst="rect">
            <a:avLst/>
          </a:prstGeom>
          <a:noFill/>
          <a:ln/>
        </p:spPr>
        <p:txBody>
          <a:bodyPr wrap="square" lIns="0" tIns="0" rIns="0" bIns="0" rtlCol="0" anchor="t"/>
          <a:lstStyle/>
          <a:p>
            <a:pPr indent="0" marL="0">
              <a:buNone/>
            </a:pPr>
            <a:r>
              <a:rPr lang="en-US" sz="1800" b="1" dirty="0">
                <a:solidFill>
                  <a:schemeClr val="tx1"/>
                </a:solidFill>
              </a:rPr>
              <a:t>Anchor-free</a:t>
            </a:r>
            <a:endParaRPr lang="en-US" sz="1800" dirty="0"/>
          </a:p>
        </p:txBody>
      </p:sp>
      <p:sp>
        <p:nvSpPr>
          <p:cNvPr id="17" name="Text 13"/>
          <p:cNvSpPr txBox="1"/>
          <p:nvPr/>
        </p:nvSpPr>
        <p:spPr>
          <a:xfrm>
            <a:off x="7040880" y="1920240"/>
            <a:ext cx="3931920" cy="822960"/>
          </a:xfrm>
          <a:prstGeom prst="rect">
            <a:avLst/>
          </a:prstGeom>
          <a:noFill/>
          <a:ln/>
        </p:spPr>
        <p:txBody>
          <a:bodyPr wrap="square" lIns="0" tIns="0" rIns="0" bIns="0" rtlCol="0" anchor="t"/>
          <a:lstStyle/>
          <a:p>
            <a:pPr indent="0" marL="0">
              <a:buNone/>
            </a:pPr>
            <a:r>
              <a:rPr lang="en-US" sz="1600" dirty="0">
                <a:solidFill>
                  <a:schemeClr val="tx2"/>
                </a:solidFill>
              </a:rPr>
              <a:t>Cada celda predice las distancias a los 4 bordes. Sin cajas de referencia.</a:t>
            </a:r>
            <a:endParaRPr lang="en-US" sz="1600" dirty="0"/>
          </a:p>
        </p:txBody>
      </p:sp>
      <p:sp>
        <p:nvSpPr>
          <p:cNvPr id="18" name="Shape 14"/>
          <p:cNvSpPr/>
          <p:nvPr/>
        </p:nvSpPr>
        <p:spPr>
          <a:xfrm>
            <a:off x="5852160" y="2926080"/>
            <a:ext cx="530352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6080760" y="3264408"/>
            <a:ext cx="731520" cy="731520"/>
          </a:xfrm>
          <a:prstGeom prst="ellipse">
            <a:avLst/>
          </a:prstGeom>
          <a:solidFill>
            <a:schemeClr val="accent2"/>
          </a:solidFill>
          <a:ln w="6350">
            <a:solidFill>
              <a:schemeClr val="accent2"/>
            </a:solidFill>
            <a:prstDash val="solid"/>
          </a:ln>
        </p:spPr>
      </p:sp>
      <p:pic>
        <p:nvPicPr>
          <p:cNvPr id="20" name="Image 1" descr="icono">    </p:cNvPr>
          <p:cNvPicPr>
            <a:picLocks noChangeAspect="1"/>
          </p:cNvPicPr>
          <p:nvPr/>
        </p:nvPicPr>
        <p:blipFill>
          <a:blip r:embed="rId2"/>
          <a:stretch>
            <a:fillRect/>
          </a:stretch>
        </p:blipFill>
        <p:spPr>
          <a:xfrm>
            <a:off x="6278270" y="3461918"/>
            <a:ext cx="336499" cy="336499"/>
          </a:xfrm>
          <a:prstGeom prst="rect">
            <a:avLst/>
          </a:prstGeom>
        </p:spPr>
      </p:pic>
      <p:sp>
        <p:nvSpPr>
          <p:cNvPr id="21" name="Text 16"/>
          <p:cNvSpPr txBox="1"/>
          <p:nvPr/>
        </p:nvSpPr>
        <p:spPr>
          <a:xfrm>
            <a:off x="7040880" y="30632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Desacoplada</a:t>
            </a:r>
            <a:endParaRPr lang="en-US" sz="1800" dirty="0"/>
          </a:p>
        </p:txBody>
      </p:sp>
      <p:sp>
        <p:nvSpPr>
          <p:cNvPr id="22" name="Text 17"/>
          <p:cNvSpPr txBox="1"/>
          <p:nvPr/>
        </p:nvSpPr>
        <p:spPr>
          <a:xfrm>
            <a:off x="7040880" y="3474720"/>
            <a:ext cx="3931920" cy="822960"/>
          </a:xfrm>
          <a:prstGeom prst="rect">
            <a:avLst/>
          </a:prstGeom>
          <a:noFill/>
          <a:ln/>
        </p:spPr>
        <p:txBody>
          <a:bodyPr wrap="square" lIns="0" tIns="0" rIns="0" bIns="0" rtlCol="0" anchor="t"/>
          <a:lstStyle/>
          <a:p>
            <a:pPr indent="0" marL="0">
              <a:buNone/>
            </a:pPr>
            <a:r>
              <a:rPr lang="en-US" sz="1600" dirty="0">
                <a:solidFill>
                  <a:schemeClr val="tx2"/>
                </a:solidFill>
              </a:rPr>
              <a:t>Clasificar y localizar son tareas distintas: separarlas mejora ambas.</a:t>
            </a:r>
            <a:endParaRPr lang="en-US" sz="1600" dirty="0"/>
          </a:p>
        </p:txBody>
      </p:sp>
      <p:sp>
        <p:nvSpPr>
          <p:cNvPr id="23" name="Shape 18"/>
          <p:cNvSpPr/>
          <p:nvPr/>
        </p:nvSpPr>
        <p:spPr>
          <a:xfrm>
            <a:off x="5852160" y="4480560"/>
            <a:ext cx="530352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4" name="Shape 19"/>
          <p:cNvSpPr/>
          <p:nvPr/>
        </p:nvSpPr>
        <p:spPr>
          <a:xfrm>
            <a:off x="6080760" y="4818888"/>
            <a:ext cx="731520" cy="731520"/>
          </a:xfrm>
          <a:prstGeom prst="ellipse">
            <a:avLst/>
          </a:prstGeom>
          <a:solidFill>
            <a:schemeClr val="accent2"/>
          </a:solidFill>
          <a:ln w="6350">
            <a:solidFill>
              <a:schemeClr val="accent2"/>
            </a:solidFill>
            <a:prstDash val="solid"/>
          </a:ln>
        </p:spPr>
      </p:sp>
      <p:pic>
        <p:nvPicPr>
          <p:cNvPr id="25" name="Image 2" descr="icono">    </p:cNvPr>
          <p:cNvPicPr>
            <a:picLocks noChangeAspect="1"/>
          </p:cNvPicPr>
          <p:nvPr/>
        </p:nvPicPr>
        <p:blipFill>
          <a:blip r:embed="rId3"/>
          <a:stretch>
            <a:fillRect/>
          </a:stretch>
        </p:blipFill>
        <p:spPr>
          <a:xfrm>
            <a:off x="6278270" y="5016398"/>
            <a:ext cx="336499" cy="336499"/>
          </a:xfrm>
          <a:prstGeom prst="rect">
            <a:avLst/>
          </a:prstGeom>
        </p:spPr>
      </p:pic>
      <p:sp>
        <p:nvSpPr>
          <p:cNvPr id="26" name="Text 20"/>
          <p:cNvSpPr txBox="1"/>
          <p:nvPr/>
        </p:nvSpPr>
        <p:spPr>
          <a:xfrm>
            <a:off x="7040880" y="4617720"/>
            <a:ext cx="3931920" cy="365760"/>
          </a:xfrm>
          <a:prstGeom prst="rect">
            <a:avLst/>
          </a:prstGeom>
          <a:noFill/>
          <a:ln/>
        </p:spPr>
        <p:txBody>
          <a:bodyPr wrap="square" lIns="0" tIns="0" rIns="0" bIns="0" rtlCol="0" anchor="t"/>
          <a:lstStyle/>
          <a:p>
            <a:pPr indent="0" marL="0">
              <a:buNone/>
            </a:pPr>
            <a:r>
              <a:rPr lang="en-US" sz="1800" b="1" dirty="0">
                <a:solidFill>
                  <a:schemeClr val="tx1"/>
                </a:solidFill>
              </a:rPr>
              <a:t>DFL (reg_max = 16)</a:t>
            </a:r>
            <a:endParaRPr lang="en-US" sz="1800" dirty="0"/>
          </a:p>
        </p:txBody>
      </p:sp>
      <p:sp>
        <p:nvSpPr>
          <p:cNvPr id="27" name="Text 21"/>
          <p:cNvSpPr txBox="1"/>
          <p:nvPr/>
        </p:nvSpPr>
        <p:spPr>
          <a:xfrm>
            <a:off x="7040880" y="5029200"/>
            <a:ext cx="3931920" cy="822960"/>
          </a:xfrm>
          <a:prstGeom prst="rect">
            <a:avLst/>
          </a:prstGeom>
          <a:noFill/>
          <a:ln/>
        </p:spPr>
        <p:txBody>
          <a:bodyPr wrap="square" lIns="0" tIns="0" rIns="0" bIns="0" rtlCol="0" anchor="t"/>
          <a:lstStyle/>
          <a:p>
            <a:pPr indent="0" marL="0">
              <a:buNone/>
            </a:pPr>
            <a:r>
              <a:rPr lang="en-US" sz="1400" dirty="0">
                <a:solidFill>
                  <a:schemeClr val="tx2"/>
                </a:solidFill>
              </a:rPr>
              <a:t>Cada borde es una distribución sobre 16 valores</a:t>
            </a:r>
            <a:endParaRPr lang="en-US" sz="1400" dirty="0"/>
          </a:p>
          <a:p>
            <a:pPr indent="0" marL="0">
              <a:buNone/>
            </a:pPr>
            <a:r>
              <a:rPr lang="en-US" sz="1800" b="1" dirty="0">
                <a:solidFill>
                  <a:schemeClr val="tx1"/>
                </a:solidFill>
              </a:rPr>
              <a:t>valor = Σ i · P(i),  i = 0…15</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Preprocesamiento: letterbox</a:t>
            </a:r>
            <a:endParaRPr lang="en-US" sz="3000" dirty="0"/>
          </a:p>
        </p:txBody>
      </p:sp>
      <p:sp>
        <p:nvSpPr>
          <p:cNvPr id="4" name="Shape 1"/>
          <p:cNvSpPr/>
          <p:nvPr/>
        </p:nvSpPr>
        <p:spPr>
          <a:xfrm>
            <a:off x="822960" y="1371600"/>
            <a:ext cx="3200400" cy="3337560"/>
          </a:xfrm>
          <a:prstGeom prst="roundRect">
            <a:avLst>
              <a:gd name="adj" fmla="val 3429"/>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005840" y="1508760"/>
            <a:ext cx="457200" cy="457200"/>
          </a:xfrm>
          <a:prstGeom prst="ellipse">
            <a:avLst/>
          </a:prstGeom>
          <a:solidFill>
            <a:schemeClr val="accent2"/>
          </a:solidFill>
          <a:ln w="6350">
            <a:solidFill>
              <a:schemeClr val="accent2"/>
            </a:solidFill>
            <a:prstDash val="solid"/>
          </a:ln>
        </p:spPr>
      </p:sp>
      <p:sp>
        <p:nvSpPr>
          <p:cNvPr id="6" name="Text 3"/>
          <p:cNvSpPr txBox="1"/>
          <p:nvPr/>
        </p:nvSpPr>
        <p:spPr>
          <a:xfrm>
            <a:off x="1005840" y="1508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4"/>
          <p:cNvSpPr txBox="1"/>
          <p:nvPr/>
        </p:nvSpPr>
        <p:spPr>
          <a:xfrm>
            <a:off x="1600200" y="150876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Captura cruda</a:t>
            </a:r>
            <a:endParaRPr lang="en-US" sz="1800" dirty="0"/>
          </a:p>
        </p:txBody>
      </p:sp>
      <p:sp>
        <p:nvSpPr>
          <p:cNvPr id="8" name="Shape 5"/>
          <p:cNvSpPr/>
          <p:nvPr/>
        </p:nvSpPr>
        <p:spPr>
          <a:xfrm>
            <a:off x="4059936" y="3017520"/>
            <a:ext cx="292608" cy="0"/>
          </a:xfrm>
          <a:prstGeom prst="line">
            <a:avLst/>
          </a:prstGeom>
          <a:noFill/>
          <a:ln w="28575">
            <a:solidFill>
              <a:schemeClr val="accent2"/>
            </a:solidFill>
            <a:prstDash val="solid"/>
            <a:tailEnd type="triangle"/>
          </a:ln>
        </p:spPr>
      </p:sp>
      <p:sp>
        <p:nvSpPr>
          <p:cNvPr id="9" name="Shape 6"/>
          <p:cNvSpPr/>
          <p:nvPr/>
        </p:nvSpPr>
        <p:spPr>
          <a:xfrm>
            <a:off x="4389120" y="1371600"/>
            <a:ext cx="3200400" cy="3337560"/>
          </a:xfrm>
          <a:prstGeom prst="roundRect">
            <a:avLst>
              <a:gd name="adj" fmla="val 3429"/>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0" name="Shape 7"/>
          <p:cNvSpPr/>
          <p:nvPr/>
        </p:nvSpPr>
        <p:spPr>
          <a:xfrm>
            <a:off x="4572000" y="1508760"/>
            <a:ext cx="457200" cy="457200"/>
          </a:xfrm>
          <a:prstGeom prst="ellipse">
            <a:avLst/>
          </a:prstGeom>
          <a:solidFill>
            <a:schemeClr val="accent2"/>
          </a:solidFill>
          <a:ln w="6350">
            <a:solidFill>
              <a:schemeClr val="accent2"/>
            </a:solidFill>
            <a:prstDash val="solid"/>
          </a:ln>
        </p:spPr>
      </p:sp>
      <p:sp>
        <p:nvSpPr>
          <p:cNvPr id="11" name="Text 8"/>
          <p:cNvSpPr txBox="1"/>
          <p:nvPr/>
        </p:nvSpPr>
        <p:spPr>
          <a:xfrm>
            <a:off x="4572000" y="1508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5166360" y="150876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Escala sin deformar</a:t>
            </a:r>
            <a:endParaRPr lang="en-US" sz="1800" dirty="0"/>
          </a:p>
        </p:txBody>
      </p:sp>
      <p:sp>
        <p:nvSpPr>
          <p:cNvPr id="13" name="Shape 10"/>
          <p:cNvSpPr/>
          <p:nvPr/>
        </p:nvSpPr>
        <p:spPr>
          <a:xfrm>
            <a:off x="7626096" y="3017520"/>
            <a:ext cx="292608" cy="0"/>
          </a:xfrm>
          <a:prstGeom prst="line">
            <a:avLst/>
          </a:prstGeom>
          <a:noFill/>
          <a:ln w="28575">
            <a:solidFill>
              <a:schemeClr val="accent2"/>
            </a:solidFill>
            <a:prstDash val="solid"/>
            <a:tailEnd type="triangle"/>
          </a:ln>
        </p:spPr>
      </p:sp>
      <p:sp>
        <p:nvSpPr>
          <p:cNvPr id="14" name="Shape 11"/>
          <p:cNvSpPr/>
          <p:nvPr/>
        </p:nvSpPr>
        <p:spPr>
          <a:xfrm>
            <a:off x="7955280" y="1371600"/>
            <a:ext cx="3200400" cy="3337560"/>
          </a:xfrm>
          <a:prstGeom prst="roundRect">
            <a:avLst>
              <a:gd name="adj" fmla="val 3429"/>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5" name="Shape 12"/>
          <p:cNvSpPr/>
          <p:nvPr/>
        </p:nvSpPr>
        <p:spPr>
          <a:xfrm>
            <a:off x="8138160" y="1508760"/>
            <a:ext cx="457200" cy="457200"/>
          </a:xfrm>
          <a:prstGeom prst="ellipse">
            <a:avLst/>
          </a:prstGeom>
          <a:solidFill>
            <a:schemeClr val="accent2"/>
          </a:solidFill>
          <a:ln w="6350">
            <a:solidFill>
              <a:schemeClr val="accent2"/>
            </a:solidFill>
            <a:prstDash val="solid"/>
          </a:ln>
        </p:spPr>
      </p:sp>
      <p:sp>
        <p:nvSpPr>
          <p:cNvPr id="16" name="Text 13"/>
          <p:cNvSpPr txBox="1"/>
          <p:nvPr/>
        </p:nvSpPr>
        <p:spPr>
          <a:xfrm>
            <a:off x="8138160" y="1508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7" name="Text 14"/>
          <p:cNvSpPr txBox="1"/>
          <p:nvPr/>
        </p:nvSpPr>
        <p:spPr>
          <a:xfrm>
            <a:off x="8732520" y="150876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Relleno gris 114</a:t>
            </a:r>
            <a:endParaRPr lang="en-US" sz="1800" dirty="0"/>
          </a:p>
        </p:txBody>
      </p:sp>
      <p:sp>
        <p:nvSpPr>
          <p:cNvPr id="18" name="Shape 15"/>
          <p:cNvSpPr/>
          <p:nvPr/>
        </p:nvSpPr>
        <p:spPr>
          <a:xfrm>
            <a:off x="1325880" y="2423160"/>
            <a:ext cx="2194560" cy="1234440"/>
          </a:xfrm>
          <a:prstGeom prst="rect">
            <a:avLst/>
          </a:prstGeom>
          <a:solidFill>
            <a:schemeClr val="accent3"/>
          </a:solidFill>
          <a:ln w="6350">
            <a:solidFill>
              <a:schemeClr val="accent3"/>
            </a:solidFill>
            <a:prstDash val="solid"/>
          </a:ln>
        </p:spPr>
      </p:sp>
      <p:sp>
        <p:nvSpPr>
          <p:cNvPr id="19" name="Text 16"/>
          <p:cNvSpPr txBox="1"/>
          <p:nvPr/>
        </p:nvSpPr>
        <p:spPr>
          <a:xfrm>
            <a:off x="1325880" y="2423160"/>
            <a:ext cx="2194560" cy="1234440"/>
          </a:xfrm>
          <a:prstGeom prst="rect">
            <a:avLst/>
          </a:prstGeom>
          <a:noFill/>
          <a:ln/>
        </p:spPr>
        <p:txBody>
          <a:bodyPr wrap="square" lIns="0" tIns="0" rIns="0" bIns="0" rtlCol="0" anchor="ctr"/>
          <a:lstStyle/>
          <a:p>
            <a:pPr algn="ctr" indent="0" marL="0">
              <a:buNone/>
            </a:pPr>
            <a:r>
              <a:rPr lang="en-US" sz="1800" b="1" dirty="0">
                <a:solidFill>
                  <a:schemeClr val="bg1"/>
                </a:solidFill>
              </a:rPr>
              <a:t>1280 × 720</a:t>
            </a:r>
            <a:endParaRPr lang="en-US" sz="1800" dirty="0"/>
          </a:p>
        </p:txBody>
      </p:sp>
      <p:sp>
        <p:nvSpPr>
          <p:cNvPr id="20" name="Text 17"/>
          <p:cNvSpPr txBox="1"/>
          <p:nvPr/>
        </p:nvSpPr>
        <p:spPr>
          <a:xfrm>
            <a:off x="1005840" y="4069080"/>
            <a:ext cx="2834640" cy="320040"/>
          </a:xfrm>
          <a:prstGeom prst="rect">
            <a:avLst/>
          </a:prstGeom>
          <a:noFill/>
          <a:ln/>
        </p:spPr>
        <p:txBody>
          <a:bodyPr wrap="square" lIns="0" tIns="0" rIns="0" bIns="0" rtlCol="0" anchor="t"/>
          <a:lstStyle/>
          <a:p>
            <a:pPr algn="ctr" indent="0" marL="0">
              <a:buNone/>
            </a:pPr>
            <a:r>
              <a:rPr lang="en-US" sz="1400" dirty="0">
                <a:solidFill>
                  <a:schemeClr val="tx2"/>
                </a:solidFill>
              </a:rPr>
              <a:t>3 canales · enteros 0 a 255</a:t>
            </a:r>
            <a:endParaRPr lang="en-US" sz="1400" dirty="0"/>
          </a:p>
        </p:txBody>
      </p:sp>
      <p:sp>
        <p:nvSpPr>
          <p:cNvPr id="21" name="Shape 18"/>
          <p:cNvSpPr/>
          <p:nvPr/>
        </p:nvSpPr>
        <p:spPr>
          <a:xfrm>
            <a:off x="5120640" y="2651760"/>
            <a:ext cx="1737360" cy="978408"/>
          </a:xfrm>
          <a:prstGeom prst="rect">
            <a:avLst/>
          </a:prstGeom>
          <a:solidFill>
            <a:schemeClr val="accent3"/>
          </a:solidFill>
          <a:ln w="6350">
            <a:solidFill>
              <a:schemeClr val="accent3"/>
            </a:solidFill>
            <a:prstDash val="solid"/>
          </a:ln>
        </p:spPr>
      </p:sp>
      <p:sp>
        <p:nvSpPr>
          <p:cNvPr id="22" name="Text 19"/>
          <p:cNvSpPr txBox="1"/>
          <p:nvPr/>
        </p:nvSpPr>
        <p:spPr>
          <a:xfrm>
            <a:off x="5120640" y="2651760"/>
            <a:ext cx="1737360" cy="978408"/>
          </a:xfrm>
          <a:prstGeom prst="rect">
            <a:avLst/>
          </a:prstGeom>
          <a:noFill/>
          <a:ln/>
        </p:spPr>
        <p:txBody>
          <a:bodyPr wrap="square" lIns="0" tIns="0" rIns="0" bIns="0" rtlCol="0" anchor="ctr"/>
          <a:lstStyle/>
          <a:p>
            <a:pPr algn="ctr" indent="0" marL="0">
              <a:buNone/>
            </a:pPr>
            <a:r>
              <a:rPr lang="en-US" sz="1600" b="1" dirty="0">
                <a:solidFill>
                  <a:schemeClr val="bg1"/>
                </a:solidFill>
              </a:rPr>
              <a:t>640 × 360</a:t>
            </a:r>
            <a:endParaRPr lang="en-US" sz="1600" dirty="0"/>
          </a:p>
        </p:txBody>
      </p:sp>
      <p:sp>
        <p:nvSpPr>
          <p:cNvPr id="23" name="Text 20"/>
          <p:cNvSpPr txBox="1"/>
          <p:nvPr/>
        </p:nvSpPr>
        <p:spPr>
          <a:xfrm>
            <a:off x="4572000" y="4069080"/>
            <a:ext cx="2834640" cy="320040"/>
          </a:xfrm>
          <a:prstGeom prst="rect">
            <a:avLst/>
          </a:prstGeom>
          <a:noFill/>
          <a:ln/>
        </p:spPr>
        <p:txBody>
          <a:bodyPr wrap="square" lIns="0" tIns="0" rIns="0" bIns="0" rtlCol="0" anchor="t"/>
          <a:lstStyle/>
          <a:p>
            <a:pPr algn="ctr" indent="0" marL="0">
              <a:buNone/>
            </a:pPr>
            <a:r>
              <a:rPr lang="en-US" sz="1400" b="1" dirty="0">
                <a:solidFill>
                  <a:schemeClr val="accent2"/>
                </a:solidFill>
              </a:rPr>
              <a:t>s = min(640/w, 640/h) = 0.5</a:t>
            </a:r>
            <a:endParaRPr lang="en-US" sz="1400" dirty="0"/>
          </a:p>
        </p:txBody>
      </p:sp>
      <p:sp>
        <p:nvSpPr>
          <p:cNvPr id="24" name="Shape 21"/>
          <p:cNvSpPr/>
          <p:nvPr/>
        </p:nvSpPr>
        <p:spPr>
          <a:xfrm>
            <a:off x="8618220" y="2148840"/>
            <a:ext cx="1874520" cy="1874520"/>
          </a:xfrm>
          <a:prstGeom prst="rect">
            <a:avLst/>
          </a:prstGeom>
          <a:solidFill>
            <a:srgbClr val="727272"/>
          </a:solidFill>
          <a:ln w="6350">
            <a:solidFill>
              <a:srgbClr val="727272"/>
            </a:solidFill>
            <a:prstDash val="solid"/>
          </a:ln>
        </p:spPr>
      </p:sp>
      <p:sp>
        <p:nvSpPr>
          <p:cNvPr id="25" name="Shape 22"/>
          <p:cNvSpPr/>
          <p:nvPr/>
        </p:nvSpPr>
        <p:spPr>
          <a:xfrm>
            <a:off x="8618220" y="2558891"/>
            <a:ext cx="1874520" cy="1054418"/>
          </a:xfrm>
          <a:prstGeom prst="rect">
            <a:avLst/>
          </a:prstGeom>
          <a:solidFill>
            <a:schemeClr val="accent3"/>
          </a:solidFill>
          <a:ln w="6350">
            <a:solidFill>
              <a:schemeClr val="accent3"/>
            </a:solidFill>
            <a:prstDash val="solid"/>
          </a:ln>
        </p:spPr>
      </p:sp>
      <p:sp>
        <p:nvSpPr>
          <p:cNvPr id="26" name="Text 23"/>
          <p:cNvSpPr txBox="1"/>
          <p:nvPr/>
        </p:nvSpPr>
        <p:spPr>
          <a:xfrm>
            <a:off x="8618220" y="2903220"/>
            <a:ext cx="1874520" cy="365760"/>
          </a:xfrm>
          <a:prstGeom prst="rect">
            <a:avLst/>
          </a:prstGeom>
          <a:noFill/>
          <a:ln/>
        </p:spPr>
        <p:txBody>
          <a:bodyPr wrap="square" lIns="0" tIns="0" rIns="0" bIns="0" rtlCol="0" anchor="ctr"/>
          <a:lstStyle/>
          <a:p>
            <a:pPr algn="ctr" indent="0" marL="0">
              <a:buNone/>
            </a:pPr>
            <a:r>
              <a:rPr lang="en-US" sz="1400" b="1" dirty="0">
                <a:solidFill>
                  <a:schemeClr val="bg1"/>
                </a:solidFill>
              </a:rPr>
              <a:t>640 × 640</a:t>
            </a:r>
            <a:endParaRPr lang="en-US" sz="1400" dirty="0"/>
          </a:p>
        </p:txBody>
      </p:sp>
      <p:sp>
        <p:nvSpPr>
          <p:cNvPr id="27" name="Text 24"/>
          <p:cNvSpPr txBox="1"/>
          <p:nvPr/>
        </p:nvSpPr>
        <p:spPr>
          <a:xfrm>
            <a:off x="8046720" y="4069080"/>
            <a:ext cx="3017520" cy="320040"/>
          </a:xfrm>
          <a:prstGeom prst="rect">
            <a:avLst/>
          </a:prstGeom>
          <a:noFill/>
          <a:ln/>
        </p:spPr>
        <p:txBody>
          <a:bodyPr wrap="square" lIns="0" tIns="0" rIns="0" bIns="0" rtlCol="0" anchor="t"/>
          <a:lstStyle/>
          <a:p>
            <a:pPr algn="ctr" indent="0" marL="0">
              <a:buNone/>
            </a:pPr>
            <a:r>
              <a:rPr lang="en-US" sz="1400" dirty="0">
                <a:solidFill>
                  <a:schemeClr val="tx2"/>
                </a:solidFill>
              </a:rPr>
              <a:t>140 px de relleno arriba y abajo</a:t>
            </a:r>
            <a:endParaRPr lang="en-US" sz="1400" dirty="0"/>
          </a:p>
        </p:txBody>
      </p:sp>
      <p:sp>
        <p:nvSpPr>
          <p:cNvPr id="28" name="Shape 25"/>
          <p:cNvSpPr/>
          <p:nvPr/>
        </p:nvSpPr>
        <p:spPr>
          <a:xfrm>
            <a:off x="822960" y="4983480"/>
            <a:ext cx="10332720" cy="1097280"/>
          </a:xfrm>
          <a:prstGeom prst="roundRect">
            <a:avLst>
              <a:gd name="adj" fmla="val 8333"/>
            </a:avLst>
          </a:prstGeom>
          <a:solidFill>
            <a:srgbClr val="FFF1DC"/>
          </a:solidFill>
          <a:ln w="15875">
            <a:solidFill>
              <a:schemeClr val="accent5"/>
            </a:solidFill>
            <a:prstDash val="solid"/>
          </a:ln>
        </p:spPr>
      </p:sp>
      <p:sp>
        <p:nvSpPr>
          <p:cNvPr id="29" name="Shape 26"/>
          <p:cNvSpPr/>
          <p:nvPr/>
        </p:nvSpPr>
        <p:spPr>
          <a:xfrm>
            <a:off x="1051560" y="5303520"/>
            <a:ext cx="457200" cy="457200"/>
          </a:xfrm>
          <a:prstGeom prst="ellipse">
            <a:avLst/>
          </a:prstGeom>
          <a:solidFill>
            <a:schemeClr val="accent2"/>
          </a:solidFill>
          <a:ln w="6350">
            <a:solidFill>
              <a:schemeClr val="accent2"/>
            </a:solidFill>
            <a:prstDash val="solid"/>
          </a:ln>
        </p:spPr>
      </p:sp>
      <p:pic>
        <p:nvPicPr>
          <p:cNvPr id="30" name="Image 0" descr="icono">    </p:cNvPr>
          <p:cNvPicPr>
            <a:picLocks noChangeAspect="1"/>
          </p:cNvPicPr>
          <p:nvPr/>
        </p:nvPicPr>
        <p:blipFill>
          <a:blip r:embed="rId1"/>
          <a:stretch>
            <a:fillRect/>
          </a:stretch>
        </p:blipFill>
        <p:spPr>
          <a:xfrm>
            <a:off x="1175004" y="5426964"/>
            <a:ext cx="210312" cy="210312"/>
          </a:xfrm>
          <a:prstGeom prst="rect">
            <a:avLst/>
          </a:prstGeom>
        </p:spPr>
      </p:pic>
      <p:sp>
        <p:nvSpPr>
          <p:cNvPr id="31" name="Text 27"/>
          <p:cNvSpPr txBox="1"/>
          <p:nvPr/>
        </p:nvSpPr>
        <p:spPr>
          <a:xfrm>
            <a:off x="1737360" y="5029200"/>
            <a:ext cx="9235440" cy="1005840"/>
          </a:xfrm>
          <a:prstGeom prst="rect">
            <a:avLst/>
          </a:prstGeom>
          <a:noFill/>
          <a:ln/>
        </p:spPr>
        <p:txBody>
          <a:bodyPr wrap="square" lIns="0" tIns="0" rIns="0" bIns="0" rtlCol="0" anchor="ctr"/>
          <a:lstStyle/>
          <a:p>
            <a:pPr indent="0" marL="0">
              <a:buNone/>
            </a:pPr>
            <a:r>
              <a:rPr lang="en-US" sz="1600" b="1" dirty="0">
                <a:solidFill>
                  <a:schemeClr val="tx1"/>
                </a:solidFill>
              </a:rPr>
              <a:t>En producción el worker redimensiona directo </a:t>
            </a:r>
            <a:pPr indent="0" marL="0">
              <a:buNone/>
            </a:pPr>
            <a:r>
              <a:rPr lang="en-US" sz="1600" dirty="0">
                <a:solidFill>
                  <a:schemeClr val="tx1"/>
                </a:solidFill>
              </a:rPr>
              <a:t>(sx = 0.5, sy ≈ 0.889), sin letterbox. En 13 fotos reales ninguno fue mejor; queda como limitación abierta.</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Preprocesamiento: tensor y escala</a:t>
            </a:r>
            <a:endParaRPr lang="en-US" sz="3000" dirty="0"/>
          </a:p>
        </p:txBody>
      </p:sp>
      <p:sp>
        <p:nvSpPr>
          <p:cNvPr id="4" name="Shape 1"/>
          <p:cNvSpPr/>
          <p:nvPr/>
        </p:nvSpPr>
        <p:spPr>
          <a:xfrm>
            <a:off x="822960" y="1371600"/>
            <a:ext cx="5029200" cy="2286000"/>
          </a:xfrm>
          <a:prstGeom prst="roundRect">
            <a:avLst>
              <a:gd name="adj" fmla="val 48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Shape 2"/>
          <p:cNvSpPr/>
          <p:nvPr/>
        </p:nvSpPr>
        <p:spPr>
          <a:xfrm>
            <a:off x="1005840" y="1508760"/>
            <a:ext cx="457200" cy="457200"/>
          </a:xfrm>
          <a:prstGeom prst="ellipse">
            <a:avLst/>
          </a:prstGeom>
          <a:solidFill>
            <a:schemeClr val="accent2"/>
          </a:solidFill>
          <a:ln w="6350">
            <a:solidFill>
              <a:schemeClr val="accent2"/>
            </a:solidFill>
            <a:prstDash val="solid"/>
          </a:ln>
        </p:spPr>
      </p:sp>
      <p:sp>
        <p:nvSpPr>
          <p:cNvPr id="6" name="Text 3"/>
          <p:cNvSpPr txBox="1"/>
          <p:nvPr/>
        </p:nvSpPr>
        <p:spPr>
          <a:xfrm>
            <a:off x="1005840" y="1508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7" name="Text 4"/>
          <p:cNvSpPr txBox="1"/>
          <p:nvPr/>
        </p:nvSpPr>
        <p:spPr>
          <a:xfrm>
            <a:off x="1600200" y="150876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HWC → CHW + batch</a:t>
            </a:r>
            <a:endParaRPr lang="en-US" sz="1800" dirty="0"/>
          </a:p>
        </p:txBody>
      </p:sp>
      <p:sp>
        <p:nvSpPr>
          <p:cNvPr id="8" name="Shape 5"/>
          <p:cNvSpPr/>
          <p:nvPr/>
        </p:nvSpPr>
        <p:spPr>
          <a:xfrm>
            <a:off x="1609344" y="2386584"/>
            <a:ext cx="1097280" cy="731520"/>
          </a:xfrm>
          <a:prstGeom prst="rect">
            <a:avLst/>
          </a:prstGeom>
          <a:solidFill>
            <a:srgbClr val="C6D9F2"/>
          </a:solidFill>
          <a:ln w="9525">
            <a:solidFill>
              <a:schemeClr val="tx2"/>
            </a:solidFill>
            <a:prstDash val="solid"/>
          </a:ln>
        </p:spPr>
      </p:sp>
      <p:sp>
        <p:nvSpPr>
          <p:cNvPr id="9" name="Text 6"/>
          <p:cNvSpPr txBox="1"/>
          <p:nvPr/>
        </p:nvSpPr>
        <p:spPr>
          <a:xfrm>
            <a:off x="1609344" y="2386584"/>
            <a:ext cx="1097280" cy="731520"/>
          </a:xfrm>
          <a:prstGeom prst="rect">
            <a:avLst/>
          </a:prstGeom>
          <a:noFill/>
          <a:ln/>
        </p:spPr>
        <p:txBody>
          <a:bodyPr wrap="square" lIns="0" tIns="0" rIns="0" bIns="0" rtlCol="0" anchor="ctr"/>
          <a:lstStyle/>
          <a:p>
            <a:pPr algn="ctr" indent="0" marL="0">
              <a:buNone/>
            </a:pPr>
            <a:r>
              <a:rPr lang="en-US" sz="1400" b="1" dirty="0">
                <a:solidFill>
                  <a:schemeClr val="tx1"/>
                </a:solidFill>
              </a:rPr>
              <a:t>B</a:t>
            </a:r>
            <a:endParaRPr lang="en-US" sz="1400" dirty="0"/>
          </a:p>
        </p:txBody>
      </p:sp>
      <p:sp>
        <p:nvSpPr>
          <p:cNvPr id="10" name="Shape 7"/>
          <p:cNvSpPr/>
          <p:nvPr/>
        </p:nvSpPr>
        <p:spPr>
          <a:xfrm>
            <a:off x="1353312" y="2587752"/>
            <a:ext cx="1097280" cy="731520"/>
          </a:xfrm>
          <a:prstGeom prst="rect">
            <a:avLst/>
          </a:prstGeom>
          <a:solidFill>
            <a:srgbClr val="CBE6C2"/>
          </a:solidFill>
          <a:ln w="9525">
            <a:solidFill>
              <a:schemeClr val="tx2"/>
            </a:solidFill>
            <a:prstDash val="solid"/>
          </a:ln>
        </p:spPr>
      </p:sp>
      <p:sp>
        <p:nvSpPr>
          <p:cNvPr id="11" name="Text 8"/>
          <p:cNvSpPr txBox="1"/>
          <p:nvPr/>
        </p:nvSpPr>
        <p:spPr>
          <a:xfrm>
            <a:off x="1353312" y="2587752"/>
            <a:ext cx="1097280" cy="731520"/>
          </a:xfrm>
          <a:prstGeom prst="rect">
            <a:avLst/>
          </a:prstGeom>
          <a:noFill/>
          <a:ln/>
        </p:spPr>
        <p:txBody>
          <a:bodyPr wrap="square" lIns="0" tIns="0" rIns="0" bIns="0" rtlCol="0" anchor="ctr"/>
          <a:lstStyle/>
          <a:p>
            <a:pPr algn="ctr" indent="0" marL="0">
              <a:buNone/>
            </a:pPr>
            <a:r>
              <a:rPr lang="en-US" sz="1400" b="1" dirty="0">
                <a:solidFill>
                  <a:schemeClr val="tx1"/>
                </a:solidFill>
              </a:rPr>
              <a:t>G</a:t>
            </a:r>
            <a:endParaRPr lang="en-US" sz="1400" dirty="0"/>
          </a:p>
        </p:txBody>
      </p:sp>
      <p:sp>
        <p:nvSpPr>
          <p:cNvPr id="12" name="Shape 9"/>
          <p:cNvSpPr/>
          <p:nvPr/>
        </p:nvSpPr>
        <p:spPr>
          <a:xfrm>
            <a:off x="1097280" y="2788920"/>
            <a:ext cx="1097280" cy="731520"/>
          </a:xfrm>
          <a:prstGeom prst="rect">
            <a:avLst/>
          </a:prstGeom>
          <a:solidFill>
            <a:srgbClr val="F6C9C9"/>
          </a:solidFill>
          <a:ln w="9525">
            <a:solidFill>
              <a:schemeClr val="tx2"/>
            </a:solidFill>
            <a:prstDash val="solid"/>
          </a:ln>
        </p:spPr>
      </p:sp>
      <p:sp>
        <p:nvSpPr>
          <p:cNvPr id="13" name="Text 10"/>
          <p:cNvSpPr txBox="1"/>
          <p:nvPr/>
        </p:nvSpPr>
        <p:spPr>
          <a:xfrm>
            <a:off x="1097280" y="2788920"/>
            <a:ext cx="1097280" cy="731520"/>
          </a:xfrm>
          <a:prstGeom prst="rect">
            <a:avLst/>
          </a:prstGeom>
          <a:noFill/>
          <a:ln/>
        </p:spPr>
        <p:txBody>
          <a:bodyPr wrap="square" lIns="0" tIns="0" rIns="0" bIns="0" rtlCol="0" anchor="ctr"/>
          <a:lstStyle/>
          <a:p>
            <a:pPr algn="ctr" indent="0" marL="0">
              <a:buNone/>
            </a:pPr>
            <a:r>
              <a:rPr lang="en-US" sz="1400" b="1" dirty="0">
                <a:solidFill>
                  <a:schemeClr val="tx1"/>
                </a:solidFill>
              </a:rPr>
              <a:t>R</a:t>
            </a:r>
            <a:endParaRPr lang="en-US" sz="1400" dirty="0"/>
          </a:p>
        </p:txBody>
      </p:sp>
      <p:sp>
        <p:nvSpPr>
          <p:cNvPr id="14" name="Text 11"/>
          <p:cNvSpPr txBox="1"/>
          <p:nvPr/>
        </p:nvSpPr>
        <p:spPr>
          <a:xfrm>
            <a:off x="2834640" y="2331720"/>
            <a:ext cx="2926080" cy="548640"/>
          </a:xfrm>
          <a:prstGeom prst="rect">
            <a:avLst/>
          </a:prstGeom>
          <a:noFill/>
          <a:ln/>
        </p:spPr>
        <p:txBody>
          <a:bodyPr wrap="square" lIns="0" tIns="0" rIns="0" bIns="0" rtlCol="0" anchor="ctr"/>
          <a:lstStyle/>
          <a:p>
            <a:pPr indent="0" marL="0">
              <a:buNone/>
            </a:pPr>
            <a:r>
              <a:rPr lang="en-US" sz="2400" b="1" dirty="0">
                <a:solidFill>
                  <a:schemeClr val="accent2"/>
                </a:solidFill>
              </a:rPr>
              <a:t>(1, 3, 640, 640)</a:t>
            </a:r>
            <a:endParaRPr lang="en-US" sz="2400" dirty="0"/>
          </a:p>
        </p:txBody>
      </p:sp>
      <p:sp>
        <p:nvSpPr>
          <p:cNvPr id="15" name="Text 12"/>
          <p:cNvSpPr txBox="1"/>
          <p:nvPr/>
        </p:nvSpPr>
        <p:spPr>
          <a:xfrm>
            <a:off x="2834640" y="2926080"/>
            <a:ext cx="2926080" cy="365760"/>
          </a:xfrm>
          <a:prstGeom prst="rect">
            <a:avLst/>
          </a:prstGeom>
          <a:noFill/>
          <a:ln/>
        </p:spPr>
        <p:txBody>
          <a:bodyPr wrap="square" lIns="0" tIns="0" rIns="0" bIns="0" rtlCol="0" anchor="t"/>
          <a:lstStyle/>
          <a:p>
            <a:pPr indent="0" marL="0">
              <a:buNone/>
            </a:pPr>
            <a:r>
              <a:rPr lang="en-US" sz="1300" dirty="0">
                <a:solidFill>
                  <a:schemeClr val="tx2"/>
                </a:solidFill>
              </a:rPr>
              <a:t>lote · canales · alto · ancho</a:t>
            </a:r>
            <a:endParaRPr lang="en-US" sz="1300" dirty="0"/>
          </a:p>
        </p:txBody>
      </p:sp>
      <p:sp>
        <p:nvSpPr>
          <p:cNvPr id="16" name="Shape 13"/>
          <p:cNvSpPr/>
          <p:nvPr/>
        </p:nvSpPr>
        <p:spPr>
          <a:xfrm>
            <a:off x="6126480" y="1371600"/>
            <a:ext cx="5029200" cy="2286000"/>
          </a:xfrm>
          <a:prstGeom prst="roundRect">
            <a:avLst>
              <a:gd name="adj" fmla="val 48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7" name="Shape 14"/>
          <p:cNvSpPr/>
          <p:nvPr/>
        </p:nvSpPr>
        <p:spPr>
          <a:xfrm>
            <a:off x="6309360" y="1508760"/>
            <a:ext cx="457200" cy="457200"/>
          </a:xfrm>
          <a:prstGeom prst="ellipse">
            <a:avLst/>
          </a:prstGeom>
          <a:solidFill>
            <a:schemeClr val="accent2"/>
          </a:solidFill>
          <a:ln w="6350">
            <a:solidFill>
              <a:schemeClr val="accent2"/>
            </a:solidFill>
            <a:prstDash val="solid"/>
          </a:ln>
        </p:spPr>
      </p:sp>
      <p:sp>
        <p:nvSpPr>
          <p:cNvPr id="18" name="Text 15"/>
          <p:cNvSpPr txBox="1"/>
          <p:nvPr/>
        </p:nvSpPr>
        <p:spPr>
          <a:xfrm>
            <a:off x="6309360" y="1508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9" name="Text 16"/>
          <p:cNvSpPr txBox="1"/>
          <p:nvPr/>
        </p:nvSpPr>
        <p:spPr>
          <a:xfrm>
            <a:off x="6903720" y="150876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Normalización</a:t>
            </a:r>
            <a:endParaRPr lang="en-US" sz="1800" dirty="0"/>
          </a:p>
        </p:txBody>
      </p:sp>
      <p:sp>
        <p:nvSpPr>
          <p:cNvPr id="20" name="Text 17"/>
          <p:cNvSpPr txBox="1"/>
          <p:nvPr/>
        </p:nvSpPr>
        <p:spPr>
          <a:xfrm>
            <a:off x="6126480" y="2194560"/>
            <a:ext cx="5029200" cy="731520"/>
          </a:xfrm>
          <a:prstGeom prst="rect">
            <a:avLst/>
          </a:prstGeom>
          <a:noFill/>
          <a:ln/>
        </p:spPr>
        <p:txBody>
          <a:bodyPr wrap="square" lIns="0" tIns="0" rIns="0" bIns="0" rtlCol="0" anchor="ctr"/>
          <a:lstStyle/>
          <a:p>
            <a:pPr algn="ctr" indent="0" marL="0">
              <a:buNone/>
            </a:pPr>
            <a:r>
              <a:rPr lang="en-US" sz="4000" b="1" dirty="0">
                <a:solidFill>
                  <a:schemeClr val="accent2"/>
                </a:solidFill>
              </a:rPr>
              <a:t>x′ = x / 255</a:t>
            </a:r>
            <a:endParaRPr lang="en-US" sz="4000" dirty="0"/>
          </a:p>
        </p:txBody>
      </p:sp>
      <p:sp>
        <p:nvSpPr>
          <p:cNvPr id="21" name="Text 18"/>
          <p:cNvSpPr txBox="1"/>
          <p:nvPr/>
        </p:nvSpPr>
        <p:spPr>
          <a:xfrm>
            <a:off x="6126480" y="3017520"/>
            <a:ext cx="5029200" cy="365760"/>
          </a:xfrm>
          <a:prstGeom prst="rect">
            <a:avLst/>
          </a:prstGeom>
          <a:noFill/>
          <a:ln/>
        </p:spPr>
        <p:txBody>
          <a:bodyPr wrap="square" lIns="0" tIns="0" rIns="0" bIns="0" rtlCol="0" anchor="t"/>
          <a:lstStyle/>
          <a:p>
            <a:pPr algn="ctr" indent="0" marL="0">
              <a:buNone/>
            </a:pPr>
            <a:r>
              <a:rPr lang="en-US" sz="1600" dirty="0">
                <a:solidFill>
                  <a:schemeClr val="tx2"/>
                </a:solidFill>
              </a:rPr>
              <a:t>[0, 255] → [0, 1]</a:t>
            </a:r>
            <a:endParaRPr lang="en-US" sz="1600" dirty="0"/>
          </a:p>
        </p:txBody>
      </p:sp>
      <p:sp>
        <p:nvSpPr>
          <p:cNvPr id="22" name="Shape 19"/>
          <p:cNvSpPr/>
          <p:nvPr/>
        </p:nvSpPr>
        <p:spPr>
          <a:xfrm>
            <a:off x="822960" y="3931920"/>
            <a:ext cx="5029200" cy="2103120"/>
          </a:xfrm>
          <a:prstGeom prst="roundRect">
            <a:avLst>
              <a:gd name="adj" fmla="val 5217"/>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1097280" y="4114800"/>
            <a:ext cx="4480560" cy="411480"/>
          </a:xfrm>
          <a:prstGeom prst="rect">
            <a:avLst/>
          </a:prstGeom>
          <a:noFill/>
          <a:ln/>
        </p:spPr>
        <p:txBody>
          <a:bodyPr wrap="square" lIns="0" tIns="0" rIns="0" bIns="0" rtlCol="0" anchor="t"/>
          <a:lstStyle/>
          <a:p>
            <a:pPr indent="0" marL="0">
              <a:buNone/>
            </a:pPr>
            <a:r>
              <a:rPr lang="en-US" sz="1800" b="1" dirty="0">
                <a:solidFill>
                  <a:schemeClr val="tx1"/>
                </a:solidFill>
              </a:rPr>
              <a:t>¿Por qué no se resta media/std?</a:t>
            </a:r>
            <a:endParaRPr lang="en-US" sz="1800" dirty="0"/>
          </a:p>
        </p:txBody>
      </p:sp>
      <p:sp>
        <p:nvSpPr>
          <p:cNvPr id="24" name="Text 21"/>
          <p:cNvSpPr txBox="1"/>
          <p:nvPr/>
        </p:nvSpPr>
        <p:spPr>
          <a:xfrm>
            <a:off x="1097280" y="4617720"/>
            <a:ext cx="4480560" cy="1280160"/>
          </a:xfrm>
          <a:prstGeom prst="rect">
            <a:avLst/>
          </a:prstGeom>
          <a:noFill/>
          <a:ln/>
        </p:spPr>
        <p:txBody>
          <a:bodyPr wrap="square" lIns="0" tIns="0" rIns="0" bIns="0" rtlCol="0" anchor="t"/>
          <a:lstStyle/>
          <a:p>
            <a:pPr indent="0" marL="0">
              <a:buNone/>
            </a:pPr>
            <a:r>
              <a:rPr lang="en-US" sz="1600" dirty="0">
                <a:solidFill>
                  <a:schemeClr val="tx2"/>
                </a:solidFill>
              </a:rPr>
              <a:t>La primera capa de BatchNorm ya recentra y reescala la entrada. Es la normalización estándar de Ultralytics.</a:t>
            </a:r>
            <a:endParaRPr lang="en-US" sz="1600" dirty="0"/>
          </a:p>
        </p:txBody>
      </p:sp>
      <p:sp>
        <p:nvSpPr>
          <p:cNvPr id="25" name="Shape 22"/>
          <p:cNvSpPr/>
          <p:nvPr/>
        </p:nvSpPr>
        <p:spPr>
          <a:xfrm>
            <a:off x="6126480" y="3931920"/>
            <a:ext cx="5029200" cy="2103120"/>
          </a:xfrm>
          <a:prstGeom prst="roundRect">
            <a:avLst>
              <a:gd name="adj" fmla="val 5217"/>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6" name="Text 23"/>
          <p:cNvSpPr txBox="1"/>
          <p:nvPr/>
        </p:nvSpPr>
        <p:spPr>
          <a:xfrm>
            <a:off x="6400800" y="4114800"/>
            <a:ext cx="4480560" cy="411480"/>
          </a:xfrm>
          <a:prstGeom prst="rect">
            <a:avLst/>
          </a:prstGeom>
          <a:noFill/>
          <a:ln/>
        </p:spPr>
        <p:txBody>
          <a:bodyPr wrap="square" lIns="0" tIns="0" rIns="0" bIns="0" rtlCol="0" anchor="t"/>
          <a:lstStyle/>
          <a:p>
            <a:pPr indent="0" marL="0">
              <a:buNone/>
            </a:pPr>
            <a:r>
              <a:rPr lang="en-US" sz="1800" b="1" dirty="0">
                <a:solidFill>
                  <a:schemeClr val="tx1"/>
                </a:solidFill>
              </a:rPr>
              <a:t>¿Por qué 640?</a:t>
            </a:r>
            <a:endParaRPr lang="en-US" sz="1800" dirty="0"/>
          </a:p>
        </p:txBody>
      </p:sp>
      <p:sp>
        <p:nvSpPr>
          <p:cNvPr id="27" name="Text 24"/>
          <p:cNvSpPr txBox="1"/>
          <p:nvPr/>
        </p:nvSpPr>
        <p:spPr>
          <a:xfrm>
            <a:off x="6400800" y="4572000"/>
            <a:ext cx="4480560" cy="1371600"/>
          </a:xfrm>
          <a:prstGeom prst="rect">
            <a:avLst/>
          </a:prstGeom>
          <a:noFill/>
          <a:ln/>
        </p:spPr>
        <p:txBody>
          <a:bodyPr wrap="square" lIns="0" tIns="0" rIns="0" bIns="0" rtlCol="0" anchor="t"/>
          <a:lstStyle/>
          <a:p>
            <a:pPr indent="0" marL="0">
              <a:spcAft>
                <a:spcPts val="400"/>
              </a:spcAft>
              <a:buNone/>
            </a:pPr>
            <a:r>
              <a:rPr lang="en-US" sz="2400" b="1" dirty="0">
                <a:solidFill>
                  <a:schemeClr val="accent2"/>
                </a:solidFill>
              </a:rPr>
              <a:t>640 = 32 × 20</a:t>
            </a:r>
            <a:endParaRPr lang="en-US" sz="1600" dirty="0"/>
          </a:p>
          <a:p>
            <a:pPr indent="0" marL="0">
              <a:spcAft>
                <a:spcPts val="400"/>
              </a:spcAft>
              <a:buNone/>
            </a:pPr>
            <a:r>
              <a:rPr lang="en-US" sz="1600" dirty="0">
                <a:solidFill>
                  <a:schemeClr val="tx2"/>
                </a:solidFill>
              </a:rPr>
              <a:t>El backbone reduce 5 veces por 2 (2⁵ = 32), y es el tamaño de preentrenamiento.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De la salida cruda a las cajas</a:t>
            </a:r>
            <a:endParaRPr lang="en-US" sz="3000" dirty="0"/>
          </a:p>
        </p:txBody>
      </p:sp>
      <p:sp>
        <p:nvSpPr>
          <p:cNvPr id="4" name="Shape 1"/>
          <p:cNvSpPr/>
          <p:nvPr/>
        </p:nvSpPr>
        <p:spPr>
          <a:xfrm>
            <a:off x="822960" y="1463040"/>
            <a:ext cx="6035040" cy="1143000"/>
          </a:xfrm>
          <a:prstGeom prst="roundRect">
            <a:avLst>
              <a:gd name="adj" fmla="val 8000"/>
            </a:avLst>
          </a:prstGeom>
          <a:solidFill>
            <a:schemeClr val="accent4"/>
          </a:solidFill>
          <a:ln w="6350">
            <a:solidFill>
              <a:schemeClr val="accent4"/>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822960" y="1463040"/>
            <a:ext cx="6035040" cy="1143000"/>
          </a:xfrm>
          <a:prstGeom prst="rect">
            <a:avLst/>
          </a:prstGeom>
          <a:noFill/>
          <a:ln/>
        </p:spPr>
        <p:txBody>
          <a:bodyPr wrap="square" lIns="0" tIns="0" rIns="0" bIns="0" rtlCol="0" anchor="ctr"/>
          <a:lstStyle/>
          <a:p>
            <a:pPr algn="ctr" indent="0" marL="0">
              <a:buNone/>
            </a:pPr>
            <a:r>
              <a:rPr lang="en-US" sz="1800" b="1" dirty="0">
                <a:solidFill>
                  <a:schemeClr val="bg1"/>
                </a:solidFill>
              </a:rPr>
              <a:t>8 400 candidatas</a:t>
            </a:r>
            <a:endParaRPr lang="en-US" sz="1400" dirty="0"/>
          </a:p>
          <a:p>
            <a:pPr algn="ctr" indent="0" marL="0">
              <a:buNone/>
            </a:pPr>
            <a:r>
              <a:rPr lang="en-US" sz="1400" dirty="0">
                <a:solidFill>
                  <a:schemeClr val="bg1"/>
                </a:solidFill>
              </a:rPr>
              <a:t>tensor (1, 4 + 6, 8400)</a:t>
            </a:r>
            <a:endParaRPr lang="en-US" sz="1400" dirty="0"/>
          </a:p>
        </p:txBody>
      </p:sp>
      <p:sp>
        <p:nvSpPr>
          <p:cNvPr id="6" name="Shape 3"/>
          <p:cNvSpPr/>
          <p:nvPr/>
        </p:nvSpPr>
        <p:spPr>
          <a:xfrm>
            <a:off x="3840480" y="2624328"/>
            <a:ext cx="0" cy="182880"/>
          </a:xfrm>
          <a:prstGeom prst="line">
            <a:avLst/>
          </a:prstGeom>
          <a:noFill/>
          <a:ln w="28575">
            <a:solidFill>
              <a:schemeClr val="accent2"/>
            </a:solidFill>
            <a:prstDash val="solid"/>
            <a:tailEnd type="triangle"/>
          </a:ln>
        </p:spPr>
      </p:sp>
      <p:sp>
        <p:nvSpPr>
          <p:cNvPr id="7" name="Shape 4"/>
          <p:cNvSpPr/>
          <p:nvPr/>
        </p:nvSpPr>
        <p:spPr>
          <a:xfrm>
            <a:off x="1554480" y="2834640"/>
            <a:ext cx="4572000" cy="1143000"/>
          </a:xfrm>
          <a:prstGeom prst="roundRect">
            <a:avLst>
              <a:gd name="adj" fmla="val 8000"/>
            </a:avLst>
          </a:prstGeom>
          <a:solidFill>
            <a:schemeClr val="accent3"/>
          </a:solidFill>
          <a:ln w="6350">
            <a:solidFill>
              <a:schemeClr val="accent3"/>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1554480" y="2834640"/>
            <a:ext cx="4572000" cy="1143000"/>
          </a:xfrm>
          <a:prstGeom prst="rect">
            <a:avLst/>
          </a:prstGeom>
          <a:noFill/>
          <a:ln/>
        </p:spPr>
        <p:txBody>
          <a:bodyPr wrap="square" lIns="0" tIns="0" rIns="0" bIns="0" rtlCol="0" anchor="ctr"/>
          <a:lstStyle/>
          <a:p>
            <a:pPr algn="ctr" indent="0" marL="0">
              <a:buNone/>
            </a:pPr>
            <a:r>
              <a:rPr lang="en-US" sz="1800" b="1" dirty="0">
                <a:solidFill>
                  <a:schemeClr val="bg1"/>
                </a:solidFill>
              </a:rPr>
              <a:t>Umbral de confianza 0.25</a:t>
            </a:r>
            <a:endParaRPr lang="en-US" sz="1400" dirty="0"/>
          </a:p>
          <a:p>
            <a:pPr algn="ctr" indent="0" marL="0">
              <a:buNone/>
            </a:pPr>
            <a:r>
              <a:rPr lang="en-US" sz="1400" dirty="0">
                <a:solidFill>
                  <a:schemeClr val="bg1"/>
                </a:solidFill>
              </a:rPr>
              <a:t>quedan decenas o menos</a:t>
            </a:r>
            <a:endParaRPr lang="en-US" sz="1400" dirty="0"/>
          </a:p>
        </p:txBody>
      </p:sp>
      <p:sp>
        <p:nvSpPr>
          <p:cNvPr id="9" name="Shape 6"/>
          <p:cNvSpPr/>
          <p:nvPr/>
        </p:nvSpPr>
        <p:spPr>
          <a:xfrm>
            <a:off x="3840480" y="3995928"/>
            <a:ext cx="0" cy="182880"/>
          </a:xfrm>
          <a:prstGeom prst="line">
            <a:avLst/>
          </a:prstGeom>
          <a:noFill/>
          <a:ln w="28575">
            <a:solidFill>
              <a:schemeClr val="accent2"/>
            </a:solidFill>
            <a:prstDash val="solid"/>
            <a:tailEnd type="triangle"/>
          </a:ln>
        </p:spPr>
      </p:sp>
      <p:sp>
        <p:nvSpPr>
          <p:cNvPr id="10" name="Shape 7"/>
          <p:cNvSpPr/>
          <p:nvPr/>
        </p:nvSpPr>
        <p:spPr>
          <a:xfrm>
            <a:off x="2286000" y="4206240"/>
            <a:ext cx="3108960" cy="1143000"/>
          </a:xfrm>
          <a:prstGeom prst="roundRect">
            <a:avLst>
              <a:gd name="adj" fmla="val 8000"/>
            </a:avLst>
          </a:prstGeom>
          <a:solidFill>
            <a:schemeClr val="accent2"/>
          </a:solidFill>
          <a:ln w="6350">
            <a:solidFill>
              <a:schemeClr val="accent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2286000" y="4206240"/>
            <a:ext cx="3108960" cy="1143000"/>
          </a:xfrm>
          <a:prstGeom prst="rect">
            <a:avLst/>
          </a:prstGeom>
          <a:noFill/>
          <a:ln/>
        </p:spPr>
        <p:txBody>
          <a:bodyPr wrap="square" lIns="0" tIns="0" rIns="0" bIns="0" rtlCol="0" anchor="ctr"/>
          <a:lstStyle/>
          <a:p>
            <a:pPr algn="ctr" indent="0" marL="0">
              <a:buNone/>
            </a:pPr>
            <a:r>
              <a:rPr lang="en-US" sz="1800" b="1" dirty="0">
                <a:solidFill>
                  <a:schemeClr val="bg1"/>
                </a:solidFill>
              </a:rPr>
              <a:t>NMS · IoU &gt; 0.45</a:t>
            </a:r>
            <a:endParaRPr lang="en-US" sz="1400" dirty="0"/>
          </a:p>
          <a:p>
            <a:pPr algn="ctr" indent="0" marL="0">
              <a:buNone/>
            </a:pPr>
            <a:r>
              <a:rPr lang="en-US" sz="1400" dirty="0">
                <a:solidFill>
                  <a:schemeClr val="bg1"/>
                </a:solidFill>
              </a:rPr>
              <a:t>una caja por defecto</a:t>
            </a:r>
            <a:endParaRPr lang="en-US" sz="1400" dirty="0"/>
          </a:p>
        </p:txBody>
      </p:sp>
      <p:sp>
        <p:nvSpPr>
          <p:cNvPr id="12" name="Shape 9"/>
          <p:cNvSpPr/>
          <p:nvPr/>
        </p:nvSpPr>
        <p:spPr>
          <a:xfrm>
            <a:off x="822960" y="5486400"/>
            <a:ext cx="6035040" cy="548640"/>
          </a:xfrm>
          <a:prstGeom prst="roundRect">
            <a:avLst>
              <a:gd name="adj" fmla="val 16667"/>
            </a:avLst>
          </a:prstGeom>
          <a:solidFill>
            <a:schemeClr val="bg2"/>
          </a:solidFill>
          <a:ln w="9525">
            <a:solidFill>
              <a:schemeClr val="accent1"/>
            </a:solidFill>
            <a:prstDash val="solid"/>
          </a:ln>
        </p:spPr>
      </p:sp>
      <p:sp>
        <p:nvSpPr>
          <p:cNvPr id="13" name="Text 10"/>
          <p:cNvSpPr txBox="1"/>
          <p:nvPr/>
        </p:nvSpPr>
        <p:spPr>
          <a:xfrm>
            <a:off x="1005840" y="5486400"/>
            <a:ext cx="5760720" cy="548640"/>
          </a:xfrm>
          <a:prstGeom prst="rect">
            <a:avLst/>
          </a:prstGeom>
          <a:noFill/>
          <a:ln/>
        </p:spPr>
        <p:txBody>
          <a:bodyPr wrap="square" lIns="0" tIns="0" rIns="0" bIns="0" rtlCol="0" anchor="ctr"/>
          <a:lstStyle/>
          <a:p>
            <a:pPr indent="0" marL="0">
              <a:buNone/>
            </a:pPr>
            <a:r>
              <a:rPr lang="en-US" sz="1400" dirty="0">
                <a:solidFill>
                  <a:schemeClr val="tx1"/>
                </a:solidFill>
              </a:rPr>
              <a:t>NMS agnóstico a la clase: dos clases no sobreviven sobre el mismo objeto.</a:t>
            </a:r>
            <a:endParaRPr lang="en-US" sz="1400" dirty="0"/>
          </a:p>
        </p:txBody>
      </p:sp>
      <p:sp>
        <p:nvSpPr>
          <p:cNvPr id="14" name="Shape 11"/>
          <p:cNvSpPr/>
          <p:nvPr/>
        </p:nvSpPr>
        <p:spPr>
          <a:xfrm>
            <a:off x="7223760" y="1463040"/>
            <a:ext cx="3931920" cy="4572000"/>
          </a:xfrm>
          <a:prstGeom prst="roundRect">
            <a:avLst>
              <a:gd name="adj" fmla="val 2791"/>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5" name="Text 12"/>
          <p:cNvSpPr txBox="1"/>
          <p:nvPr/>
        </p:nvSpPr>
        <p:spPr>
          <a:xfrm>
            <a:off x="7498080" y="1645920"/>
            <a:ext cx="3383280" cy="365760"/>
          </a:xfrm>
          <a:prstGeom prst="rect">
            <a:avLst/>
          </a:prstGeom>
          <a:noFill/>
          <a:ln/>
        </p:spPr>
        <p:txBody>
          <a:bodyPr wrap="square" lIns="0" tIns="0" rIns="0" bIns="0" rtlCol="0" anchor="t"/>
          <a:lstStyle/>
          <a:p>
            <a:pPr indent="0" marL="0">
              <a:buNone/>
            </a:pPr>
            <a:r>
              <a:rPr lang="en-US" sz="1800" b="1" dirty="0">
                <a:solidFill>
                  <a:schemeClr val="tx1"/>
                </a:solidFill>
              </a:rPr>
              <a:t>Ejemplo de NMS</a:t>
            </a:r>
            <a:endParaRPr lang="en-US" sz="1800" dirty="0"/>
          </a:p>
        </p:txBody>
      </p:sp>
      <p:sp>
        <p:nvSpPr>
          <p:cNvPr id="16" name="Shape 13"/>
          <p:cNvSpPr/>
          <p:nvPr/>
        </p:nvSpPr>
        <p:spPr>
          <a:xfrm>
            <a:off x="7680960" y="2377440"/>
            <a:ext cx="1188720" cy="914400"/>
          </a:xfrm>
          <a:prstGeom prst="rect">
            <a:avLst/>
          </a:prstGeom>
          <a:ln w="19050">
            <a:solidFill>
              <a:schemeClr val="tx2"/>
            </a:solidFill>
            <a:prstDash val="dash"/>
          </a:ln>
        </p:spPr>
      </p:sp>
      <p:sp>
        <p:nvSpPr>
          <p:cNvPr id="17" name="Shape 14"/>
          <p:cNvSpPr/>
          <p:nvPr/>
        </p:nvSpPr>
        <p:spPr>
          <a:xfrm>
            <a:off x="7909560" y="2560320"/>
            <a:ext cx="1188720" cy="914400"/>
          </a:xfrm>
          <a:prstGeom prst="rect">
            <a:avLst/>
          </a:prstGeom>
          <a:ln w="19050">
            <a:solidFill>
              <a:schemeClr val="tx2"/>
            </a:solidFill>
            <a:prstDash val="dash"/>
          </a:ln>
        </p:spPr>
      </p:sp>
      <p:sp>
        <p:nvSpPr>
          <p:cNvPr id="18" name="Shape 15"/>
          <p:cNvSpPr/>
          <p:nvPr/>
        </p:nvSpPr>
        <p:spPr>
          <a:xfrm>
            <a:off x="8138160" y="2743200"/>
            <a:ext cx="1188720" cy="914400"/>
          </a:xfrm>
          <a:prstGeom prst="rect">
            <a:avLst/>
          </a:prstGeom>
          <a:ln w="19050">
            <a:solidFill>
              <a:schemeClr val="tx2"/>
            </a:solidFill>
            <a:prstDash val="dash"/>
          </a:ln>
        </p:spPr>
      </p:sp>
      <p:sp>
        <p:nvSpPr>
          <p:cNvPr id="19" name="Text 16"/>
          <p:cNvSpPr txBox="1"/>
          <p:nvPr/>
        </p:nvSpPr>
        <p:spPr>
          <a:xfrm>
            <a:off x="7498080" y="3703320"/>
            <a:ext cx="1828800" cy="320040"/>
          </a:xfrm>
          <a:prstGeom prst="rect">
            <a:avLst/>
          </a:prstGeom>
          <a:noFill/>
          <a:ln/>
        </p:spPr>
        <p:txBody>
          <a:bodyPr wrap="square" lIns="0" tIns="0" rIns="0" bIns="0" rtlCol="0" anchor="t"/>
          <a:lstStyle/>
          <a:p>
            <a:pPr algn="ctr" indent="0" marL="0">
              <a:buNone/>
            </a:pPr>
            <a:r>
              <a:rPr lang="en-US" sz="1200" dirty="0">
                <a:solidFill>
                  <a:schemeClr val="tx2"/>
                </a:solidFill>
              </a:rPr>
              <a:t>0.91 · 0.85 · 0.78</a:t>
            </a:r>
            <a:endParaRPr lang="en-US" sz="1200" dirty="0"/>
          </a:p>
        </p:txBody>
      </p:sp>
      <p:sp>
        <p:nvSpPr>
          <p:cNvPr id="20" name="Shape 17"/>
          <p:cNvSpPr/>
          <p:nvPr/>
        </p:nvSpPr>
        <p:spPr>
          <a:xfrm>
            <a:off x="9464040" y="3108960"/>
            <a:ext cx="457200" cy="0"/>
          </a:xfrm>
          <a:prstGeom prst="line">
            <a:avLst/>
          </a:prstGeom>
          <a:noFill/>
          <a:ln w="28575">
            <a:solidFill>
              <a:schemeClr val="accent2"/>
            </a:solidFill>
            <a:prstDash val="solid"/>
            <a:tailEnd type="triangle"/>
          </a:ln>
        </p:spPr>
      </p:sp>
      <p:sp>
        <p:nvSpPr>
          <p:cNvPr id="21" name="Shape 18"/>
          <p:cNvSpPr/>
          <p:nvPr/>
        </p:nvSpPr>
        <p:spPr>
          <a:xfrm>
            <a:off x="10058400" y="2560320"/>
            <a:ext cx="914400" cy="914400"/>
          </a:xfrm>
          <a:prstGeom prst="rect">
            <a:avLst/>
          </a:prstGeom>
          <a:ln w="31750">
            <a:solidFill>
              <a:schemeClr val="accent5"/>
            </a:solidFill>
            <a:prstDash val="solid"/>
          </a:ln>
        </p:spPr>
      </p:sp>
      <p:sp>
        <p:nvSpPr>
          <p:cNvPr id="22" name="Text 19"/>
          <p:cNvSpPr txBox="1"/>
          <p:nvPr/>
        </p:nvSpPr>
        <p:spPr>
          <a:xfrm>
            <a:off x="10058400" y="2560320"/>
            <a:ext cx="914400" cy="914400"/>
          </a:xfrm>
          <a:prstGeom prst="rect">
            <a:avLst/>
          </a:prstGeom>
          <a:noFill/>
          <a:ln/>
        </p:spPr>
        <p:txBody>
          <a:bodyPr wrap="square" lIns="0" tIns="0" rIns="0" bIns="0" rtlCol="0" anchor="ctr"/>
          <a:lstStyle/>
          <a:p>
            <a:pPr algn="ctr" indent="0" marL="0">
              <a:buNone/>
            </a:pPr>
            <a:r>
              <a:rPr lang="en-US" sz="1400" b="1" dirty="0">
                <a:solidFill>
                  <a:schemeClr val="accent5"/>
                </a:solidFill>
              </a:rPr>
              <a:t>0.91</a:t>
            </a:r>
            <a:endParaRPr lang="en-US" sz="1400" dirty="0"/>
          </a:p>
        </p:txBody>
      </p:sp>
      <p:sp>
        <p:nvSpPr>
          <p:cNvPr id="23" name="Text 20"/>
          <p:cNvSpPr txBox="1"/>
          <p:nvPr/>
        </p:nvSpPr>
        <p:spPr>
          <a:xfrm>
            <a:off x="7498080" y="4297680"/>
            <a:ext cx="3383280" cy="1554480"/>
          </a:xfrm>
          <a:prstGeom prst="rect">
            <a:avLst/>
          </a:prstGeom>
          <a:noFill/>
          <a:ln/>
        </p:spPr>
        <p:txBody>
          <a:bodyPr wrap="square" lIns="0" tIns="0" rIns="0" bIns="0" rtlCol="0" anchor="t"/>
          <a:lstStyle/>
          <a:p>
            <a:pPr indent="0" marL="0">
              <a:buNone/>
            </a:pPr>
            <a:r>
              <a:rPr lang="en-US" sz="1600" dirty="0">
                <a:solidFill>
                  <a:schemeClr val="tx2"/>
                </a:solidFill>
              </a:rPr>
              <a:t>Sin NMS: 3 cajas casi iguales para un solo defecto. Con NMS: la de mayor confianza.</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Dataset: 5 613 imágenes</a:t>
            </a:r>
            <a:endParaRPr lang="en-US" sz="3000" dirty="0"/>
          </a:p>
        </p:txBody>
      </p:sp>
      <p:graphicFrame>
        <p:nvGraphicFramePr>
          <p:cNvPr id="4" name="Chart 0" descr=""/>
          <p:cNvGraphicFramePr/>
          <p:nvPr/>
        </p:nvGraphicFramePr>
        <p:xfrm>
          <a:off x="731520" y="137160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7406640" y="1371600"/>
            <a:ext cx="3657600" cy="365760"/>
          </a:xfrm>
          <a:prstGeom prst="rect">
            <a:avLst/>
          </a:prstGeom>
          <a:noFill/>
          <a:ln/>
        </p:spPr>
        <p:txBody>
          <a:bodyPr wrap="square" lIns="0" tIns="0" rIns="0" bIns="0" rtlCol="0" anchor="t"/>
          <a:lstStyle/>
          <a:p>
            <a:pPr indent="0" marL="0">
              <a:buNone/>
            </a:pPr>
            <a:r>
              <a:rPr lang="en-US" sz="1800" b="1" dirty="0">
                <a:solidFill>
                  <a:schemeClr val="tx1"/>
                </a:solidFill>
              </a:rPr>
              <a:t>Fuentes (Roboflow Universe)</a:t>
            </a:r>
            <a:endParaRPr lang="en-US" sz="1800" dirty="0"/>
          </a:p>
        </p:txBody>
      </p:sp>
      <p:sp>
        <p:nvSpPr>
          <p:cNvPr id="6" name="Shape 2"/>
          <p:cNvSpPr/>
          <p:nvPr/>
        </p:nvSpPr>
        <p:spPr>
          <a:xfrm>
            <a:off x="7406640" y="1874520"/>
            <a:ext cx="3749040" cy="1188720"/>
          </a:xfrm>
          <a:prstGeom prst="roundRect">
            <a:avLst>
              <a:gd name="adj" fmla="val 9231"/>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7" name="Text 3"/>
          <p:cNvSpPr txBox="1"/>
          <p:nvPr/>
        </p:nvSpPr>
        <p:spPr>
          <a:xfrm>
            <a:off x="7589520" y="1874520"/>
            <a:ext cx="1554480" cy="1188720"/>
          </a:xfrm>
          <a:prstGeom prst="rect">
            <a:avLst/>
          </a:prstGeom>
          <a:noFill/>
          <a:ln/>
        </p:spPr>
        <p:txBody>
          <a:bodyPr wrap="square" lIns="0" tIns="0" rIns="0" bIns="0" rtlCol="0" anchor="ctr"/>
          <a:lstStyle/>
          <a:p>
            <a:pPr indent="0" marL="0">
              <a:buNone/>
            </a:pPr>
            <a:r>
              <a:rPr lang="en-US" sz="3400" b="1" dirty="0">
                <a:solidFill>
                  <a:schemeClr val="accent2"/>
                </a:solidFill>
              </a:rPr>
              <a:t>3 612</a:t>
            </a:r>
            <a:endParaRPr lang="en-US" sz="3400" dirty="0"/>
          </a:p>
        </p:txBody>
      </p:sp>
      <p:sp>
        <p:nvSpPr>
          <p:cNvPr id="8" name="Text 4"/>
          <p:cNvSpPr txBox="1"/>
          <p:nvPr/>
        </p:nvSpPr>
        <p:spPr>
          <a:xfrm>
            <a:off x="9144000" y="1874520"/>
            <a:ext cx="1920240" cy="1188720"/>
          </a:xfrm>
          <a:prstGeom prst="rect">
            <a:avLst/>
          </a:prstGeom>
          <a:noFill/>
          <a:ln/>
        </p:spPr>
        <p:txBody>
          <a:bodyPr wrap="square" lIns="0" tIns="0" rIns="0" bIns="0" rtlCol="0" anchor="ctr"/>
          <a:lstStyle/>
          <a:p>
            <a:pPr indent="0" marL="0">
              <a:buNone/>
            </a:pPr>
            <a:r>
              <a:rPr lang="en-US" sz="1600" dirty="0">
                <a:solidFill>
                  <a:schemeClr val="tx2"/>
                </a:solidFill>
              </a:rPr>
              <a:t>3D PRINT DEFECT DETECTION</a:t>
            </a:r>
            <a:endParaRPr lang="en-US" sz="1600" dirty="0"/>
          </a:p>
        </p:txBody>
      </p:sp>
      <p:sp>
        <p:nvSpPr>
          <p:cNvPr id="9" name="Shape 5"/>
          <p:cNvSpPr/>
          <p:nvPr/>
        </p:nvSpPr>
        <p:spPr>
          <a:xfrm>
            <a:off x="7406640" y="3246120"/>
            <a:ext cx="3749040" cy="1188720"/>
          </a:xfrm>
          <a:prstGeom prst="roundRect">
            <a:avLst>
              <a:gd name="adj" fmla="val 9231"/>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0" name="Text 6"/>
          <p:cNvSpPr txBox="1"/>
          <p:nvPr/>
        </p:nvSpPr>
        <p:spPr>
          <a:xfrm>
            <a:off x="7589520" y="3246120"/>
            <a:ext cx="1554480" cy="1188720"/>
          </a:xfrm>
          <a:prstGeom prst="rect">
            <a:avLst/>
          </a:prstGeom>
          <a:noFill/>
          <a:ln/>
        </p:spPr>
        <p:txBody>
          <a:bodyPr wrap="square" lIns="0" tIns="0" rIns="0" bIns="0" rtlCol="0" anchor="ctr"/>
          <a:lstStyle/>
          <a:p>
            <a:pPr indent="0" marL="0">
              <a:buNone/>
            </a:pPr>
            <a:r>
              <a:rPr lang="en-US" sz="3400" b="1" dirty="0">
                <a:solidFill>
                  <a:schemeClr val="accent2"/>
                </a:solidFill>
              </a:rPr>
              <a:t>1 002</a:t>
            </a:r>
            <a:endParaRPr lang="en-US" sz="3400" dirty="0"/>
          </a:p>
        </p:txBody>
      </p:sp>
      <p:sp>
        <p:nvSpPr>
          <p:cNvPr id="11" name="Text 7"/>
          <p:cNvSpPr txBox="1"/>
          <p:nvPr/>
        </p:nvSpPr>
        <p:spPr>
          <a:xfrm>
            <a:off x="9144000" y="3246120"/>
            <a:ext cx="1920240" cy="1188720"/>
          </a:xfrm>
          <a:prstGeom prst="rect">
            <a:avLst/>
          </a:prstGeom>
          <a:noFill/>
          <a:ln/>
        </p:spPr>
        <p:txBody>
          <a:bodyPr wrap="square" lIns="0" tIns="0" rIns="0" bIns="0" rtlCol="0" anchor="ctr"/>
          <a:lstStyle/>
          <a:p>
            <a:pPr indent="0" marL="0">
              <a:buNone/>
            </a:pPr>
            <a:r>
              <a:rPr lang="en-US" sz="1600" dirty="0">
                <a:solidFill>
                  <a:schemeClr val="tx2"/>
                </a:solidFill>
              </a:rPr>
              <a:t>3d print fail detection</a:t>
            </a:r>
            <a:endParaRPr lang="en-US" sz="1600" dirty="0"/>
          </a:p>
        </p:txBody>
      </p:sp>
      <p:sp>
        <p:nvSpPr>
          <p:cNvPr id="12" name="Shape 8"/>
          <p:cNvSpPr/>
          <p:nvPr/>
        </p:nvSpPr>
        <p:spPr>
          <a:xfrm>
            <a:off x="7406640" y="4617720"/>
            <a:ext cx="3749040" cy="1188720"/>
          </a:xfrm>
          <a:prstGeom prst="roundRect">
            <a:avLst>
              <a:gd name="adj" fmla="val 9231"/>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3" name="Text 9"/>
          <p:cNvSpPr txBox="1"/>
          <p:nvPr/>
        </p:nvSpPr>
        <p:spPr>
          <a:xfrm>
            <a:off x="7589520" y="4617720"/>
            <a:ext cx="1554480" cy="1188720"/>
          </a:xfrm>
          <a:prstGeom prst="rect">
            <a:avLst/>
          </a:prstGeom>
          <a:noFill/>
          <a:ln/>
        </p:spPr>
        <p:txBody>
          <a:bodyPr wrap="square" lIns="0" tIns="0" rIns="0" bIns="0" rtlCol="0" anchor="ctr"/>
          <a:lstStyle/>
          <a:p>
            <a:pPr indent="0" marL="0">
              <a:buNone/>
            </a:pPr>
            <a:r>
              <a:rPr lang="en-US" sz="3400" b="1" dirty="0">
                <a:solidFill>
                  <a:schemeClr val="accent2"/>
                </a:solidFill>
              </a:rPr>
              <a:t>999</a:t>
            </a:r>
            <a:endParaRPr lang="en-US" sz="3400" dirty="0"/>
          </a:p>
        </p:txBody>
      </p:sp>
      <p:sp>
        <p:nvSpPr>
          <p:cNvPr id="14" name="Text 10"/>
          <p:cNvSpPr txBox="1"/>
          <p:nvPr/>
        </p:nvSpPr>
        <p:spPr>
          <a:xfrm>
            <a:off x="9144000" y="4617720"/>
            <a:ext cx="1920240" cy="1188720"/>
          </a:xfrm>
          <a:prstGeom prst="rect">
            <a:avLst/>
          </a:prstGeom>
          <a:noFill/>
          <a:ln/>
        </p:spPr>
        <p:txBody>
          <a:bodyPr wrap="square" lIns="0" tIns="0" rIns="0" bIns="0" rtlCol="0" anchor="ctr"/>
          <a:lstStyle/>
          <a:p>
            <a:pPr indent="0" marL="0">
              <a:buNone/>
            </a:pPr>
            <a:r>
              <a:rPr lang="en-US" sz="1600" dirty="0">
                <a:solidFill>
                  <a:schemeClr val="tx2"/>
                </a:solidFill>
              </a:rPr>
              <a:t>Under Extrusion</a:t>
            </a:r>
            <a:endParaRPr lang="en-US" sz="1600" dirty="0"/>
          </a:p>
        </p:txBody>
      </p:sp>
      <p:sp>
        <p:nvSpPr>
          <p:cNvPr id="15" name="Text 11"/>
          <p:cNvSpPr txBox="1"/>
          <p:nvPr/>
        </p:nvSpPr>
        <p:spPr>
          <a:xfrm>
            <a:off x="7406640" y="5943600"/>
            <a:ext cx="3749040" cy="274320"/>
          </a:xfrm>
          <a:prstGeom prst="rect">
            <a:avLst/>
          </a:prstGeom>
          <a:noFill/>
          <a:ln/>
        </p:spPr>
        <p:txBody>
          <a:bodyPr wrap="square" lIns="0" tIns="0" rIns="0" bIns="0" rtlCol="0" anchor="t"/>
          <a:lstStyle/>
          <a:p>
            <a:pPr indent="0" marL="0">
              <a:buNone/>
            </a:pPr>
            <a:r>
              <a:rPr lang="en-US" sz="1200" dirty="0">
                <a:solidFill>
                  <a:schemeClr val="tx2"/>
                </a:solidFill>
              </a:rPr>
              <a:t>Se descartaron clases sin equivalente, como crack.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División 70 / 15 / 15 sin fuga</a:t>
            </a:r>
            <a:endParaRPr lang="en-US" sz="3000" dirty="0"/>
          </a:p>
        </p:txBody>
      </p:sp>
      <p:sp>
        <p:nvSpPr>
          <p:cNvPr id="4" name="Shape 1"/>
          <p:cNvSpPr/>
          <p:nvPr/>
        </p:nvSpPr>
        <p:spPr>
          <a:xfrm>
            <a:off x="822960" y="1371600"/>
            <a:ext cx="7232904" cy="914400"/>
          </a:xfrm>
          <a:prstGeom prst="rect">
            <a:avLst/>
          </a:prstGeom>
          <a:solidFill>
            <a:schemeClr val="accent1"/>
          </a:solidFill>
          <a:ln w="25400">
            <a:solidFill>
              <a:schemeClr val="bg1"/>
            </a:solidFill>
            <a:prstDash val="solid"/>
          </a:ln>
        </p:spPr>
      </p:sp>
      <p:sp>
        <p:nvSpPr>
          <p:cNvPr id="5" name="Text 2"/>
          <p:cNvSpPr txBox="1"/>
          <p:nvPr/>
        </p:nvSpPr>
        <p:spPr>
          <a:xfrm>
            <a:off x="822960" y="1371600"/>
            <a:ext cx="7232904" cy="914400"/>
          </a:xfrm>
          <a:prstGeom prst="rect">
            <a:avLst/>
          </a:prstGeom>
          <a:noFill/>
          <a:ln/>
        </p:spPr>
        <p:txBody>
          <a:bodyPr wrap="square" lIns="0" tIns="0" rIns="0" bIns="0" rtlCol="0" anchor="ctr"/>
          <a:lstStyle/>
          <a:p>
            <a:pPr algn="ctr" indent="0" marL="0">
              <a:buNone/>
            </a:pPr>
            <a:r>
              <a:rPr lang="en-US" sz="1600" b="1" dirty="0">
                <a:solidFill>
                  <a:schemeClr val="tx1"/>
                </a:solidFill>
              </a:rPr>
              <a:t>Entrenamiento · 70 %</a:t>
            </a:r>
            <a:endParaRPr lang="en-US" sz="1400" dirty="0"/>
          </a:p>
          <a:p>
            <a:pPr algn="ctr" indent="0" marL="0">
              <a:buNone/>
            </a:pPr>
            <a:r>
              <a:rPr lang="en-US" sz="1400" dirty="0">
                <a:solidFill>
                  <a:schemeClr val="tx1"/>
                </a:solidFill>
              </a:rPr>
              <a:t>≈ 3 929 imágenes</a:t>
            </a:r>
            <a:endParaRPr lang="en-US" sz="1400" dirty="0"/>
          </a:p>
        </p:txBody>
      </p:sp>
      <p:sp>
        <p:nvSpPr>
          <p:cNvPr id="6" name="Shape 3"/>
          <p:cNvSpPr/>
          <p:nvPr/>
        </p:nvSpPr>
        <p:spPr>
          <a:xfrm>
            <a:off x="8055864" y="1371600"/>
            <a:ext cx="1549908" cy="914400"/>
          </a:xfrm>
          <a:prstGeom prst="rect">
            <a:avLst/>
          </a:prstGeom>
          <a:solidFill>
            <a:schemeClr val="accent3"/>
          </a:solidFill>
          <a:ln w="25400">
            <a:solidFill>
              <a:schemeClr val="bg1"/>
            </a:solidFill>
            <a:prstDash val="solid"/>
          </a:ln>
        </p:spPr>
      </p:sp>
      <p:sp>
        <p:nvSpPr>
          <p:cNvPr id="7" name="Text 4"/>
          <p:cNvSpPr txBox="1"/>
          <p:nvPr/>
        </p:nvSpPr>
        <p:spPr>
          <a:xfrm>
            <a:off x="8055864" y="1371600"/>
            <a:ext cx="1549908" cy="914400"/>
          </a:xfrm>
          <a:prstGeom prst="rect">
            <a:avLst/>
          </a:prstGeom>
          <a:noFill/>
          <a:ln/>
        </p:spPr>
        <p:txBody>
          <a:bodyPr wrap="square" lIns="0" tIns="0" rIns="0" bIns="0" rtlCol="0" anchor="ctr"/>
          <a:lstStyle/>
          <a:p>
            <a:pPr algn="ctr" indent="0" marL="0">
              <a:buNone/>
            </a:pPr>
            <a:r>
              <a:rPr lang="en-US" sz="1600" b="1" dirty="0">
                <a:solidFill>
                  <a:schemeClr val="bg1"/>
                </a:solidFill>
              </a:rPr>
              <a:t>Val · 15 %</a:t>
            </a:r>
            <a:endParaRPr lang="en-US" sz="1400" dirty="0"/>
          </a:p>
          <a:p>
            <a:pPr algn="ctr" indent="0" marL="0">
              <a:buNone/>
            </a:pPr>
            <a:r>
              <a:rPr lang="en-US" sz="1400" dirty="0">
                <a:solidFill>
                  <a:schemeClr val="bg1"/>
                </a:solidFill>
              </a:rPr>
              <a:t>≈ 842</a:t>
            </a:r>
            <a:endParaRPr lang="en-US" sz="1400" dirty="0"/>
          </a:p>
        </p:txBody>
      </p:sp>
      <p:sp>
        <p:nvSpPr>
          <p:cNvPr id="8" name="Shape 5"/>
          <p:cNvSpPr/>
          <p:nvPr/>
        </p:nvSpPr>
        <p:spPr>
          <a:xfrm>
            <a:off x="9605772" y="1371600"/>
            <a:ext cx="1549908" cy="914400"/>
          </a:xfrm>
          <a:prstGeom prst="rect">
            <a:avLst/>
          </a:prstGeom>
          <a:solidFill>
            <a:schemeClr val="accent4"/>
          </a:solidFill>
          <a:ln w="25400">
            <a:solidFill>
              <a:schemeClr val="bg1"/>
            </a:solidFill>
            <a:prstDash val="solid"/>
          </a:ln>
        </p:spPr>
      </p:sp>
      <p:sp>
        <p:nvSpPr>
          <p:cNvPr id="9" name="Text 6"/>
          <p:cNvSpPr txBox="1"/>
          <p:nvPr/>
        </p:nvSpPr>
        <p:spPr>
          <a:xfrm>
            <a:off x="9605772" y="1371600"/>
            <a:ext cx="1549908" cy="914400"/>
          </a:xfrm>
          <a:prstGeom prst="rect">
            <a:avLst/>
          </a:prstGeom>
          <a:noFill/>
          <a:ln/>
        </p:spPr>
        <p:txBody>
          <a:bodyPr wrap="square" lIns="0" tIns="0" rIns="0" bIns="0" rtlCol="0" anchor="ctr"/>
          <a:lstStyle/>
          <a:p>
            <a:pPr algn="ctr" indent="0" marL="0">
              <a:buNone/>
            </a:pPr>
            <a:r>
              <a:rPr lang="en-US" sz="1600" b="1" dirty="0">
                <a:solidFill>
                  <a:schemeClr val="bg1"/>
                </a:solidFill>
              </a:rPr>
              <a:t>Test · 15 %</a:t>
            </a:r>
            <a:endParaRPr lang="en-US" sz="1400" dirty="0"/>
          </a:p>
          <a:p>
            <a:pPr algn="ctr" indent="0" marL="0">
              <a:buNone/>
            </a:pPr>
            <a:r>
              <a:rPr lang="en-US" sz="1400" dirty="0">
                <a:solidFill>
                  <a:schemeClr val="bg1"/>
                </a:solidFill>
              </a:rPr>
              <a:t>841 (real)</a:t>
            </a:r>
            <a:endParaRPr lang="en-US" sz="1400" dirty="0"/>
          </a:p>
        </p:txBody>
      </p:sp>
      <p:sp>
        <p:nvSpPr>
          <p:cNvPr id="10" name="Text 7"/>
          <p:cNvSpPr txBox="1"/>
          <p:nvPr/>
        </p:nvSpPr>
        <p:spPr>
          <a:xfrm>
            <a:off x="822960" y="2377440"/>
            <a:ext cx="10332720" cy="320040"/>
          </a:xfrm>
          <a:prstGeom prst="rect">
            <a:avLst/>
          </a:prstGeom>
          <a:noFill/>
          <a:ln/>
        </p:spPr>
        <p:txBody>
          <a:bodyPr wrap="square" lIns="0" tIns="0" rIns="0" bIns="0" rtlCol="0" anchor="t"/>
          <a:lstStyle/>
          <a:p>
            <a:pPr indent="0" marL="0">
              <a:buNone/>
            </a:pPr>
            <a:r>
              <a:rPr lang="en-US" sz="1200" dirty="0">
                <a:solidFill>
                  <a:schemeClr val="tx2"/>
                </a:solidFill>
              </a:rPr>
              <a:t>Total 5 613 · semilla 42 · estratificado de forma aproximada. El test real es de 841 porque la división por secuencia no es exacta.</a:t>
            </a:r>
            <a:endParaRPr lang="en-US" sz="1200" dirty="0"/>
          </a:p>
        </p:txBody>
      </p:sp>
      <p:sp>
        <p:nvSpPr>
          <p:cNvPr id="11" name="Shape 8"/>
          <p:cNvSpPr/>
          <p:nvPr/>
        </p:nvSpPr>
        <p:spPr>
          <a:xfrm>
            <a:off x="822960" y="2926080"/>
            <a:ext cx="5029200" cy="2286000"/>
          </a:xfrm>
          <a:prstGeom prst="roundRect">
            <a:avLst>
              <a:gd name="adj" fmla="val 48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1097280" y="3063240"/>
            <a:ext cx="4480560" cy="365760"/>
          </a:xfrm>
          <a:prstGeom prst="rect">
            <a:avLst/>
          </a:prstGeom>
          <a:noFill/>
          <a:ln/>
        </p:spPr>
        <p:txBody>
          <a:bodyPr wrap="square" lIns="0" tIns="0" rIns="0" bIns="0" rtlCol="0" anchor="t"/>
          <a:lstStyle/>
          <a:p>
            <a:pPr indent="0" marL="0">
              <a:buNone/>
            </a:pPr>
            <a:r>
              <a:rPr lang="en-US" sz="1800" b="1" dirty="0">
                <a:solidFill>
                  <a:schemeClr val="accent5"/>
                </a:solidFill>
              </a:rPr>
              <a:t>✗ Por fotograma, al azar</a:t>
            </a:r>
            <a:endParaRPr lang="en-US" sz="1800" dirty="0"/>
          </a:p>
        </p:txBody>
      </p:sp>
      <p:sp>
        <p:nvSpPr>
          <p:cNvPr id="13" name="Text 10"/>
          <p:cNvSpPr txBox="1"/>
          <p:nvPr/>
        </p:nvSpPr>
        <p:spPr>
          <a:xfrm>
            <a:off x="1097280" y="361188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1</a:t>
            </a:r>
            <a:endParaRPr lang="en-US" sz="1200" dirty="0"/>
          </a:p>
        </p:txBody>
      </p:sp>
      <p:sp>
        <p:nvSpPr>
          <p:cNvPr id="14" name="Shape 11"/>
          <p:cNvSpPr/>
          <p:nvPr/>
        </p:nvSpPr>
        <p:spPr>
          <a:xfrm>
            <a:off x="1965960" y="3639312"/>
            <a:ext cx="246888" cy="310896"/>
          </a:xfrm>
          <a:prstGeom prst="rect">
            <a:avLst/>
          </a:prstGeom>
          <a:solidFill>
            <a:schemeClr val="accent1"/>
          </a:solidFill>
          <a:ln w="6350">
            <a:solidFill>
              <a:schemeClr val="accent1"/>
            </a:solidFill>
            <a:prstDash val="solid"/>
          </a:ln>
        </p:spPr>
      </p:sp>
      <p:sp>
        <p:nvSpPr>
          <p:cNvPr id="15" name="Shape 12"/>
          <p:cNvSpPr/>
          <p:nvPr/>
        </p:nvSpPr>
        <p:spPr>
          <a:xfrm>
            <a:off x="2267712" y="3639312"/>
            <a:ext cx="246888" cy="310896"/>
          </a:xfrm>
          <a:prstGeom prst="rect">
            <a:avLst/>
          </a:prstGeom>
          <a:solidFill>
            <a:schemeClr val="accent4"/>
          </a:solidFill>
          <a:ln w="6350">
            <a:solidFill>
              <a:schemeClr val="accent4"/>
            </a:solidFill>
            <a:prstDash val="solid"/>
          </a:ln>
        </p:spPr>
      </p:sp>
      <p:sp>
        <p:nvSpPr>
          <p:cNvPr id="16" name="Shape 13"/>
          <p:cNvSpPr/>
          <p:nvPr/>
        </p:nvSpPr>
        <p:spPr>
          <a:xfrm>
            <a:off x="2569464" y="3639312"/>
            <a:ext cx="246888" cy="310896"/>
          </a:xfrm>
          <a:prstGeom prst="rect">
            <a:avLst/>
          </a:prstGeom>
          <a:solidFill>
            <a:schemeClr val="accent3"/>
          </a:solidFill>
          <a:ln w="6350">
            <a:solidFill>
              <a:schemeClr val="accent3"/>
            </a:solidFill>
            <a:prstDash val="solid"/>
          </a:ln>
        </p:spPr>
      </p:sp>
      <p:sp>
        <p:nvSpPr>
          <p:cNvPr id="17" name="Shape 14"/>
          <p:cNvSpPr/>
          <p:nvPr/>
        </p:nvSpPr>
        <p:spPr>
          <a:xfrm>
            <a:off x="2871216" y="3639312"/>
            <a:ext cx="246888" cy="310896"/>
          </a:xfrm>
          <a:prstGeom prst="rect">
            <a:avLst/>
          </a:prstGeom>
          <a:solidFill>
            <a:schemeClr val="accent1"/>
          </a:solidFill>
          <a:ln w="6350">
            <a:solidFill>
              <a:schemeClr val="accent1"/>
            </a:solidFill>
            <a:prstDash val="solid"/>
          </a:ln>
        </p:spPr>
      </p:sp>
      <p:sp>
        <p:nvSpPr>
          <p:cNvPr id="18" name="Shape 15"/>
          <p:cNvSpPr/>
          <p:nvPr/>
        </p:nvSpPr>
        <p:spPr>
          <a:xfrm>
            <a:off x="3172968" y="3639312"/>
            <a:ext cx="246888" cy="310896"/>
          </a:xfrm>
          <a:prstGeom prst="rect">
            <a:avLst/>
          </a:prstGeom>
          <a:solidFill>
            <a:schemeClr val="accent4"/>
          </a:solidFill>
          <a:ln w="6350">
            <a:solidFill>
              <a:schemeClr val="accent4"/>
            </a:solidFill>
            <a:prstDash val="solid"/>
          </a:ln>
        </p:spPr>
      </p:sp>
      <p:sp>
        <p:nvSpPr>
          <p:cNvPr id="19" name="Shape 16"/>
          <p:cNvSpPr/>
          <p:nvPr/>
        </p:nvSpPr>
        <p:spPr>
          <a:xfrm>
            <a:off x="3474720" y="3639312"/>
            <a:ext cx="246888" cy="310896"/>
          </a:xfrm>
          <a:prstGeom prst="rect">
            <a:avLst/>
          </a:prstGeom>
          <a:solidFill>
            <a:schemeClr val="accent3"/>
          </a:solidFill>
          <a:ln w="6350">
            <a:solidFill>
              <a:schemeClr val="accent3"/>
            </a:solidFill>
            <a:prstDash val="solid"/>
          </a:ln>
        </p:spPr>
      </p:sp>
      <p:sp>
        <p:nvSpPr>
          <p:cNvPr id="20" name="Shape 17"/>
          <p:cNvSpPr/>
          <p:nvPr/>
        </p:nvSpPr>
        <p:spPr>
          <a:xfrm>
            <a:off x="3776472" y="3639312"/>
            <a:ext cx="246888" cy="310896"/>
          </a:xfrm>
          <a:prstGeom prst="rect">
            <a:avLst/>
          </a:prstGeom>
          <a:solidFill>
            <a:schemeClr val="accent1"/>
          </a:solidFill>
          <a:ln w="6350">
            <a:solidFill>
              <a:schemeClr val="accent1"/>
            </a:solidFill>
            <a:prstDash val="solid"/>
          </a:ln>
        </p:spPr>
      </p:sp>
      <p:sp>
        <p:nvSpPr>
          <p:cNvPr id="21" name="Shape 18"/>
          <p:cNvSpPr/>
          <p:nvPr/>
        </p:nvSpPr>
        <p:spPr>
          <a:xfrm>
            <a:off x="4078224" y="3639312"/>
            <a:ext cx="246888" cy="310896"/>
          </a:xfrm>
          <a:prstGeom prst="rect">
            <a:avLst/>
          </a:prstGeom>
          <a:solidFill>
            <a:schemeClr val="accent4"/>
          </a:solidFill>
          <a:ln w="6350">
            <a:solidFill>
              <a:schemeClr val="accent4"/>
            </a:solidFill>
            <a:prstDash val="solid"/>
          </a:ln>
        </p:spPr>
      </p:sp>
      <p:sp>
        <p:nvSpPr>
          <p:cNvPr id="22" name="Shape 19"/>
          <p:cNvSpPr/>
          <p:nvPr/>
        </p:nvSpPr>
        <p:spPr>
          <a:xfrm>
            <a:off x="4379976" y="3639312"/>
            <a:ext cx="246888" cy="310896"/>
          </a:xfrm>
          <a:prstGeom prst="rect">
            <a:avLst/>
          </a:prstGeom>
          <a:solidFill>
            <a:schemeClr val="accent3"/>
          </a:solidFill>
          <a:ln w="6350">
            <a:solidFill>
              <a:schemeClr val="accent3"/>
            </a:solidFill>
            <a:prstDash val="solid"/>
          </a:ln>
        </p:spPr>
      </p:sp>
      <p:sp>
        <p:nvSpPr>
          <p:cNvPr id="23" name="Shape 20"/>
          <p:cNvSpPr/>
          <p:nvPr/>
        </p:nvSpPr>
        <p:spPr>
          <a:xfrm>
            <a:off x="4681728" y="3639312"/>
            <a:ext cx="246888" cy="310896"/>
          </a:xfrm>
          <a:prstGeom prst="rect">
            <a:avLst/>
          </a:prstGeom>
          <a:solidFill>
            <a:schemeClr val="accent1"/>
          </a:solidFill>
          <a:ln w="6350">
            <a:solidFill>
              <a:schemeClr val="accent1"/>
            </a:solidFill>
            <a:prstDash val="solid"/>
          </a:ln>
        </p:spPr>
      </p:sp>
      <p:sp>
        <p:nvSpPr>
          <p:cNvPr id="24" name="Shape 21"/>
          <p:cNvSpPr/>
          <p:nvPr/>
        </p:nvSpPr>
        <p:spPr>
          <a:xfrm>
            <a:off x="4983480" y="3639312"/>
            <a:ext cx="246888" cy="310896"/>
          </a:xfrm>
          <a:prstGeom prst="rect">
            <a:avLst/>
          </a:prstGeom>
          <a:solidFill>
            <a:schemeClr val="accent4"/>
          </a:solidFill>
          <a:ln w="6350">
            <a:solidFill>
              <a:schemeClr val="accent4"/>
            </a:solidFill>
            <a:prstDash val="solid"/>
          </a:ln>
        </p:spPr>
      </p:sp>
      <p:sp>
        <p:nvSpPr>
          <p:cNvPr id="25" name="Shape 22"/>
          <p:cNvSpPr/>
          <p:nvPr/>
        </p:nvSpPr>
        <p:spPr>
          <a:xfrm>
            <a:off x="5285232" y="3639312"/>
            <a:ext cx="246888" cy="310896"/>
          </a:xfrm>
          <a:prstGeom prst="rect">
            <a:avLst/>
          </a:prstGeom>
          <a:solidFill>
            <a:schemeClr val="accent3"/>
          </a:solidFill>
          <a:ln w="6350">
            <a:solidFill>
              <a:schemeClr val="accent3"/>
            </a:solidFill>
            <a:prstDash val="solid"/>
          </a:ln>
        </p:spPr>
      </p:sp>
      <p:sp>
        <p:nvSpPr>
          <p:cNvPr id="26" name="Text 23"/>
          <p:cNvSpPr txBox="1"/>
          <p:nvPr/>
        </p:nvSpPr>
        <p:spPr>
          <a:xfrm>
            <a:off x="1097280" y="411480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2</a:t>
            </a:r>
            <a:endParaRPr lang="en-US" sz="1200" dirty="0"/>
          </a:p>
        </p:txBody>
      </p:sp>
      <p:sp>
        <p:nvSpPr>
          <p:cNvPr id="27" name="Shape 24"/>
          <p:cNvSpPr/>
          <p:nvPr/>
        </p:nvSpPr>
        <p:spPr>
          <a:xfrm>
            <a:off x="1965960" y="4142232"/>
            <a:ext cx="246888" cy="310896"/>
          </a:xfrm>
          <a:prstGeom prst="rect">
            <a:avLst/>
          </a:prstGeom>
          <a:solidFill>
            <a:schemeClr val="accent4"/>
          </a:solidFill>
          <a:ln w="6350">
            <a:solidFill>
              <a:schemeClr val="accent4"/>
            </a:solidFill>
            <a:prstDash val="solid"/>
          </a:ln>
        </p:spPr>
      </p:sp>
      <p:sp>
        <p:nvSpPr>
          <p:cNvPr id="28" name="Shape 25"/>
          <p:cNvSpPr/>
          <p:nvPr/>
        </p:nvSpPr>
        <p:spPr>
          <a:xfrm>
            <a:off x="2267712" y="4142232"/>
            <a:ext cx="246888" cy="310896"/>
          </a:xfrm>
          <a:prstGeom prst="rect">
            <a:avLst/>
          </a:prstGeom>
          <a:solidFill>
            <a:schemeClr val="accent3"/>
          </a:solidFill>
          <a:ln w="6350">
            <a:solidFill>
              <a:schemeClr val="accent3"/>
            </a:solidFill>
            <a:prstDash val="solid"/>
          </a:ln>
        </p:spPr>
      </p:sp>
      <p:sp>
        <p:nvSpPr>
          <p:cNvPr id="29" name="Shape 26"/>
          <p:cNvSpPr/>
          <p:nvPr/>
        </p:nvSpPr>
        <p:spPr>
          <a:xfrm>
            <a:off x="2569464" y="4142232"/>
            <a:ext cx="246888" cy="310896"/>
          </a:xfrm>
          <a:prstGeom prst="rect">
            <a:avLst/>
          </a:prstGeom>
          <a:solidFill>
            <a:schemeClr val="accent1"/>
          </a:solidFill>
          <a:ln w="6350">
            <a:solidFill>
              <a:schemeClr val="accent1"/>
            </a:solidFill>
            <a:prstDash val="solid"/>
          </a:ln>
        </p:spPr>
      </p:sp>
      <p:sp>
        <p:nvSpPr>
          <p:cNvPr id="30" name="Shape 27"/>
          <p:cNvSpPr/>
          <p:nvPr/>
        </p:nvSpPr>
        <p:spPr>
          <a:xfrm>
            <a:off x="2871216" y="4142232"/>
            <a:ext cx="246888" cy="310896"/>
          </a:xfrm>
          <a:prstGeom prst="rect">
            <a:avLst/>
          </a:prstGeom>
          <a:solidFill>
            <a:schemeClr val="accent4"/>
          </a:solidFill>
          <a:ln w="6350">
            <a:solidFill>
              <a:schemeClr val="accent4"/>
            </a:solidFill>
            <a:prstDash val="solid"/>
          </a:ln>
        </p:spPr>
      </p:sp>
      <p:sp>
        <p:nvSpPr>
          <p:cNvPr id="31" name="Shape 28"/>
          <p:cNvSpPr/>
          <p:nvPr/>
        </p:nvSpPr>
        <p:spPr>
          <a:xfrm>
            <a:off x="3172968" y="4142232"/>
            <a:ext cx="246888" cy="310896"/>
          </a:xfrm>
          <a:prstGeom prst="rect">
            <a:avLst/>
          </a:prstGeom>
          <a:solidFill>
            <a:schemeClr val="accent3"/>
          </a:solidFill>
          <a:ln w="6350">
            <a:solidFill>
              <a:schemeClr val="accent3"/>
            </a:solidFill>
            <a:prstDash val="solid"/>
          </a:ln>
        </p:spPr>
      </p:sp>
      <p:sp>
        <p:nvSpPr>
          <p:cNvPr id="32" name="Shape 29"/>
          <p:cNvSpPr/>
          <p:nvPr/>
        </p:nvSpPr>
        <p:spPr>
          <a:xfrm>
            <a:off x="3474720" y="4142232"/>
            <a:ext cx="246888" cy="310896"/>
          </a:xfrm>
          <a:prstGeom prst="rect">
            <a:avLst/>
          </a:prstGeom>
          <a:solidFill>
            <a:schemeClr val="accent1"/>
          </a:solidFill>
          <a:ln w="6350">
            <a:solidFill>
              <a:schemeClr val="accent1"/>
            </a:solidFill>
            <a:prstDash val="solid"/>
          </a:ln>
        </p:spPr>
      </p:sp>
      <p:sp>
        <p:nvSpPr>
          <p:cNvPr id="33" name="Shape 30"/>
          <p:cNvSpPr/>
          <p:nvPr/>
        </p:nvSpPr>
        <p:spPr>
          <a:xfrm>
            <a:off x="3776472" y="4142232"/>
            <a:ext cx="246888" cy="310896"/>
          </a:xfrm>
          <a:prstGeom prst="rect">
            <a:avLst/>
          </a:prstGeom>
          <a:solidFill>
            <a:schemeClr val="accent4"/>
          </a:solidFill>
          <a:ln w="6350">
            <a:solidFill>
              <a:schemeClr val="accent4"/>
            </a:solidFill>
            <a:prstDash val="solid"/>
          </a:ln>
        </p:spPr>
      </p:sp>
      <p:sp>
        <p:nvSpPr>
          <p:cNvPr id="34" name="Shape 31"/>
          <p:cNvSpPr/>
          <p:nvPr/>
        </p:nvSpPr>
        <p:spPr>
          <a:xfrm>
            <a:off x="4078224" y="4142232"/>
            <a:ext cx="246888" cy="310896"/>
          </a:xfrm>
          <a:prstGeom prst="rect">
            <a:avLst/>
          </a:prstGeom>
          <a:solidFill>
            <a:schemeClr val="accent3"/>
          </a:solidFill>
          <a:ln w="6350">
            <a:solidFill>
              <a:schemeClr val="accent3"/>
            </a:solidFill>
            <a:prstDash val="solid"/>
          </a:ln>
        </p:spPr>
      </p:sp>
      <p:sp>
        <p:nvSpPr>
          <p:cNvPr id="35" name="Shape 32"/>
          <p:cNvSpPr/>
          <p:nvPr/>
        </p:nvSpPr>
        <p:spPr>
          <a:xfrm>
            <a:off x="4379976" y="4142232"/>
            <a:ext cx="246888" cy="310896"/>
          </a:xfrm>
          <a:prstGeom prst="rect">
            <a:avLst/>
          </a:prstGeom>
          <a:solidFill>
            <a:schemeClr val="accent1"/>
          </a:solidFill>
          <a:ln w="6350">
            <a:solidFill>
              <a:schemeClr val="accent1"/>
            </a:solidFill>
            <a:prstDash val="solid"/>
          </a:ln>
        </p:spPr>
      </p:sp>
      <p:sp>
        <p:nvSpPr>
          <p:cNvPr id="36" name="Shape 33"/>
          <p:cNvSpPr/>
          <p:nvPr/>
        </p:nvSpPr>
        <p:spPr>
          <a:xfrm>
            <a:off x="4681728" y="4142232"/>
            <a:ext cx="246888" cy="310896"/>
          </a:xfrm>
          <a:prstGeom prst="rect">
            <a:avLst/>
          </a:prstGeom>
          <a:solidFill>
            <a:schemeClr val="accent4"/>
          </a:solidFill>
          <a:ln w="6350">
            <a:solidFill>
              <a:schemeClr val="accent4"/>
            </a:solidFill>
            <a:prstDash val="solid"/>
          </a:ln>
        </p:spPr>
      </p:sp>
      <p:sp>
        <p:nvSpPr>
          <p:cNvPr id="37" name="Shape 34"/>
          <p:cNvSpPr/>
          <p:nvPr/>
        </p:nvSpPr>
        <p:spPr>
          <a:xfrm>
            <a:off x="4983480" y="4142232"/>
            <a:ext cx="246888" cy="310896"/>
          </a:xfrm>
          <a:prstGeom prst="rect">
            <a:avLst/>
          </a:prstGeom>
          <a:solidFill>
            <a:schemeClr val="accent3"/>
          </a:solidFill>
          <a:ln w="6350">
            <a:solidFill>
              <a:schemeClr val="accent3"/>
            </a:solidFill>
            <a:prstDash val="solid"/>
          </a:ln>
        </p:spPr>
      </p:sp>
      <p:sp>
        <p:nvSpPr>
          <p:cNvPr id="38" name="Shape 35"/>
          <p:cNvSpPr/>
          <p:nvPr/>
        </p:nvSpPr>
        <p:spPr>
          <a:xfrm>
            <a:off x="5285232" y="4142232"/>
            <a:ext cx="246888" cy="310896"/>
          </a:xfrm>
          <a:prstGeom prst="rect">
            <a:avLst/>
          </a:prstGeom>
          <a:solidFill>
            <a:schemeClr val="accent1"/>
          </a:solidFill>
          <a:ln w="6350">
            <a:solidFill>
              <a:schemeClr val="accent1"/>
            </a:solidFill>
            <a:prstDash val="solid"/>
          </a:ln>
        </p:spPr>
      </p:sp>
      <p:sp>
        <p:nvSpPr>
          <p:cNvPr id="39" name="Text 36"/>
          <p:cNvSpPr txBox="1"/>
          <p:nvPr/>
        </p:nvSpPr>
        <p:spPr>
          <a:xfrm>
            <a:off x="1097280" y="461772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3</a:t>
            </a:r>
            <a:endParaRPr lang="en-US" sz="1200" dirty="0"/>
          </a:p>
        </p:txBody>
      </p:sp>
      <p:sp>
        <p:nvSpPr>
          <p:cNvPr id="40" name="Shape 37"/>
          <p:cNvSpPr/>
          <p:nvPr/>
        </p:nvSpPr>
        <p:spPr>
          <a:xfrm>
            <a:off x="1965960" y="4645152"/>
            <a:ext cx="246888" cy="310896"/>
          </a:xfrm>
          <a:prstGeom prst="rect">
            <a:avLst/>
          </a:prstGeom>
          <a:solidFill>
            <a:schemeClr val="accent3"/>
          </a:solidFill>
          <a:ln w="6350">
            <a:solidFill>
              <a:schemeClr val="accent3"/>
            </a:solidFill>
            <a:prstDash val="solid"/>
          </a:ln>
        </p:spPr>
      </p:sp>
      <p:sp>
        <p:nvSpPr>
          <p:cNvPr id="41" name="Shape 38"/>
          <p:cNvSpPr/>
          <p:nvPr/>
        </p:nvSpPr>
        <p:spPr>
          <a:xfrm>
            <a:off x="2267712" y="4645152"/>
            <a:ext cx="246888" cy="310896"/>
          </a:xfrm>
          <a:prstGeom prst="rect">
            <a:avLst/>
          </a:prstGeom>
          <a:solidFill>
            <a:schemeClr val="accent1"/>
          </a:solidFill>
          <a:ln w="6350">
            <a:solidFill>
              <a:schemeClr val="accent1"/>
            </a:solidFill>
            <a:prstDash val="solid"/>
          </a:ln>
        </p:spPr>
      </p:sp>
      <p:sp>
        <p:nvSpPr>
          <p:cNvPr id="42" name="Shape 39"/>
          <p:cNvSpPr/>
          <p:nvPr/>
        </p:nvSpPr>
        <p:spPr>
          <a:xfrm>
            <a:off x="2569464" y="4645152"/>
            <a:ext cx="246888" cy="310896"/>
          </a:xfrm>
          <a:prstGeom prst="rect">
            <a:avLst/>
          </a:prstGeom>
          <a:solidFill>
            <a:schemeClr val="accent4"/>
          </a:solidFill>
          <a:ln w="6350">
            <a:solidFill>
              <a:schemeClr val="accent4"/>
            </a:solidFill>
            <a:prstDash val="solid"/>
          </a:ln>
        </p:spPr>
      </p:sp>
      <p:sp>
        <p:nvSpPr>
          <p:cNvPr id="43" name="Shape 40"/>
          <p:cNvSpPr/>
          <p:nvPr/>
        </p:nvSpPr>
        <p:spPr>
          <a:xfrm>
            <a:off x="2871216" y="4645152"/>
            <a:ext cx="246888" cy="310896"/>
          </a:xfrm>
          <a:prstGeom prst="rect">
            <a:avLst/>
          </a:prstGeom>
          <a:solidFill>
            <a:schemeClr val="accent3"/>
          </a:solidFill>
          <a:ln w="6350">
            <a:solidFill>
              <a:schemeClr val="accent3"/>
            </a:solidFill>
            <a:prstDash val="solid"/>
          </a:ln>
        </p:spPr>
      </p:sp>
      <p:sp>
        <p:nvSpPr>
          <p:cNvPr id="44" name="Shape 41"/>
          <p:cNvSpPr/>
          <p:nvPr/>
        </p:nvSpPr>
        <p:spPr>
          <a:xfrm>
            <a:off x="3172968" y="4645152"/>
            <a:ext cx="246888" cy="310896"/>
          </a:xfrm>
          <a:prstGeom prst="rect">
            <a:avLst/>
          </a:prstGeom>
          <a:solidFill>
            <a:schemeClr val="accent1"/>
          </a:solidFill>
          <a:ln w="6350">
            <a:solidFill>
              <a:schemeClr val="accent1"/>
            </a:solidFill>
            <a:prstDash val="solid"/>
          </a:ln>
        </p:spPr>
      </p:sp>
      <p:sp>
        <p:nvSpPr>
          <p:cNvPr id="45" name="Shape 42"/>
          <p:cNvSpPr/>
          <p:nvPr/>
        </p:nvSpPr>
        <p:spPr>
          <a:xfrm>
            <a:off x="3474720" y="4645152"/>
            <a:ext cx="246888" cy="310896"/>
          </a:xfrm>
          <a:prstGeom prst="rect">
            <a:avLst/>
          </a:prstGeom>
          <a:solidFill>
            <a:schemeClr val="accent4"/>
          </a:solidFill>
          <a:ln w="6350">
            <a:solidFill>
              <a:schemeClr val="accent4"/>
            </a:solidFill>
            <a:prstDash val="solid"/>
          </a:ln>
        </p:spPr>
      </p:sp>
      <p:sp>
        <p:nvSpPr>
          <p:cNvPr id="46" name="Shape 43"/>
          <p:cNvSpPr/>
          <p:nvPr/>
        </p:nvSpPr>
        <p:spPr>
          <a:xfrm>
            <a:off x="3776472" y="4645152"/>
            <a:ext cx="246888" cy="310896"/>
          </a:xfrm>
          <a:prstGeom prst="rect">
            <a:avLst/>
          </a:prstGeom>
          <a:solidFill>
            <a:schemeClr val="accent3"/>
          </a:solidFill>
          <a:ln w="6350">
            <a:solidFill>
              <a:schemeClr val="accent3"/>
            </a:solidFill>
            <a:prstDash val="solid"/>
          </a:ln>
        </p:spPr>
      </p:sp>
      <p:sp>
        <p:nvSpPr>
          <p:cNvPr id="47" name="Shape 44"/>
          <p:cNvSpPr/>
          <p:nvPr/>
        </p:nvSpPr>
        <p:spPr>
          <a:xfrm>
            <a:off x="4078224" y="4645152"/>
            <a:ext cx="246888" cy="310896"/>
          </a:xfrm>
          <a:prstGeom prst="rect">
            <a:avLst/>
          </a:prstGeom>
          <a:solidFill>
            <a:schemeClr val="accent1"/>
          </a:solidFill>
          <a:ln w="6350">
            <a:solidFill>
              <a:schemeClr val="accent1"/>
            </a:solidFill>
            <a:prstDash val="solid"/>
          </a:ln>
        </p:spPr>
      </p:sp>
      <p:sp>
        <p:nvSpPr>
          <p:cNvPr id="48" name="Shape 45"/>
          <p:cNvSpPr/>
          <p:nvPr/>
        </p:nvSpPr>
        <p:spPr>
          <a:xfrm>
            <a:off x="4379976" y="4645152"/>
            <a:ext cx="246888" cy="310896"/>
          </a:xfrm>
          <a:prstGeom prst="rect">
            <a:avLst/>
          </a:prstGeom>
          <a:solidFill>
            <a:schemeClr val="accent4"/>
          </a:solidFill>
          <a:ln w="6350">
            <a:solidFill>
              <a:schemeClr val="accent4"/>
            </a:solidFill>
            <a:prstDash val="solid"/>
          </a:ln>
        </p:spPr>
      </p:sp>
      <p:sp>
        <p:nvSpPr>
          <p:cNvPr id="49" name="Shape 46"/>
          <p:cNvSpPr/>
          <p:nvPr/>
        </p:nvSpPr>
        <p:spPr>
          <a:xfrm>
            <a:off x="4681728" y="4645152"/>
            <a:ext cx="246888" cy="310896"/>
          </a:xfrm>
          <a:prstGeom prst="rect">
            <a:avLst/>
          </a:prstGeom>
          <a:solidFill>
            <a:schemeClr val="accent3"/>
          </a:solidFill>
          <a:ln w="6350">
            <a:solidFill>
              <a:schemeClr val="accent3"/>
            </a:solidFill>
            <a:prstDash val="solid"/>
          </a:ln>
        </p:spPr>
      </p:sp>
      <p:sp>
        <p:nvSpPr>
          <p:cNvPr id="50" name="Shape 47"/>
          <p:cNvSpPr/>
          <p:nvPr/>
        </p:nvSpPr>
        <p:spPr>
          <a:xfrm>
            <a:off x="4983480" y="4645152"/>
            <a:ext cx="246888" cy="310896"/>
          </a:xfrm>
          <a:prstGeom prst="rect">
            <a:avLst/>
          </a:prstGeom>
          <a:solidFill>
            <a:schemeClr val="accent1"/>
          </a:solidFill>
          <a:ln w="6350">
            <a:solidFill>
              <a:schemeClr val="accent1"/>
            </a:solidFill>
            <a:prstDash val="solid"/>
          </a:ln>
        </p:spPr>
      </p:sp>
      <p:sp>
        <p:nvSpPr>
          <p:cNvPr id="51" name="Shape 48"/>
          <p:cNvSpPr/>
          <p:nvPr/>
        </p:nvSpPr>
        <p:spPr>
          <a:xfrm>
            <a:off x="5285232" y="4645152"/>
            <a:ext cx="246888" cy="310896"/>
          </a:xfrm>
          <a:prstGeom prst="rect">
            <a:avLst/>
          </a:prstGeom>
          <a:solidFill>
            <a:schemeClr val="accent4"/>
          </a:solidFill>
          <a:ln w="6350">
            <a:solidFill>
              <a:schemeClr val="accent4"/>
            </a:solidFill>
            <a:prstDash val="solid"/>
          </a:ln>
        </p:spPr>
      </p:sp>
      <p:sp>
        <p:nvSpPr>
          <p:cNvPr id="52" name="Shape 49"/>
          <p:cNvSpPr/>
          <p:nvPr/>
        </p:nvSpPr>
        <p:spPr>
          <a:xfrm>
            <a:off x="6126480" y="2926080"/>
            <a:ext cx="5029200" cy="2286000"/>
          </a:xfrm>
          <a:prstGeom prst="roundRect">
            <a:avLst>
              <a:gd name="adj" fmla="val 48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3" name="Text 50"/>
          <p:cNvSpPr txBox="1"/>
          <p:nvPr/>
        </p:nvSpPr>
        <p:spPr>
          <a:xfrm>
            <a:off x="6400800" y="3063240"/>
            <a:ext cx="4480560" cy="365760"/>
          </a:xfrm>
          <a:prstGeom prst="rect">
            <a:avLst/>
          </a:prstGeom>
          <a:noFill/>
          <a:ln/>
        </p:spPr>
        <p:txBody>
          <a:bodyPr wrap="square" lIns="0" tIns="0" rIns="0" bIns="0" rtlCol="0" anchor="t"/>
          <a:lstStyle/>
          <a:p>
            <a:pPr indent="0" marL="0">
              <a:buNone/>
            </a:pPr>
            <a:r>
              <a:rPr lang="en-US" sz="1800" b="1" dirty="0">
                <a:solidFill>
                  <a:schemeClr val="accent2"/>
                </a:solidFill>
              </a:rPr>
              <a:t>✓ Por secuencia de video</a:t>
            </a:r>
            <a:endParaRPr lang="en-US" sz="1800" dirty="0"/>
          </a:p>
        </p:txBody>
      </p:sp>
      <p:sp>
        <p:nvSpPr>
          <p:cNvPr id="54" name="Text 51"/>
          <p:cNvSpPr txBox="1"/>
          <p:nvPr/>
        </p:nvSpPr>
        <p:spPr>
          <a:xfrm>
            <a:off x="6400800" y="361188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1</a:t>
            </a:r>
            <a:endParaRPr lang="en-US" sz="1200" dirty="0"/>
          </a:p>
        </p:txBody>
      </p:sp>
      <p:sp>
        <p:nvSpPr>
          <p:cNvPr id="55" name="Shape 52"/>
          <p:cNvSpPr/>
          <p:nvPr/>
        </p:nvSpPr>
        <p:spPr>
          <a:xfrm>
            <a:off x="7269480" y="3639312"/>
            <a:ext cx="246888" cy="310896"/>
          </a:xfrm>
          <a:prstGeom prst="rect">
            <a:avLst/>
          </a:prstGeom>
          <a:solidFill>
            <a:schemeClr val="accent1"/>
          </a:solidFill>
          <a:ln w="6350">
            <a:solidFill>
              <a:schemeClr val="accent1"/>
            </a:solidFill>
            <a:prstDash val="solid"/>
          </a:ln>
        </p:spPr>
      </p:sp>
      <p:sp>
        <p:nvSpPr>
          <p:cNvPr id="56" name="Shape 53"/>
          <p:cNvSpPr/>
          <p:nvPr/>
        </p:nvSpPr>
        <p:spPr>
          <a:xfrm>
            <a:off x="7571232" y="3639312"/>
            <a:ext cx="246888" cy="310896"/>
          </a:xfrm>
          <a:prstGeom prst="rect">
            <a:avLst/>
          </a:prstGeom>
          <a:solidFill>
            <a:schemeClr val="accent1"/>
          </a:solidFill>
          <a:ln w="6350">
            <a:solidFill>
              <a:schemeClr val="accent1"/>
            </a:solidFill>
            <a:prstDash val="solid"/>
          </a:ln>
        </p:spPr>
      </p:sp>
      <p:sp>
        <p:nvSpPr>
          <p:cNvPr id="57" name="Shape 54"/>
          <p:cNvSpPr/>
          <p:nvPr/>
        </p:nvSpPr>
        <p:spPr>
          <a:xfrm>
            <a:off x="7872984" y="3639312"/>
            <a:ext cx="246888" cy="310896"/>
          </a:xfrm>
          <a:prstGeom prst="rect">
            <a:avLst/>
          </a:prstGeom>
          <a:solidFill>
            <a:schemeClr val="accent1"/>
          </a:solidFill>
          <a:ln w="6350">
            <a:solidFill>
              <a:schemeClr val="accent1"/>
            </a:solidFill>
            <a:prstDash val="solid"/>
          </a:ln>
        </p:spPr>
      </p:sp>
      <p:sp>
        <p:nvSpPr>
          <p:cNvPr id="58" name="Shape 55"/>
          <p:cNvSpPr/>
          <p:nvPr/>
        </p:nvSpPr>
        <p:spPr>
          <a:xfrm>
            <a:off x="8174736" y="3639312"/>
            <a:ext cx="246888" cy="310896"/>
          </a:xfrm>
          <a:prstGeom prst="rect">
            <a:avLst/>
          </a:prstGeom>
          <a:solidFill>
            <a:schemeClr val="accent1"/>
          </a:solidFill>
          <a:ln w="6350">
            <a:solidFill>
              <a:schemeClr val="accent1"/>
            </a:solidFill>
            <a:prstDash val="solid"/>
          </a:ln>
        </p:spPr>
      </p:sp>
      <p:sp>
        <p:nvSpPr>
          <p:cNvPr id="59" name="Shape 56"/>
          <p:cNvSpPr/>
          <p:nvPr/>
        </p:nvSpPr>
        <p:spPr>
          <a:xfrm>
            <a:off x="8476488" y="3639312"/>
            <a:ext cx="246888" cy="310896"/>
          </a:xfrm>
          <a:prstGeom prst="rect">
            <a:avLst/>
          </a:prstGeom>
          <a:solidFill>
            <a:schemeClr val="accent1"/>
          </a:solidFill>
          <a:ln w="6350">
            <a:solidFill>
              <a:schemeClr val="accent1"/>
            </a:solidFill>
            <a:prstDash val="solid"/>
          </a:ln>
        </p:spPr>
      </p:sp>
      <p:sp>
        <p:nvSpPr>
          <p:cNvPr id="60" name="Shape 57"/>
          <p:cNvSpPr/>
          <p:nvPr/>
        </p:nvSpPr>
        <p:spPr>
          <a:xfrm>
            <a:off x="8778240" y="3639312"/>
            <a:ext cx="246888" cy="310896"/>
          </a:xfrm>
          <a:prstGeom prst="rect">
            <a:avLst/>
          </a:prstGeom>
          <a:solidFill>
            <a:schemeClr val="accent1"/>
          </a:solidFill>
          <a:ln w="6350">
            <a:solidFill>
              <a:schemeClr val="accent1"/>
            </a:solidFill>
            <a:prstDash val="solid"/>
          </a:ln>
        </p:spPr>
      </p:sp>
      <p:sp>
        <p:nvSpPr>
          <p:cNvPr id="61" name="Shape 58"/>
          <p:cNvSpPr/>
          <p:nvPr/>
        </p:nvSpPr>
        <p:spPr>
          <a:xfrm>
            <a:off x="9079992" y="3639312"/>
            <a:ext cx="246888" cy="310896"/>
          </a:xfrm>
          <a:prstGeom prst="rect">
            <a:avLst/>
          </a:prstGeom>
          <a:solidFill>
            <a:schemeClr val="accent1"/>
          </a:solidFill>
          <a:ln w="6350">
            <a:solidFill>
              <a:schemeClr val="accent1"/>
            </a:solidFill>
            <a:prstDash val="solid"/>
          </a:ln>
        </p:spPr>
      </p:sp>
      <p:sp>
        <p:nvSpPr>
          <p:cNvPr id="62" name="Shape 59"/>
          <p:cNvSpPr/>
          <p:nvPr/>
        </p:nvSpPr>
        <p:spPr>
          <a:xfrm>
            <a:off x="9381744" y="3639312"/>
            <a:ext cx="246888" cy="310896"/>
          </a:xfrm>
          <a:prstGeom prst="rect">
            <a:avLst/>
          </a:prstGeom>
          <a:solidFill>
            <a:schemeClr val="accent1"/>
          </a:solidFill>
          <a:ln w="6350">
            <a:solidFill>
              <a:schemeClr val="accent1"/>
            </a:solidFill>
            <a:prstDash val="solid"/>
          </a:ln>
        </p:spPr>
      </p:sp>
      <p:sp>
        <p:nvSpPr>
          <p:cNvPr id="63" name="Shape 60"/>
          <p:cNvSpPr/>
          <p:nvPr/>
        </p:nvSpPr>
        <p:spPr>
          <a:xfrm>
            <a:off x="9683496" y="3639312"/>
            <a:ext cx="246888" cy="310896"/>
          </a:xfrm>
          <a:prstGeom prst="rect">
            <a:avLst/>
          </a:prstGeom>
          <a:solidFill>
            <a:schemeClr val="accent1"/>
          </a:solidFill>
          <a:ln w="6350">
            <a:solidFill>
              <a:schemeClr val="accent1"/>
            </a:solidFill>
            <a:prstDash val="solid"/>
          </a:ln>
        </p:spPr>
      </p:sp>
      <p:sp>
        <p:nvSpPr>
          <p:cNvPr id="64" name="Shape 61"/>
          <p:cNvSpPr/>
          <p:nvPr/>
        </p:nvSpPr>
        <p:spPr>
          <a:xfrm>
            <a:off x="9985248" y="3639312"/>
            <a:ext cx="246888" cy="310896"/>
          </a:xfrm>
          <a:prstGeom prst="rect">
            <a:avLst/>
          </a:prstGeom>
          <a:solidFill>
            <a:schemeClr val="accent1"/>
          </a:solidFill>
          <a:ln w="6350">
            <a:solidFill>
              <a:schemeClr val="accent1"/>
            </a:solidFill>
            <a:prstDash val="solid"/>
          </a:ln>
        </p:spPr>
      </p:sp>
      <p:sp>
        <p:nvSpPr>
          <p:cNvPr id="65" name="Shape 62"/>
          <p:cNvSpPr/>
          <p:nvPr/>
        </p:nvSpPr>
        <p:spPr>
          <a:xfrm>
            <a:off x="10287000" y="3639312"/>
            <a:ext cx="246888" cy="310896"/>
          </a:xfrm>
          <a:prstGeom prst="rect">
            <a:avLst/>
          </a:prstGeom>
          <a:solidFill>
            <a:schemeClr val="accent1"/>
          </a:solidFill>
          <a:ln w="6350">
            <a:solidFill>
              <a:schemeClr val="accent1"/>
            </a:solidFill>
            <a:prstDash val="solid"/>
          </a:ln>
        </p:spPr>
      </p:sp>
      <p:sp>
        <p:nvSpPr>
          <p:cNvPr id="66" name="Shape 63"/>
          <p:cNvSpPr/>
          <p:nvPr/>
        </p:nvSpPr>
        <p:spPr>
          <a:xfrm>
            <a:off x="10588752" y="3639312"/>
            <a:ext cx="246888" cy="310896"/>
          </a:xfrm>
          <a:prstGeom prst="rect">
            <a:avLst/>
          </a:prstGeom>
          <a:solidFill>
            <a:schemeClr val="accent1"/>
          </a:solidFill>
          <a:ln w="6350">
            <a:solidFill>
              <a:schemeClr val="accent1"/>
            </a:solidFill>
            <a:prstDash val="solid"/>
          </a:ln>
        </p:spPr>
      </p:sp>
      <p:sp>
        <p:nvSpPr>
          <p:cNvPr id="67" name="Text 64"/>
          <p:cNvSpPr txBox="1"/>
          <p:nvPr/>
        </p:nvSpPr>
        <p:spPr>
          <a:xfrm>
            <a:off x="6400800" y="411480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2</a:t>
            </a:r>
            <a:endParaRPr lang="en-US" sz="1200" dirty="0"/>
          </a:p>
        </p:txBody>
      </p:sp>
      <p:sp>
        <p:nvSpPr>
          <p:cNvPr id="68" name="Shape 65"/>
          <p:cNvSpPr/>
          <p:nvPr/>
        </p:nvSpPr>
        <p:spPr>
          <a:xfrm>
            <a:off x="7269480" y="4142232"/>
            <a:ext cx="246888" cy="310896"/>
          </a:xfrm>
          <a:prstGeom prst="rect">
            <a:avLst/>
          </a:prstGeom>
          <a:solidFill>
            <a:schemeClr val="accent1"/>
          </a:solidFill>
          <a:ln w="6350">
            <a:solidFill>
              <a:schemeClr val="accent1"/>
            </a:solidFill>
            <a:prstDash val="solid"/>
          </a:ln>
        </p:spPr>
      </p:sp>
      <p:sp>
        <p:nvSpPr>
          <p:cNvPr id="69" name="Shape 66"/>
          <p:cNvSpPr/>
          <p:nvPr/>
        </p:nvSpPr>
        <p:spPr>
          <a:xfrm>
            <a:off x="7571232" y="4142232"/>
            <a:ext cx="246888" cy="310896"/>
          </a:xfrm>
          <a:prstGeom prst="rect">
            <a:avLst/>
          </a:prstGeom>
          <a:solidFill>
            <a:schemeClr val="accent1"/>
          </a:solidFill>
          <a:ln w="6350">
            <a:solidFill>
              <a:schemeClr val="accent1"/>
            </a:solidFill>
            <a:prstDash val="solid"/>
          </a:ln>
        </p:spPr>
      </p:sp>
      <p:sp>
        <p:nvSpPr>
          <p:cNvPr id="70" name="Shape 67"/>
          <p:cNvSpPr/>
          <p:nvPr/>
        </p:nvSpPr>
        <p:spPr>
          <a:xfrm>
            <a:off x="7872984" y="4142232"/>
            <a:ext cx="246888" cy="310896"/>
          </a:xfrm>
          <a:prstGeom prst="rect">
            <a:avLst/>
          </a:prstGeom>
          <a:solidFill>
            <a:schemeClr val="accent1"/>
          </a:solidFill>
          <a:ln w="6350">
            <a:solidFill>
              <a:schemeClr val="accent1"/>
            </a:solidFill>
            <a:prstDash val="solid"/>
          </a:ln>
        </p:spPr>
      </p:sp>
      <p:sp>
        <p:nvSpPr>
          <p:cNvPr id="71" name="Shape 68"/>
          <p:cNvSpPr/>
          <p:nvPr/>
        </p:nvSpPr>
        <p:spPr>
          <a:xfrm>
            <a:off x="8174736" y="4142232"/>
            <a:ext cx="246888" cy="310896"/>
          </a:xfrm>
          <a:prstGeom prst="rect">
            <a:avLst/>
          </a:prstGeom>
          <a:solidFill>
            <a:schemeClr val="accent1"/>
          </a:solidFill>
          <a:ln w="6350">
            <a:solidFill>
              <a:schemeClr val="accent1"/>
            </a:solidFill>
            <a:prstDash val="solid"/>
          </a:ln>
        </p:spPr>
      </p:sp>
      <p:sp>
        <p:nvSpPr>
          <p:cNvPr id="72" name="Shape 69"/>
          <p:cNvSpPr/>
          <p:nvPr/>
        </p:nvSpPr>
        <p:spPr>
          <a:xfrm>
            <a:off x="8476488" y="4142232"/>
            <a:ext cx="246888" cy="310896"/>
          </a:xfrm>
          <a:prstGeom prst="rect">
            <a:avLst/>
          </a:prstGeom>
          <a:solidFill>
            <a:schemeClr val="accent1"/>
          </a:solidFill>
          <a:ln w="6350">
            <a:solidFill>
              <a:schemeClr val="accent1"/>
            </a:solidFill>
            <a:prstDash val="solid"/>
          </a:ln>
        </p:spPr>
      </p:sp>
      <p:sp>
        <p:nvSpPr>
          <p:cNvPr id="73" name="Shape 70"/>
          <p:cNvSpPr/>
          <p:nvPr/>
        </p:nvSpPr>
        <p:spPr>
          <a:xfrm>
            <a:off x="8778240" y="4142232"/>
            <a:ext cx="246888" cy="310896"/>
          </a:xfrm>
          <a:prstGeom prst="rect">
            <a:avLst/>
          </a:prstGeom>
          <a:solidFill>
            <a:schemeClr val="accent1"/>
          </a:solidFill>
          <a:ln w="6350">
            <a:solidFill>
              <a:schemeClr val="accent1"/>
            </a:solidFill>
            <a:prstDash val="solid"/>
          </a:ln>
        </p:spPr>
      </p:sp>
      <p:sp>
        <p:nvSpPr>
          <p:cNvPr id="74" name="Shape 71"/>
          <p:cNvSpPr/>
          <p:nvPr/>
        </p:nvSpPr>
        <p:spPr>
          <a:xfrm>
            <a:off x="9079992" y="4142232"/>
            <a:ext cx="246888" cy="310896"/>
          </a:xfrm>
          <a:prstGeom prst="rect">
            <a:avLst/>
          </a:prstGeom>
          <a:solidFill>
            <a:schemeClr val="accent1"/>
          </a:solidFill>
          <a:ln w="6350">
            <a:solidFill>
              <a:schemeClr val="accent1"/>
            </a:solidFill>
            <a:prstDash val="solid"/>
          </a:ln>
        </p:spPr>
      </p:sp>
      <p:sp>
        <p:nvSpPr>
          <p:cNvPr id="75" name="Shape 72"/>
          <p:cNvSpPr/>
          <p:nvPr/>
        </p:nvSpPr>
        <p:spPr>
          <a:xfrm>
            <a:off x="9381744" y="4142232"/>
            <a:ext cx="246888" cy="310896"/>
          </a:xfrm>
          <a:prstGeom prst="rect">
            <a:avLst/>
          </a:prstGeom>
          <a:solidFill>
            <a:schemeClr val="accent1"/>
          </a:solidFill>
          <a:ln w="6350">
            <a:solidFill>
              <a:schemeClr val="accent1"/>
            </a:solidFill>
            <a:prstDash val="solid"/>
          </a:ln>
        </p:spPr>
      </p:sp>
      <p:sp>
        <p:nvSpPr>
          <p:cNvPr id="76" name="Shape 73"/>
          <p:cNvSpPr/>
          <p:nvPr/>
        </p:nvSpPr>
        <p:spPr>
          <a:xfrm>
            <a:off x="9683496" y="4142232"/>
            <a:ext cx="246888" cy="310896"/>
          </a:xfrm>
          <a:prstGeom prst="rect">
            <a:avLst/>
          </a:prstGeom>
          <a:solidFill>
            <a:schemeClr val="accent1"/>
          </a:solidFill>
          <a:ln w="6350">
            <a:solidFill>
              <a:schemeClr val="accent1"/>
            </a:solidFill>
            <a:prstDash val="solid"/>
          </a:ln>
        </p:spPr>
      </p:sp>
      <p:sp>
        <p:nvSpPr>
          <p:cNvPr id="77" name="Shape 74"/>
          <p:cNvSpPr/>
          <p:nvPr/>
        </p:nvSpPr>
        <p:spPr>
          <a:xfrm>
            <a:off x="9985248" y="4142232"/>
            <a:ext cx="246888" cy="310896"/>
          </a:xfrm>
          <a:prstGeom prst="rect">
            <a:avLst/>
          </a:prstGeom>
          <a:solidFill>
            <a:schemeClr val="accent1"/>
          </a:solidFill>
          <a:ln w="6350">
            <a:solidFill>
              <a:schemeClr val="accent1"/>
            </a:solidFill>
            <a:prstDash val="solid"/>
          </a:ln>
        </p:spPr>
      </p:sp>
      <p:sp>
        <p:nvSpPr>
          <p:cNvPr id="78" name="Shape 75"/>
          <p:cNvSpPr/>
          <p:nvPr/>
        </p:nvSpPr>
        <p:spPr>
          <a:xfrm>
            <a:off x="10287000" y="4142232"/>
            <a:ext cx="246888" cy="310896"/>
          </a:xfrm>
          <a:prstGeom prst="rect">
            <a:avLst/>
          </a:prstGeom>
          <a:solidFill>
            <a:schemeClr val="accent1"/>
          </a:solidFill>
          <a:ln w="6350">
            <a:solidFill>
              <a:schemeClr val="accent1"/>
            </a:solidFill>
            <a:prstDash val="solid"/>
          </a:ln>
        </p:spPr>
      </p:sp>
      <p:sp>
        <p:nvSpPr>
          <p:cNvPr id="79" name="Shape 76"/>
          <p:cNvSpPr/>
          <p:nvPr/>
        </p:nvSpPr>
        <p:spPr>
          <a:xfrm>
            <a:off x="10588752" y="4142232"/>
            <a:ext cx="246888" cy="310896"/>
          </a:xfrm>
          <a:prstGeom prst="rect">
            <a:avLst/>
          </a:prstGeom>
          <a:solidFill>
            <a:schemeClr val="accent1"/>
          </a:solidFill>
          <a:ln w="6350">
            <a:solidFill>
              <a:schemeClr val="accent1"/>
            </a:solidFill>
            <a:prstDash val="solid"/>
          </a:ln>
        </p:spPr>
      </p:sp>
      <p:sp>
        <p:nvSpPr>
          <p:cNvPr id="80" name="Text 77"/>
          <p:cNvSpPr txBox="1"/>
          <p:nvPr/>
        </p:nvSpPr>
        <p:spPr>
          <a:xfrm>
            <a:off x="6400800" y="4617720"/>
            <a:ext cx="822960" cy="365760"/>
          </a:xfrm>
          <a:prstGeom prst="rect">
            <a:avLst/>
          </a:prstGeom>
          <a:noFill/>
          <a:ln/>
        </p:spPr>
        <p:txBody>
          <a:bodyPr wrap="square" lIns="0" tIns="0" rIns="0" bIns="0" rtlCol="0" anchor="ctr"/>
          <a:lstStyle/>
          <a:p>
            <a:pPr indent="0" marL="0">
              <a:buNone/>
            </a:pPr>
            <a:r>
              <a:rPr lang="en-US" sz="1200" dirty="0">
                <a:solidFill>
                  <a:schemeClr val="tx2"/>
                </a:solidFill>
              </a:rPr>
              <a:t>Video 3</a:t>
            </a:r>
            <a:endParaRPr lang="en-US" sz="1200" dirty="0"/>
          </a:p>
        </p:txBody>
      </p:sp>
      <p:sp>
        <p:nvSpPr>
          <p:cNvPr id="81" name="Shape 78"/>
          <p:cNvSpPr/>
          <p:nvPr/>
        </p:nvSpPr>
        <p:spPr>
          <a:xfrm>
            <a:off x="7269480" y="4645152"/>
            <a:ext cx="246888" cy="310896"/>
          </a:xfrm>
          <a:prstGeom prst="rect">
            <a:avLst/>
          </a:prstGeom>
          <a:solidFill>
            <a:schemeClr val="accent3"/>
          </a:solidFill>
          <a:ln w="6350">
            <a:solidFill>
              <a:schemeClr val="accent3"/>
            </a:solidFill>
            <a:prstDash val="solid"/>
          </a:ln>
        </p:spPr>
      </p:sp>
      <p:sp>
        <p:nvSpPr>
          <p:cNvPr id="82" name="Shape 79"/>
          <p:cNvSpPr/>
          <p:nvPr/>
        </p:nvSpPr>
        <p:spPr>
          <a:xfrm>
            <a:off x="7571232" y="4645152"/>
            <a:ext cx="246888" cy="310896"/>
          </a:xfrm>
          <a:prstGeom prst="rect">
            <a:avLst/>
          </a:prstGeom>
          <a:solidFill>
            <a:schemeClr val="accent3"/>
          </a:solidFill>
          <a:ln w="6350">
            <a:solidFill>
              <a:schemeClr val="accent3"/>
            </a:solidFill>
            <a:prstDash val="solid"/>
          </a:ln>
        </p:spPr>
      </p:sp>
      <p:sp>
        <p:nvSpPr>
          <p:cNvPr id="83" name="Shape 80"/>
          <p:cNvSpPr/>
          <p:nvPr/>
        </p:nvSpPr>
        <p:spPr>
          <a:xfrm>
            <a:off x="7872984" y="4645152"/>
            <a:ext cx="246888" cy="310896"/>
          </a:xfrm>
          <a:prstGeom prst="rect">
            <a:avLst/>
          </a:prstGeom>
          <a:solidFill>
            <a:schemeClr val="accent3"/>
          </a:solidFill>
          <a:ln w="6350">
            <a:solidFill>
              <a:schemeClr val="accent3"/>
            </a:solidFill>
            <a:prstDash val="solid"/>
          </a:ln>
        </p:spPr>
      </p:sp>
      <p:sp>
        <p:nvSpPr>
          <p:cNvPr id="84" name="Shape 81"/>
          <p:cNvSpPr/>
          <p:nvPr/>
        </p:nvSpPr>
        <p:spPr>
          <a:xfrm>
            <a:off x="8174736" y="4645152"/>
            <a:ext cx="246888" cy="310896"/>
          </a:xfrm>
          <a:prstGeom prst="rect">
            <a:avLst/>
          </a:prstGeom>
          <a:solidFill>
            <a:schemeClr val="accent3"/>
          </a:solidFill>
          <a:ln w="6350">
            <a:solidFill>
              <a:schemeClr val="accent3"/>
            </a:solidFill>
            <a:prstDash val="solid"/>
          </a:ln>
        </p:spPr>
      </p:sp>
      <p:sp>
        <p:nvSpPr>
          <p:cNvPr id="85" name="Shape 82"/>
          <p:cNvSpPr/>
          <p:nvPr/>
        </p:nvSpPr>
        <p:spPr>
          <a:xfrm>
            <a:off x="8476488" y="4645152"/>
            <a:ext cx="246888" cy="310896"/>
          </a:xfrm>
          <a:prstGeom prst="rect">
            <a:avLst/>
          </a:prstGeom>
          <a:solidFill>
            <a:schemeClr val="accent3"/>
          </a:solidFill>
          <a:ln w="6350">
            <a:solidFill>
              <a:schemeClr val="accent3"/>
            </a:solidFill>
            <a:prstDash val="solid"/>
          </a:ln>
        </p:spPr>
      </p:sp>
      <p:sp>
        <p:nvSpPr>
          <p:cNvPr id="86" name="Shape 83"/>
          <p:cNvSpPr/>
          <p:nvPr/>
        </p:nvSpPr>
        <p:spPr>
          <a:xfrm>
            <a:off x="8778240" y="4645152"/>
            <a:ext cx="246888" cy="310896"/>
          </a:xfrm>
          <a:prstGeom prst="rect">
            <a:avLst/>
          </a:prstGeom>
          <a:solidFill>
            <a:schemeClr val="accent3"/>
          </a:solidFill>
          <a:ln w="6350">
            <a:solidFill>
              <a:schemeClr val="accent3"/>
            </a:solidFill>
            <a:prstDash val="solid"/>
          </a:ln>
        </p:spPr>
      </p:sp>
      <p:sp>
        <p:nvSpPr>
          <p:cNvPr id="87" name="Shape 84"/>
          <p:cNvSpPr/>
          <p:nvPr/>
        </p:nvSpPr>
        <p:spPr>
          <a:xfrm>
            <a:off x="9079992" y="4645152"/>
            <a:ext cx="246888" cy="310896"/>
          </a:xfrm>
          <a:prstGeom prst="rect">
            <a:avLst/>
          </a:prstGeom>
          <a:solidFill>
            <a:schemeClr val="accent3"/>
          </a:solidFill>
          <a:ln w="6350">
            <a:solidFill>
              <a:schemeClr val="accent3"/>
            </a:solidFill>
            <a:prstDash val="solid"/>
          </a:ln>
        </p:spPr>
      </p:sp>
      <p:sp>
        <p:nvSpPr>
          <p:cNvPr id="88" name="Shape 85"/>
          <p:cNvSpPr/>
          <p:nvPr/>
        </p:nvSpPr>
        <p:spPr>
          <a:xfrm>
            <a:off x="9381744" y="4645152"/>
            <a:ext cx="246888" cy="310896"/>
          </a:xfrm>
          <a:prstGeom prst="rect">
            <a:avLst/>
          </a:prstGeom>
          <a:solidFill>
            <a:schemeClr val="accent3"/>
          </a:solidFill>
          <a:ln w="6350">
            <a:solidFill>
              <a:schemeClr val="accent3"/>
            </a:solidFill>
            <a:prstDash val="solid"/>
          </a:ln>
        </p:spPr>
      </p:sp>
      <p:sp>
        <p:nvSpPr>
          <p:cNvPr id="89" name="Shape 86"/>
          <p:cNvSpPr/>
          <p:nvPr/>
        </p:nvSpPr>
        <p:spPr>
          <a:xfrm>
            <a:off x="9683496" y="4645152"/>
            <a:ext cx="246888" cy="310896"/>
          </a:xfrm>
          <a:prstGeom prst="rect">
            <a:avLst/>
          </a:prstGeom>
          <a:solidFill>
            <a:schemeClr val="accent3"/>
          </a:solidFill>
          <a:ln w="6350">
            <a:solidFill>
              <a:schemeClr val="accent3"/>
            </a:solidFill>
            <a:prstDash val="solid"/>
          </a:ln>
        </p:spPr>
      </p:sp>
      <p:sp>
        <p:nvSpPr>
          <p:cNvPr id="90" name="Shape 87"/>
          <p:cNvSpPr/>
          <p:nvPr/>
        </p:nvSpPr>
        <p:spPr>
          <a:xfrm>
            <a:off x="9985248" y="4645152"/>
            <a:ext cx="246888" cy="310896"/>
          </a:xfrm>
          <a:prstGeom prst="rect">
            <a:avLst/>
          </a:prstGeom>
          <a:solidFill>
            <a:schemeClr val="accent3"/>
          </a:solidFill>
          <a:ln w="6350">
            <a:solidFill>
              <a:schemeClr val="accent3"/>
            </a:solidFill>
            <a:prstDash val="solid"/>
          </a:ln>
        </p:spPr>
      </p:sp>
      <p:sp>
        <p:nvSpPr>
          <p:cNvPr id="91" name="Shape 88"/>
          <p:cNvSpPr/>
          <p:nvPr/>
        </p:nvSpPr>
        <p:spPr>
          <a:xfrm>
            <a:off x="10287000" y="4645152"/>
            <a:ext cx="246888" cy="310896"/>
          </a:xfrm>
          <a:prstGeom prst="rect">
            <a:avLst/>
          </a:prstGeom>
          <a:solidFill>
            <a:schemeClr val="accent3"/>
          </a:solidFill>
          <a:ln w="6350">
            <a:solidFill>
              <a:schemeClr val="accent3"/>
            </a:solidFill>
            <a:prstDash val="solid"/>
          </a:ln>
        </p:spPr>
      </p:sp>
      <p:sp>
        <p:nvSpPr>
          <p:cNvPr id="92" name="Shape 89"/>
          <p:cNvSpPr/>
          <p:nvPr/>
        </p:nvSpPr>
        <p:spPr>
          <a:xfrm>
            <a:off x="10588752" y="4645152"/>
            <a:ext cx="246888" cy="310896"/>
          </a:xfrm>
          <a:prstGeom prst="rect">
            <a:avLst/>
          </a:prstGeom>
          <a:solidFill>
            <a:schemeClr val="accent3"/>
          </a:solidFill>
          <a:ln w="6350">
            <a:solidFill>
              <a:schemeClr val="accent3"/>
            </a:solidFill>
            <a:prstDash val="solid"/>
          </a:ln>
        </p:spPr>
      </p:sp>
      <p:sp>
        <p:nvSpPr>
          <p:cNvPr id="93" name="Shape 90"/>
          <p:cNvSpPr/>
          <p:nvPr/>
        </p:nvSpPr>
        <p:spPr>
          <a:xfrm>
            <a:off x="822960" y="5394960"/>
            <a:ext cx="228600" cy="228600"/>
          </a:xfrm>
          <a:prstGeom prst="rect">
            <a:avLst/>
          </a:prstGeom>
          <a:solidFill>
            <a:schemeClr val="accent1"/>
          </a:solidFill>
          <a:ln w="6350">
            <a:solidFill>
              <a:schemeClr val="accent1"/>
            </a:solidFill>
            <a:prstDash val="solid"/>
          </a:ln>
        </p:spPr>
      </p:sp>
      <p:sp>
        <p:nvSpPr>
          <p:cNvPr id="94" name="Text 91"/>
          <p:cNvSpPr txBox="1"/>
          <p:nvPr/>
        </p:nvSpPr>
        <p:spPr>
          <a:xfrm>
            <a:off x="1143000" y="5349240"/>
            <a:ext cx="1097280" cy="320040"/>
          </a:xfrm>
          <a:prstGeom prst="rect">
            <a:avLst/>
          </a:prstGeom>
          <a:noFill/>
          <a:ln/>
        </p:spPr>
        <p:txBody>
          <a:bodyPr wrap="square" lIns="0" tIns="0" rIns="0" bIns="0" rtlCol="0" anchor="ctr"/>
          <a:lstStyle/>
          <a:p>
            <a:pPr indent="0" marL="0">
              <a:buNone/>
            </a:pPr>
            <a:r>
              <a:rPr lang="en-US" sz="1300" dirty="0">
                <a:solidFill>
                  <a:schemeClr val="tx1"/>
                </a:solidFill>
              </a:rPr>
              <a:t>Train</a:t>
            </a:r>
            <a:endParaRPr lang="en-US" sz="1300" dirty="0"/>
          </a:p>
        </p:txBody>
      </p:sp>
      <p:sp>
        <p:nvSpPr>
          <p:cNvPr id="95" name="Shape 92"/>
          <p:cNvSpPr/>
          <p:nvPr/>
        </p:nvSpPr>
        <p:spPr>
          <a:xfrm>
            <a:off x="2286000" y="5394960"/>
            <a:ext cx="228600" cy="228600"/>
          </a:xfrm>
          <a:prstGeom prst="rect">
            <a:avLst/>
          </a:prstGeom>
          <a:solidFill>
            <a:schemeClr val="accent3"/>
          </a:solidFill>
          <a:ln w="6350">
            <a:solidFill>
              <a:schemeClr val="accent3"/>
            </a:solidFill>
            <a:prstDash val="solid"/>
          </a:ln>
        </p:spPr>
      </p:sp>
      <p:sp>
        <p:nvSpPr>
          <p:cNvPr id="96" name="Text 93"/>
          <p:cNvSpPr txBox="1"/>
          <p:nvPr/>
        </p:nvSpPr>
        <p:spPr>
          <a:xfrm>
            <a:off x="2606040" y="5349240"/>
            <a:ext cx="1097280" cy="320040"/>
          </a:xfrm>
          <a:prstGeom prst="rect">
            <a:avLst/>
          </a:prstGeom>
          <a:noFill/>
          <a:ln/>
        </p:spPr>
        <p:txBody>
          <a:bodyPr wrap="square" lIns="0" tIns="0" rIns="0" bIns="0" rtlCol="0" anchor="ctr"/>
          <a:lstStyle/>
          <a:p>
            <a:pPr indent="0" marL="0">
              <a:buNone/>
            </a:pPr>
            <a:r>
              <a:rPr lang="en-US" sz="1300" dirty="0">
                <a:solidFill>
                  <a:schemeClr val="tx1"/>
                </a:solidFill>
              </a:rPr>
              <a:t>Val</a:t>
            </a:r>
            <a:endParaRPr lang="en-US" sz="1300" dirty="0"/>
          </a:p>
        </p:txBody>
      </p:sp>
      <p:sp>
        <p:nvSpPr>
          <p:cNvPr id="97" name="Shape 94"/>
          <p:cNvSpPr/>
          <p:nvPr/>
        </p:nvSpPr>
        <p:spPr>
          <a:xfrm>
            <a:off x="3749040" y="5394960"/>
            <a:ext cx="228600" cy="228600"/>
          </a:xfrm>
          <a:prstGeom prst="rect">
            <a:avLst/>
          </a:prstGeom>
          <a:solidFill>
            <a:schemeClr val="accent4"/>
          </a:solidFill>
          <a:ln w="6350">
            <a:solidFill>
              <a:schemeClr val="accent4"/>
            </a:solidFill>
            <a:prstDash val="solid"/>
          </a:ln>
        </p:spPr>
      </p:sp>
      <p:sp>
        <p:nvSpPr>
          <p:cNvPr id="98" name="Text 95"/>
          <p:cNvSpPr txBox="1"/>
          <p:nvPr/>
        </p:nvSpPr>
        <p:spPr>
          <a:xfrm>
            <a:off x="4069080" y="5349240"/>
            <a:ext cx="1097280" cy="320040"/>
          </a:xfrm>
          <a:prstGeom prst="rect">
            <a:avLst/>
          </a:prstGeom>
          <a:noFill/>
          <a:ln/>
        </p:spPr>
        <p:txBody>
          <a:bodyPr wrap="square" lIns="0" tIns="0" rIns="0" bIns="0" rtlCol="0" anchor="ctr"/>
          <a:lstStyle/>
          <a:p>
            <a:pPr indent="0" marL="0">
              <a:buNone/>
            </a:pPr>
            <a:r>
              <a:rPr lang="en-US" sz="1300" dirty="0">
                <a:solidFill>
                  <a:schemeClr val="tx1"/>
                </a:solidFill>
              </a:rPr>
              <a:t>Test</a:t>
            </a:r>
            <a:endParaRPr lang="en-US" sz="1300" dirty="0"/>
          </a:p>
        </p:txBody>
      </p:sp>
      <p:sp>
        <p:nvSpPr>
          <p:cNvPr id="99" name="Text 96"/>
          <p:cNvSpPr txBox="1"/>
          <p:nvPr/>
        </p:nvSpPr>
        <p:spPr>
          <a:xfrm>
            <a:off x="6126480" y="5349240"/>
            <a:ext cx="5029200" cy="320040"/>
          </a:xfrm>
          <a:prstGeom prst="rect">
            <a:avLst/>
          </a:prstGeom>
          <a:noFill/>
          <a:ln/>
        </p:spPr>
        <p:txBody>
          <a:bodyPr wrap="square" lIns="0" tIns="0" rIns="0" bIns="0" rtlCol="0" anchor="ctr"/>
          <a:lstStyle/>
          <a:p>
            <a:pPr indent="0" marL="0">
              <a:buNone/>
            </a:pPr>
            <a:r>
              <a:rPr lang="en-US" sz="1300" dirty="0">
                <a:solidFill>
                  <a:schemeClr val="tx2"/>
                </a:solidFill>
              </a:rPr>
              <a:t>Frames vecinos en dos conjuntos inflan las métricas (data leakage).</a:t>
            </a:r>
            <a:endParaRPr lang="en-US" sz="1300" dirty="0"/>
          </a:p>
        </p:txBody>
      </p:sp>
      <p:sp>
        <p:nvSpPr>
          <p:cNvPr id="100" name="Shape 97"/>
          <p:cNvSpPr/>
          <p:nvPr/>
        </p:nvSpPr>
        <p:spPr>
          <a:xfrm>
            <a:off x="822960" y="5760720"/>
            <a:ext cx="10332720" cy="411480"/>
          </a:xfrm>
          <a:prstGeom prst="roundRect">
            <a:avLst>
              <a:gd name="adj" fmla="val 22222"/>
            </a:avLst>
          </a:prstGeom>
          <a:solidFill>
            <a:schemeClr val="bg2"/>
          </a:solidFill>
          <a:ln w="9525">
            <a:solidFill>
              <a:schemeClr val="accent1"/>
            </a:solidFill>
            <a:prstDash val="solid"/>
          </a:ln>
        </p:spPr>
      </p:sp>
      <p:sp>
        <p:nvSpPr>
          <p:cNvPr id="101" name="Text 98"/>
          <p:cNvSpPr txBox="1"/>
          <p:nvPr/>
        </p:nvSpPr>
        <p:spPr>
          <a:xfrm>
            <a:off x="1005840" y="5760720"/>
            <a:ext cx="9966960" cy="411480"/>
          </a:xfrm>
          <a:prstGeom prst="rect">
            <a:avLst/>
          </a:prstGeom>
          <a:noFill/>
          <a:ln/>
        </p:spPr>
        <p:txBody>
          <a:bodyPr wrap="square" lIns="0" tIns="0" rIns="0" bIns="0" rtlCol="0" anchor="ctr"/>
          <a:lstStyle/>
          <a:p>
            <a:pPr indent="0" marL="0">
              <a:buNone/>
            </a:pPr>
            <a:r>
              <a:rPr lang="en-US" sz="1400" b="1" dirty="0">
                <a:solidFill>
                  <a:schemeClr val="tx1"/>
                </a:solidFill>
              </a:rPr>
              <a:t>Por eso las métricas de prueba son honestas: el modelo nunca vio esas secuencias.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Entrenamiento</a:t>
            </a:r>
            <a:endParaRPr lang="en-US" sz="3000" dirty="0"/>
          </a:p>
        </p:txBody>
      </p:sp>
      <p:sp>
        <p:nvSpPr>
          <p:cNvPr id="4" name="Shape 1"/>
          <p:cNvSpPr/>
          <p:nvPr/>
        </p:nvSpPr>
        <p:spPr>
          <a:xfrm>
            <a:off x="822960" y="137160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822960" y="146304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YOLO11s</a:t>
            </a:r>
            <a:endParaRPr lang="en-US" sz="2600" dirty="0"/>
          </a:p>
        </p:txBody>
      </p:sp>
      <p:sp>
        <p:nvSpPr>
          <p:cNvPr id="6" name="Text 3"/>
          <p:cNvSpPr txBox="1"/>
          <p:nvPr/>
        </p:nvSpPr>
        <p:spPr>
          <a:xfrm>
            <a:off x="822960" y="205740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ganó el bake-off</a:t>
            </a:r>
            <a:endParaRPr lang="en-US" sz="1300" dirty="0"/>
          </a:p>
        </p:txBody>
      </p:sp>
      <p:sp>
        <p:nvSpPr>
          <p:cNvPr id="7" name="Shape 4"/>
          <p:cNvSpPr/>
          <p:nvPr/>
        </p:nvSpPr>
        <p:spPr>
          <a:xfrm>
            <a:off x="3429000" y="137160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3429000" y="146304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100</a:t>
            </a:r>
            <a:endParaRPr lang="en-US" sz="2600" dirty="0"/>
          </a:p>
        </p:txBody>
      </p:sp>
      <p:sp>
        <p:nvSpPr>
          <p:cNvPr id="9" name="Text 6"/>
          <p:cNvSpPr txBox="1"/>
          <p:nvPr/>
        </p:nvSpPr>
        <p:spPr>
          <a:xfrm>
            <a:off x="3429000" y="205740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épocas máximo</a:t>
            </a:r>
            <a:endParaRPr lang="en-US" sz="1300" dirty="0"/>
          </a:p>
        </p:txBody>
      </p:sp>
      <p:sp>
        <p:nvSpPr>
          <p:cNvPr id="10" name="Shape 7"/>
          <p:cNvSpPr/>
          <p:nvPr/>
        </p:nvSpPr>
        <p:spPr>
          <a:xfrm>
            <a:off x="822960" y="256032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822960" y="265176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16</a:t>
            </a:r>
            <a:endParaRPr lang="en-US" sz="2600" dirty="0"/>
          </a:p>
        </p:txBody>
      </p:sp>
      <p:sp>
        <p:nvSpPr>
          <p:cNvPr id="12" name="Text 9"/>
          <p:cNvSpPr txBox="1"/>
          <p:nvPr/>
        </p:nvSpPr>
        <p:spPr>
          <a:xfrm>
            <a:off x="822960" y="324612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tamaño de lote</a:t>
            </a:r>
            <a:endParaRPr lang="en-US" sz="1300" dirty="0"/>
          </a:p>
        </p:txBody>
      </p:sp>
      <p:sp>
        <p:nvSpPr>
          <p:cNvPr id="13" name="Shape 10"/>
          <p:cNvSpPr/>
          <p:nvPr/>
        </p:nvSpPr>
        <p:spPr>
          <a:xfrm>
            <a:off x="3429000" y="256032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3429000" y="265176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640 px</a:t>
            </a:r>
            <a:endParaRPr lang="en-US" sz="2600" dirty="0"/>
          </a:p>
        </p:txBody>
      </p:sp>
      <p:sp>
        <p:nvSpPr>
          <p:cNvPr id="15" name="Text 12"/>
          <p:cNvSpPr txBox="1"/>
          <p:nvPr/>
        </p:nvSpPr>
        <p:spPr>
          <a:xfrm>
            <a:off x="3429000" y="324612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tamaño de imagen</a:t>
            </a:r>
            <a:endParaRPr lang="en-US" sz="1300" dirty="0"/>
          </a:p>
        </p:txBody>
      </p:sp>
      <p:sp>
        <p:nvSpPr>
          <p:cNvPr id="16" name="Shape 13"/>
          <p:cNvSpPr/>
          <p:nvPr/>
        </p:nvSpPr>
        <p:spPr>
          <a:xfrm>
            <a:off x="822960" y="374904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7" name="Text 14"/>
          <p:cNvSpPr txBox="1"/>
          <p:nvPr/>
        </p:nvSpPr>
        <p:spPr>
          <a:xfrm>
            <a:off x="822960" y="384048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20</a:t>
            </a:r>
            <a:endParaRPr lang="en-US" sz="2600" dirty="0"/>
          </a:p>
        </p:txBody>
      </p:sp>
      <p:sp>
        <p:nvSpPr>
          <p:cNvPr id="18" name="Text 15"/>
          <p:cNvSpPr txBox="1"/>
          <p:nvPr/>
        </p:nvSpPr>
        <p:spPr>
          <a:xfrm>
            <a:off x="822960" y="443484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patience (parada)</a:t>
            </a:r>
            <a:endParaRPr lang="en-US" sz="1300" dirty="0"/>
          </a:p>
        </p:txBody>
      </p:sp>
      <p:sp>
        <p:nvSpPr>
          <p:cNvPr id="19" name="Shape 16"/>
          <p:cNvSpPr/>
          <p:nvPr/>
        </p:nvSpPr>
        <p:spPr>
          <a:xfrm>
            <a:off x="3429000" y="374904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0" name="Text 17"/>
          <p:cNvSpPr txBox="1"/>
          <p:nvPr/>
        </p:nvSpPr>
        <p:spPr>
          <a:xfrm>
            <a:off x="3429000" y="384048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0.01</a:t>
            </a:r>
            <a:endParaRPr lang="en-US" sz="2600" dirty="0"/>
          </a:p>
        </p:txBody>
      </p:sp>
      <p:sp>
        <p:nvSpPr>
          <p:cNvPr id="21" name="Text 18"/>
          <p:cNvSpPr txBox="1"/>
          <p:nvPr/>
        </p:nvSpPr>
        <p:spPr>
          <a:xfrm>
            <a:off x="3429000" y="443484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lr inicial (lr₀)</a:t>
            </a:r>
            <a:endParaRPr lang="en-US" sz="1300" dirty="0"/>
          </a:p>
        </p:txBody>
      </p:sp>
      <p:sp>
        <p:nvSpPr>
          <p:cNvPr id="22" name="Shape 19"/>
          <p:cNvSpPr/>
          <p:nvPr/>
        </p:nvSpPr>
        <p:spPr>
          <a:xfrm>
            <a:off x="822960" y="493776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3" name="Text 20"/>
          <p:cNvSpPr txBox="1"/>
          <p:nvPr/>
        </p:nvSpPr>
        <p:spPr>
          <a:xfrm>
            <a:off x="822960" y="502920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auto</a:t>
            </a:r>
            <a:endParaRPr lang="en-US" sz="2600" dirty="0"/>
          </a:p>
        </p:txBody>
      </p:sp>
      <p:sp>
        <p:nvSpPr>
          <p:cNvPr id="24" name="Text 21"/>
          <p:cNvSpPr txBox="1"/>
          <p:nvPr/>
        </p:nvSpPr>
        <p:spPr>
          <a:xfrm>
            <a:off x="822960" y="562356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optimizador Ultralytics</a:t>
            </a:r>
            <a:endParaRPr lang="en-US" sz="1300" dirty="0"/>
          </a:p>
        </p:txBody>
      </p:sp>
      <p:sp>
        <p:nvSpPr>
          <p:cNvPr id="25" name="Shape 22"/>
          <p:cNvSpPr/>
          <p:nvPr/>
        </p:nvSpPr>
        <p:spPr>
          <a:xfrm>
            <a:off x="3429000" y="4937760"/>
            <a:ext cx="2468880" cy="1051560"/>
          </a:xfrm>
          <a:prstGeom prst="roundRect">
            <a:avLst>
              <a:gd name="adj" fmla="val 10435"/>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26" name="Text 23"/>
          <p:cNvSpPr txBox="1"/>
          <p:nvPr/>
        </p:nvSpPr>
        <p:spPr>
          <a:xfrm>
            <a:off x="3429000" y="5029200"/>
            <a:ext cx="2468880" cy="594360"/>
          </a:xfrm>
          <a:prstGeom prst="rect">
            <a:avLst/>
          </a:prstGeom>
          <a:noFill/>
          <a:ln/>
        </p:spPr>
        <p:txBody>
          <a:bodyPr wrap="square" lIns="0" tIns="0" rIns="0" bIns="0" rtlCol="0" anchor="ctr"/>
          <a:lstStyle/>
          <a:p>
            <a:pPr algn="ctr" indent="0" marL="0">
              <a:buNone/>
            </a:pPr>
            <a:r>
              <a:rPr lang="en-US" sz="2600" b="1" dirty="0">
                <a:solidFill>
                  <a:schemeClr val="accent2"/>
                </a:solidFill>
              </a:rPr>
              <a:t>42</a:t>
            </a:r>
            <a:endParaRPr lang="en-US" sz="2600" dirty="0"/>
          </a:p>
        </p:txBody>
      </p:sp>
      <p:sp>
        <p:nvSpPr>
          <p:cNvPr id="27" name="Text 24"/>
          <p:cNvSpPr txBox="1"/>
          <p:nvPr/>
        </p:nvSpPr>
        <p:spPr>
          <a:xfrm>
            <a:off x="3429000" y="5623560"/>
            <a:ext cx="2468880" cy="274320"/>
          </a:xfrm>
          <a:prstGeom prst="rect">
            <a:avLst/>
          </a:prstGeom>
          <a:noFill/>
          <a:ln/>
        </p:spPr>
        <p:txBody>
          <a:bodyPr wrap="square" lIns="0" tIns="0" rIns="0" bIns="0" rtlCol="0" anchor="t"/>
          <a:lstStyle/>
          <a:p>
            <a:pPr algn="ctr" indent="0" marL="0">
              <a:buNone/>
            </a:pPr>
            <a:r>
              <a:rPr lang="en-US" sz="1300" dirty="0">
                <a:solidFill>
                  <a:schemeClr val="tx2"/>
                </a:solidFill>
              </a:rPr>
              <a:t>semilla · Colab GPU</a:t>
            </a:r>
            <a:endParaRPr lang="en-US" sz="1300" dirty="0"/>
          </a:p>
        </p:txBody>
      </p:sp>
      <p:sp>
        <p:nvSpPr>
          <p:cNvPr id="28" name="Shape 25"/>
          <p:cNvSpPr/>
          <p:nvPr/>
        </p:nvSpPr>
        <p:spPr>
          <a:xfrm>
            <a:off x="6126480" y="1371600"/>
            <a:ext cx="5029200" cy="2926080"/>
          </a:xfrm>
          <a:prstGeom prst="roundRect">
            <a:avLst>
              <a:gd name="adj" fmla="val 375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graphicFrame>
        <p:nvGraphicFramePr>
          <p:cNvPr id="29" name="Chart 0" descr=""/>
          <p:cNvGraphicFramePr/>
          <p:nvPr/>
        </p:nvGraphicFramePr>
        <p:xfrm>
          <a:off x="6217920" y="141732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30" name="Shape 26"/>
          <p:cNvSpPr/>
          <p:nvPr/>
        </p:nvSpPr>
        <p:spPr>
          <a:xfrm>
            <a:off x="6126480" y="4526280"/>
            <a:ext cx="5029200" cy="1508760"/>
          </a:xfrm>
          <a:prstGeom prst="roundRect">
            <a:avLst>
              <a:gd name="adj" fmla="val 6061"/>
            </a:avLst>
          </a:prstGeom>
          <a:solidFill>
            <a:schemeClr val="bg2"/>
          </a:solidFill>
          <a:ln w="9525">
            <a:solidFill>
              <a:schemeClr val="accent1"/>
            </a:solidFill>
            <a:prstDash val="solid"/>
          </a:ln>
        </p:spPr>
      </p:sp>
      <p:sp>
        <p:nvSpPr>
          <p:cNvPr id="31" name="Text 27"/>
          <p:cNvSpPr txBox="1"/>
          <p:nvPr/>
        </p:nvSpPr>
        <p:spPr>
          <a:xfrm>
            <a:off x="6355080" y="4617720"/>
            <a:ext cx="4572000" cy="1325880"/>
          </a:xfrm>
          <a:prstGeom prst="rect">
            <a:avLst/>
          </a:prstGeom>
          <a:noFill/>
          <a:ln/>
        </p:spPr>
        <p:txBody>
          <a:bodyPr wrap="square" lIns="0" tIns="0" rIns="0" bIns="0" rtlCol="0" anchor="ctr"/>
          <a:lstStyle/>
          <a:p>
            <a:pPr indent="0" marL="0">
              <a:spcAft>
                <a:spcPts val="400"/>
              </a:spcAft>
              <a:buNone/>
            </a:pPr>
            <a:r>
              <a:rPr lang="en-US" sz="1400" b="1" dirty="0">
                <a:solidFill>
                  <a:schemeClr val="tx1"/>
                </a:solidFill>
              </a:rPr>
              <a:t>Warmup </a:t>
            </a:r>
            <a:pPr indent="0" marL="0">
              <a:spcAft>
                <a:spcPts val="400"/>
              </a:spcAft>
              <a:buNone/>
            </a:pPr>
            <a:r>
              <a:rPr lang="en-US" sz="1400" dirty="0">
                <a:solidFill>
                  <a:schemeClr val="tx1"/>
                </a:solidFill>
              </a:rPr>
              <a:t>al inicio, luego decaimiento hasta ~1 % del lr₀.</a:t>
            </a:r>
            <a:endParaRPr lang="en-US" sz="1400" dirty="0"/>
          </a:p>
          <a:p>
            <a:pPr indent="0" marL="0">
              <a:spcAft>
                <a:spcPts val="400"/>
              </a:spcAft>
              <a:buNone/>
            </a:pPr>
            <a:r>
              <a:rPr lang="en-US" sz="1400" b="1" dirty="0">
                <a:solidFill>
                  <a:schemeClr val="tx1"/>
                </a:solidFill>
              </a:rPr>
              <a:t>Regla base: </a:t>
            </a:r>
            <a:pPr indent="0" marL="0">
              <a:spcAft>
                <a:spcPts val="400"/>
              </a:spcAft>
              <a:buNone/>
            </a:pPr>
            <a:r>
              <a:rPr lang="en-US" sz="1400" dirty="0">
                <a:solidFill>
                  <a:schemeClr val="tx1"/>
                </a:solidFill>
              </a:rPr>
              <a:t>v ← βv + (1−β)∇L ; w ← w − η(v + λw).</a:t>
            </a:r>
            <a:endParaRPr lang="en-US" sz="1400" dirty="0"/>
          </a:p>
          <a:p>
            <a:pPr indent="0" marL="0">
              <a:spcAft>
                <a:spcPts val="400"/>
              </a:spcAft>
              <a:buNone/>
            </a:pPr>
            <a:r>
              <a:rPr lang="en-US" sz="1400" b="1" dirty="0">
                <a:solidFill>
                  <a:schemeClr val="tx1"/>
                </a:solidFill>
              </a:rPr>
              <a:t>Aumento (solo train): </a:t>
            </a:r>
            <a:pPr indent="0" marL="0">
              <a:spcAft>
                <a:spcPts val="400"/>
              </a:spcAft>
              <a:buNone/>
            </a:pPr>
            <a:r>
              <a:rPr lang="en-US" sz="1400" dirty="0">
                <a:solidFill>
                  <a:schemeClr val="tx1"/>
                </a:solidFill>
              </a:rPr>
              <a:t>mosaic, HSV, flip.</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Función de pérdida</a:t>
            </a:r>
            <a:endParaRPr lang="en-US" sz="3000" dirty="0"/>
          </a:p>
        </p:txBody>
      </p:sp>
      <p:sp>
        <p:nvSpPr>
          <p:cNvPr id="4" name="Shape 1"/>
          <p:cNvSpPr/>
          <p:nvPr/>
        </p:nvSpPr>
        <p:spPr>
          <a:xfrm>
            <a:off x="822960" y="1371600"/>
            <a:ext cx="10332720" cy="1371600"/>
          </a:xfrm>
          <a:prstGeom prst="roundRect">
            <a:avLst>
              <a:gd name="adj" fmla="val 8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822960" y="1371600"/>
            <a:ext cx="10332720" cy="1371600"/>
          </a:xfrm>
          <a:prstGeom prst="rect">
            <a:avLst/>
          </a:prstGeom>
          <a:noFill/>
          <a:ln/>
        </p:spPr>
        <p:txBody>
          <a:bodyPr wrap="square" lIns="0" tIns="0" rIns="0" bIns="0" rtlCol="0" anchor="ctr"/>
          <a:lstStyle/>
          <a:p>
            <a:pPr algn="ctr" indent="0" marL="0">
              <a:buNone/>
            </a:pPr>
            <a:r>
              <a:rPr lang="en-US" sz="3800" b="1" dirty="0">
                <a:solidFill>
                  <a:schemeClr val="tx1"/>
                </a:solidFill>
              </a:rPr>
              <a:t>L = </a:t>
            </a:r>
            <a:pPr algn="ctr" indent="0" marL="0">
              <a:buNone/>
            </a:pPr>
            <a:r>
              <a:rPr lang="en-US" sz="3800" b="1" dirty="0">
                <a:solidFill>
                  <a:schemeClr val="tx1"/>
                </a:solidFill>
              </a:rPr>
              <a:t>7.5 · L</a:t>
            </a:r>
            <a:pPr algn="ctr" indent="0" marL="0">
              <a:buNone/>
            </a:pPr>
            <a:r>
              <a:rPr lang="en-US" sz="2400" b="1" baseline="-40000" dirty="0">
                <a:solidFill>
                  <a:schemeClr val="tx1"/>
                </a:solidFill>
              </a:rPr>
              <a:t>CIoU</a:t>
            </a:r>
            <a:pPr algn="ctr" indent="0" marL="0">
              <a:buNone/>
            </a:pPr>
            <a:r>
              <a:rPr lang="en-US" sz="3800" b="1" dirty="0">
                <a:solidFill>
                  <a:schemeClr val="tx1"/>
                </a:solidFill>
              </a:rPr>
              <a:t> + 0.5 · L</a:t>
            </a:r>
            <a:pPr algn="ctr" indent="0" marL="0">
              <a:buNone/>
            </a:pPr>
            <a:r>
              <a:rPr lang="en-US" sz="2400" b="1" baseline="-40000" dirty="0">
                <a:solidFill>
                  <a:schemeClr val="tx1"/>
                </a:solidFill>
              </a:rPr>
              <a:t>BCE</a:t>
            </a:r>
            <a:pPr algn="ctr" indent="0" marL="0">
              <a:buNone/>
            </a:pPr>
            <a:r>
              <a:rPr lang="en-US" sz="3800" b="1" dirty="0">
                <a:solidFill>
                  <a:schemeClr val="tx1"/>
                </a:solidFill>
              </a:rPr>
              <a:t> + 1.5 · L</a:t>
            </a:r>
            <a:pPr algn="ctr" indent="0" marL="0">
              <a:buNone/>
            </a:pPr>
            <a:r>
              <a:rPr lang="en-US" sz="2400" b="1" baseline="-40000" dirty="0">
                <a:solidFill>
                  <a:schemeClr val="tx1"/>
                </a:solidFill>
              </a:rPr>
              <a:t>DFL</a:t>
            </a:r>
            <a:endParaRPr lang="en-US" sz="3800" dirty="0"/>
          </a:p>
        </p:txBody>
      </p:sp>
      <p:sp>
        <p:nvSpPr>
          <p:cNvPr id="6" name="Shape 3"/>
          <p:cNvSpPr/>
          <p:nvPr/>
        </p:nvSpPr>
        <p:spPr>
          <a:xfrm>
            <a:off x="822960" y="3017520"/>
            <a:ext cx="3291840" cy="2743200"/>
          </a:xfrm>
          <a:prstGeom prst="roundRect">
            <a:avLst>
              <a:gd name="adj" fmla="val 4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3154680"/>
            <a:ext cx="3291840" cy="822960"/>
          </a:xfrm>
          <a:prstGeom prst="rect">
            <a:avLst/>
          </a:prstGeom>
          <a:noFill/>
          <a:ln/>
        </p:spPr>
        <p:txBody>
          <a:bodyPr wrap="square" lIns="0" tIns="0" rIns="0" bIns="0" rtlCol="0" anchor="ctr"/>
          <a:lstStyle/>
          <a:p>
            <a:pPr algn="ctr" indent="0" marL="0">
              <a:buNone/>
            </a:pPr>
            <a:r>
              <a:rPr lang="en-US" sz="4800" b="1" dirty="0">
                <a:solidFill>
                  <a:schemeClr val="accent2"/>
                </a:solidFill>
              </a:rPr>
              <a:t>7.5</a:t>
            </a:r>
            <a:endParaRPr lang="en-US" sz="4800" dirty="0"/>
          </a:p>
        </p:txBody>
      </p:sp>
      <p:sp>
        <p:nvSpPr>
          <p:cNvPr id="8" name="Text 5"/>
          <p:cNvSpPr txBox="1"/>
          <p:nvPr/>
        </p:nvSpPr>
        <p:spPr>
          <a:xfrm>
            <a:off x="1005840" y="4023360"/>
            <a:ext cx="2926080" cy="365760"/>
          </a:xfrm>
          <a:prstGeom prst="rect">
            <a:avLst/>
          </a:prstGeom>
          <a:noFill/>
          <a:ln/>
        </p:spPr>
        <p:txBody>
          <a:bodyPr wrap="square" lIns="0" tIns="0" rIns="0" bIns="0" rtlCol="0" anchor="t"/>
          <a:lstStyle/>
          <a:p>
            <a:pPr algn="ctr" indent="0" marL="0">
              <a:buNone/>
            </a:pPr>
            <a:r>
              <a:rPr lang="en-US" sz="1800" b="1" dirty="0">
                <a:solidFill>
                  <a:schemeClr val="tx1"/>
                </a:solidFill>
              </a:rPr>
              <a:t>CIoU · caja</a:t>
            </a:r>
            <a:endParaRPr lang="en-US" sz="1800" dirty="0"/>
          </a:p>
        </p:txBody>
      </p:sp>
      <p:sp>
        <p:nvSpPr>
          <p:cNvPr id="9" name="Text 6"/>
          <p:cNvSpPr txBox="1"/>
          <p:nvPr/>
        </p:nvSpPr>
        <p:spPr>
          <a:xfrm>
            <a:off x="1051560" y="4480560"/>
            <a:ext cx="2834640" cy="1188720"/>
          </a:xfrm>
          <a:prstGeom prst="rect">
            <a:avLst/>
          </a:prstGeom>
          <a:noFill/>
          <a:ln/>
        </p:spPr>
        <p:txBody>
          <a:bodyPr wrap="square" lIns="0" tIns="0" rIns="0" bIns="0" rtlCol="0" anchor="t"/>
          <a:lstStyle/>
          <a:p>
            <a:pPr algn="ctr" indent="0" marL="0">
              <a:buNone/>
            </a:pPr>
            <a:r>
              <a:rPr lang="en-US" sz="1600" dirty="0">
                <a:solidFill>
                  <a:schemeClr val="tx2"/>
                </a:solidFill>
              </a:rPr>
              <a:t>Superposición + distancia entre centros + proporción. Da gradiente aunque las cajas no se toquen.</a:t>
            </a:r>
            <a:endParaRPr lang="en-US" sz="1600" dirty="0"/>
          </a:p>
        </p:txBody>
      </p:sp>
      <p:sp>
        <p:nvSpPr>
          <p:cNvPr id="10" name="Shape 7"/>
          <p:cNvSpPr/>
          <p:nvPr/>
        </p:nvSpPr>
        <p:spPr>
          <a:xfrm>
            <a:off x="4343400" y="3017520"/>
            <a:ext cx="3291840" cy="2743200"/>
          </a:xfrm>
          <a:prstGeom prst="roundRect">
            <a:avLst>
              <a:gd name="adj" fmla="val 4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4343400" y="3154680"/>
            <a:ext cx="3291840" cy="822960"/>
          </a:xfrm>
          <a:prstGeom prst="rect">
            <a:avLst/>
          </a:prstGeom>
          <a:noFill/>
          <a:ln/>
        </p:spPr>
        <p:txBody>
          <a:bodyPr wrap="square" lIns="0" tIns="0" rIns="0" bIns="0" rtlCol="0" anchor="ctr"/>
          <a:lstStyle/>
          <a:p>
            <a:pPr algn="ctr" indent="0" marL="0">
              <a:buNone/>
            </a:pPr>
            <a:r>
              <a:rPr lang="en-US" sz="4800" b="1" dirty="0">
                <a:solidFill>
                  <a:schemeClr val="accent2"/>
                </a:solidFill>
              </a:rPr>
              <a:t>0.5</a:t>
            </a:r>
            <a:endParaRPr lang="en-US" sz="4800" dirty="0"/>
          </a:p>
        </p:txBody>
      </p:sp>
      <p:sp>
        <p:nvSpPr>
          <p:cNvPr id="12" name="Text 9"/>
          <p:cNvSpPr txBox="1"/>
          <p:nvPr/>
        </p:nvSpPr>
        <p:spPr>
          <a:xfrm>
            <a:off x="4526280" y="4023360"/>
            <a:ext cx="2926080" cy="365760"/>
          </a:xfrm>
          <a:prstGeom prst="rect">
            <a:avLst/>
          </a:prstGeom>
          <a:noFill/>
          <a:ln/>
        </p:spPr>
        <p:txBody>
          <a:bodyPr wrap="square" lIns="0" tIns="0" rIns="0" bIns="0" rtlCol="0" anchor="t"/>
          <a:lstStyle/>
          <a:p>
            <a:pPr algn="ctr" indent="0" marL="0">
              <a:buNone/>
            </a:pPr>
            <a:r>
              <a:rPr lang="en-US" sz="1800" b="1" dirty="0">
                <a:solidFill>
                  <a:schemeClr val="tx1"/>
                </a:solidFill>
              </a:rPr>
              <a:t>BCE · clase</a:t>
            </a:r>
            <a:endParaRPr lang="en-US" sz="1800" dirty="0"/>
          </a:p>
        </p:txBody>
      </p:sp>
      <p:sp>
        <p:nvSpPr>
          <p:cNvPr id="13" name="Text 10"/>
          <p:cNvSpPr txBox="1"/>
          <p:nvPr/>
        </p:nvSpPr>
        <p:spPr>
          <a:xfrm>
            <a:off x="4572000" y="4480560"/>
            <a:ext cx="2834640" cy="1188720"/>
          </a:xfrm>
          <a:prstGeom prst="rect">
            <a:avLst/>
          </a:prstGeom>
          <a:noFill/>
          <a:ln/>
        </p:spPr>
        <p:txBody>
          <a:bodyPr wrap="square" lIns="0" tIns="0" rIns="0" bIns="0" rtlCol="0" anchor="t"/>
          <a:lstStyle/>
          <a:p>
            <a:pPr algn="ctr" indent="0" marL="0">
              <a:buNone/>
            </a:pPr>
            <a:r>
              <a:rPr lang="en-US" sz="1600" dirty="0">
                <a:solidFill>
                  <a:schemeClr val="tx2"/>
                </a:solidFill>
              </a:rPr>
              <a:t>Entropía cruzada binaria por clase y por celda: ¿es spaghetti o no?</a:t>
            </a:r>
            <a:endParaRPr lang="en-US" sz="1600" dirty="0"/>
          </a:p>
        </p:txBody>
      </p:sp>
      <p:sp>
        <p:nvSpPr>
          <p:cNvPr id="14" name="Shape 11"/>
          <p:cNvSpPr/>
          <p:nvPr/>
        </p:nvSpPr>
        <p:spPr>
          <a:xfrm>
            <a:off x="7863840" y="3017520"/>
            <a:ext cx="3291840" cy="2743200"/>
          </a:xfrm>
          <a:prstGeom prst="roundRect">
            <a:avLst>
              <a:gd name="adj" fmla="val 4000"/>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5" name="Text 12"/>
          <p:cNvSpPr txBox="1"/>
          <p:nvPr/>
        </p:nvSpPr>
        <p:spPr>
          <a:xfrm>
            <a:off x="7863840" y="3154680"/>
            <a:ext cx="3291840" cy="822960"/>
          </a:xfrm>
          <a:prstGeom prst="rect">
            <a:avLst/>
          </a:prstGeom>
          <a:noFill/>
          <a:ln/>
        </p:spPr>
        <p:txBody>
          <a:bodyPr wrap="square" lIns="0" tIns="0" rIns="0" bIns="0" rtlCol="0" anchor="ctr"/>
          <a:lstStyle/>
          <a:p>
            <a:pPr algn="ctr" indent="0" marL="0">
              <a:buNone/>
            </a:pPr>
            <a:r>
              <a:rPr lang="en-US" sz="4800" b="1" dirty="0">
                <a:solidFill>
                  <a:schemeClr val="accent2"/>
                </a:solidFill>
              </a:rPr>
              <a:t>1.5</a:t>
            </a:r>
            <a:endParaRPr lang="en-US" sz="4800" dirty="0"/>
          </a:p>
        </p:txBody>
      </p:sp>
      <p:sp>
        <p:nvSpPr>
          <p:cNvPr id="16" name="Text 13"/>
          <p:cNvSpPr txBox="1"/>
          <p:nvPr/>
        </p:nvSpPr>
        <p:spPr>
          <a:xfrm>
            <a:off x="8046720" y="4023360"/>
            <a:ext cx="2926080" cy="365760"/>
          </a:xfrm>
          <a:prstGeom prst="rect">
            <a:avLst/>
          </a:prstGeom>
          <a:noFill/>
          <a:ln/>
        </p:spPr>
        <p:txBody>
          <a:bodyPr wrap="square" lIns="0" tIns="0" rIns="0" bIns="0" rtlCol="0" anchor="t"/>
          <a:lstStyle/>
          <a:p>
            <a:pPr algn="ctr" indent="0" marL="0">
              <a:buNone/>
            </a:pPr>
            <a:r>
              <a:rPr lang="en-US" sz="1800" b="1" dirty="0">
                <a:solidFill>
                  <a:schemeClr val="tx1"/>
                </a:solidFill>
              </a:rPr>
              <a:t>DFL · bordes</a:t>
            </a:r>
            <a:endParaRPr lang="en-US" sz="1800" dirty="0"/>
          </a:p>
        </p:txBody>
      </p:sp>
      <p:sp>
        <p:nvSpPr>
          <p:cNvPr id="17" name="Text 14"/>
          <p:cNvSpPr txBox="1"/>
          <p:nvPr/>
        </p:nvSpPr>
        <p:spPr>
          <a:xfrm>
            <a:off x="8092440" y="4480560"/>
            <a:ext cx="2834640" cy="1188720"/>
          </a:xfrm>
          <a:prstGeom prst="rect">
            <a:avLst/>
          </a:prstGeom>
          <a:noFill/>
          <a:ln/>
        </p:spPr>
        <p:txBody>
          <a:bodyPr wrap="square" lIns="0" tIns="0" rIns="0" bIns="0" rtlCol="0" anchor="t"/>
          <a:lstStyle/>
          <a:p>
            <a:pPr algn="ctr" indent="0" marL="0">
              <a:buNone/>
            </a:pPr>
            <a:r>
              <a:rPr lang="en-US" sz="1600" dirty="0">
                <a:solidFill>
                  <a:schemeClr val="tx2"/>
                </a:solidFill>
              </a:rPr>
              <a:t>Afina cada borde como una distribución sobre 16 valores.</a:t>
            </a:r>
            <a:endParaRPr lang="en-US" sz="1600" dirty="0"/>
          </a:p>
        </p:txBody>
      </p:sp>
      <p:sp>
        <p:nvSpPr>
          <p:cNvPr id="18" name="Text 15"/>
          <p:cNvSpPr txBox="1"/>
          <p:nvPr/>
        </p:nvSpPr>
        <p:spPr>
          <a:xfrm>
            <a:off x="822960" y="5897880"/>
            <a:ext cx="10332720" cy="320040"/>
          </a:xfrm>
          <a:prstGeom prst="rect">
            <a:avLst/>
          </a:prstGeom>
          <a:noFill/>
          <a:ln/>
        </p:spPr>
        <p:txBody>
          <a:bodyPr wrap="square" lIns="0" tIns="0" rIns="0" bIns="0" rtlCol="0" anchor="t"/>
          <a:lstStyle/>
          <a:p>
            <a:pPr indent="0" marL="0">
              <a:buNone/>
            </a:pPr>
            <a:r>
              <a:rPr lang="en-US" sz="1300" dirty="0">
                <a:solidFill>
                  <a:schemeClr val="tx2"/>
                </a:solidFill>
              </a:rPr>
              <a:t>La caja pesa más porque localizar con precisión es más difícil que clasificar.</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Curvas de entrenamiento</a:t>
            </a:r>
            <a:endParaRPr lang="en-US" sz="3000" dirty="0"/>
          </a:p>
        </p:txBody>
      </p:sp>
      <p:sp>
        <p:nvSpPr>
          <p:cNvPr id="4" name="Shape 1"/>
          <p:cNvSpPr/>
          <p:nvPr/>
        </p:nvSpPr>
        <p:spPr>
          <a:xfrm>
            <a:off x="822960" y="1371600"/>
            <a:ext cx="5029200" cy="3291840"/>
          </a:xfrm>
          <a:prstGeom prst="roundRect">
            <a:avLst>
              <a:gd name="adj" fmla="val 3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graphicFrame>
        <p:nvGraphicFramePr>
          <p:cNvPr id="5" name="Chart 0" descr=""/>
          <p:cNvGraphicFramePr/>
          <p:nvPr/>
        </p:nvGraphicFramePr>
        <p:xfrm>
          <a:off x="914400" y="141732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6126480" y="1371600"/>
            <a:ext cx="5029200" cy="3291840"/>
          </a:xfrm>
          <a:prstGeom prst="roundRect">
            <a:avLst>
              <a:gd name="adj" fmla="val 3333"/>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graphicFrame>
        <p:nvGraphicFramePr>
          <p:cNvPr id="7" name="Chart 1" descr=""/>
          <p:cNvGraphicFramePr/>
          <p:nvPr/>
        </p:nvGraphicFramePr>
        <p:xfrm>
          <a:off x="6217920" y="1417320"/>
          <a:ext cx="4846320" cy="3200400"/>
        </p:xfrm>
        <a:graphic xmlns:a="http://schemas.openxmlformats.org/drawingml/2006/main">
          <a:graphicData uri="http://schemas.openxmlformats.org/drawingml/2006/chart">
            <c:chart xmlns:c="http://schemas.openxmlformats.org/drawingml/2006/chart" r:id="rId2"/>
          </a:graphicData>
        </a:graphic>
      </p:graphicFrame>
      <p:sp>
        <p:nvSpPr>
          <p:cNvPr id="8" name="Shape 3"/>
          <p:cNvSpPr/>
          <p:nvPr/>
        </p:nvSpPr>
        <p:spPr>
          <a:xfrm>
            <a:off x="822960" y="4892040"/>
            <a:ext cx="3291840" cy="1188720"/>
          </a:xfrm>
          <a:prstGeom prst="roundRect">
            <a:avLst>
              <a:gd name="adj" fmla="val 7692"/>
            </a:avLst>
          </a:prstGeom>
          <a:solidFill>
            <a:schemeClr val="bg2"/>
          </a:solidFill>
          <a:ln w="9525">
            <a:solidFill>
              <a:schemeClr val="accent1"/>
            </a:solidFill>
            <a:prstDash val="solid"/>
          </a:ln>
        </p:spPr>
      </p:sp>
      <p:sp>
        <p:nvSpPr>
          <p:cNvPr id="9" name="Text 4"/>
          <p:cNvSpPr txBox="1"/>
          <p:nvPr/>
        </p:nvSpPr>
        <p:spPr>
          <a:xfrm>
            <a:off x="1005840" y="4937760"/>
            <a:ext cx="2926080" cy="1097280"/>
          </a:xfrm>
          <a:prstGeom prst="rect">
            <a:avLst/>
          </a:prstGeom>
          <a:noFill/>
          <a:ln/>
        </p:spPr>
        <p:txBody>
          <a:bodyPr wrap="square" lIns="0" tIns="0" rIns="0" bIns="0" rtlCol="0" anchor="ctr"/>
          <a:lstStyle/>
          <a:p>
            <a:pPr indent="0" marL="0">
              <a:spcAft>
                <a:spcPts val="300"/>
              </a:spcAft>
              <a:buNone/>
            </a:pPr>
            <a:r>
              <a:rPr lang="en-US" sz="1600" b="1" dirty="0">
                <a:solidFill>
                  <a:schemeClr val="tx1"/>
                </a:solidFill>
              </a:rPr>
              <a:t>Sano</a:t>
            </a:r>
            <a:endParaRPr lang="en-US" sz="1400" dirty="0"/>
          </a:p>
          <a:p>
            <a:pPr indent="0" marL="0">
              <a:spcAft>
                <a:spcPts val="300"/>
              </a:spcAft>
              <a:buNone/>
            </a:pPr>
            <a:r>
              <a:rPr lang="en-US" sz="1400" dirty="0">
                <a:solidFill>
                  <a:schemeClr val="tx2"/>
                </a:solidFill>
              </a:rPr>
              <a:t>Train y validación bajan juntas.</a:t>
            </a:r>
            <a:endParaRPr lang="en-US" sz="1400" dirty="0"/>
          </a:p>
        </p:txBody>
      </p:sp>
      <p:sp>
        <p:nvSpPr>
          <p:cNvPr id="10" name="Shape 5"/>
          <p:cNvSpPr/>
          <p:nvPr/>
        </p:nvSpPr>
        <p:spPr>
          <a:xfrm>
            <a:off x="4343400" y="4892040"/>
            <a:ext cx="3291840" cy="1188720"/>
          </a:xfrm>
          <a:prstGeom prst="roundRect">
            <a:avLst>
              <a:gd name="adj" fmla="val 7692"/>
            </a:avLst>
          </a:prstGeom>
          <a:solidFill>
            <a:schemeClr val="bg2"/>
          </a:solidFill>
          <a:ln w="9525">
            <a:solidFill>
              <a:schemeClr val="accent1"/>
            </a:solidFill>
            <a:prstDash val="solid"/>
          </a:ln>
        </p:spPr>
      </p:sp>
      <p:sp>
        <p:nvSpPr>
          <p:cNvPr id="11" name="Text 6"/>
          <p:cNvSpPr txBox="1"/>
          <p:nvPr/>
        </p:nvSpPr>
        <p:spPr>
          <a:xfrm>
            <a:off x="4526280" y="4937760"/>
            <a:ext cx="2926080" cy="1097280"/>
          </a:xfrm>
          <a:prstGeom prst="rect">
            <a:avLst/>
          </a:prstGeom>
          <a:noFill/>
          <a:ln/>
        </p:spPr>
        <p:txBody>
          <a:bodyPr wrap="square" lIns="0" tIns="0" rIns="0" bIns="0" rtlCol="0" anchor="ctr"/>
          <a:lstStyle/>
          <a:p>
            <a:pPr indent="0" marL="0">
              <a:spcAft>
                <a:spcPts val="300"/>
              </a:spcAft>
              <a:buNone/>
            </a:pPr>
            <a:r>
              <a:rPr lang="en-US" sz="1600" b="1" dirty="0">
                <a:solidFill>
                  <a:schemeClr val="tx1"/>
                </a:solidFill>
              </a:rPr>
              <a:t>Overfitting</a:t>
            </a:r>
            <a:endParaRPr lang="en-US" sz="1400" dirty="0"/>
          </a:p>
          <a:p>
            <a:pPr indent="0" marL="0">
              <a:spcAft>
                <a:spcPts val="300"/>
              </a:spcAft>
              <a:buNone/>
            </a:pPr>
            <a:r>
              <a:rPr lang="en-US" sz="1400" dirty="0">
                <a:solidFill>
                  <a:schemeClr val="tx2"/>
                </a:solidFill>
              </a:rPr>
              <a:t>Validación se aplana o sube; la brecha crece. Patience corta ahí.</a:t>
            </a:r>
            <a:endParaRPr lang="en-US" sz="1400" dirty="0"/>
          </a:p>
        </p:txBody>
      </p:sp>
      <p:sp>
        <p:nvSpPr>
          <p:cNvPr id="12" name="Shape 7"/>
          <p:cNvSpPr/>
          <p:nvPr/>
        </p:nvSpPr>
        <p:spPr>
          <a:xfrm>
            <a:off x="7863840" y="4892040"/>
            <a:ext cx="3291840" cy="1188720"/>
          </a:xfrm>
          <a:prstGeom prst="roundRect">
            <a:avLst>
              <a:gd name="adj" fmla="val 7692"/>
            </a:avLst>
          </a:prstGeom>
          <a:solidFill>
            <a:schemeClr val="bg2"/>
          </a:solidFill>
          <a:ln w="9525">
            <a:solidFill>
              <a:schemeClr val="accent1"/>
            </a:solidFill>
            <a:prstDash val="solid"/>
          </a:ln>
        </p:spPr>
      </p:sp>
      <p:sp>
        <p:nvSpPr>
          <p:cNvPr id="13" name="Text 8"/>
          <p:cNvSpPr txBox="1"/>
          <p:nvPr/>
        </p:nvSpPr>
        <p:spPr>
          <a:xfrm>
            <a:off x="8046720" y="4937760"/>
            <a:ext cx="2926080" cy="1097280"/>
          </a:xfrm>
          <a:prstGeom prst="rect">
            <a:avLst/>
          </a:prstGeom>
          <a:noFill/>
          <a:ln/>
        </p:spPr>
        <p:txBody>
          <a:bodyPr wrap="square" lIns="0" tIns="0" rIns="0" bIns="0" rtlCol="0" anchor="ctr"/>
          <a:lstStyle/>
          <a:p>
            <a:pPr indent="0" marL="0">
              <a:spcAft>
                <a:spcPts val="300"/>
              </a:spcAft>
              <a:buNone/>
            </a:pPr>
            <a:r>
              <a:rPr lang="en-US" sz="1600" b="1" dirty="0">
                <a:solidFill>
                  <a:schemeClr val="tx1"/>
                </a:solidFill>
              </a:rPr>
              <a:t>Checkpoint</a:t>
            </a:r>
            <a:endParaRPr lang="en-US" sz="1400" dirty="0"/>
          </a:p>
          <a:p>
            <a:pPr indent="0" marL="0">
              <a:spcAft>
                <a:spcPts val="300"/>
              </a:spcAft>
              <a:buNone/>
            </a:pPr>
            <a:r>
              <a:rPr lang="en-US" sz="1400" dirty="0">
                <a:solidFill>
                  <a:schemeClr val="tx2"/>
                </a:solidFill>
              </a:rPr>
              <a:t>Se conserva el mejor, no el de la última época.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1600200" y="182880"/>
            <a:ext cx="7863840" cy="777240"/>
          </a:xfrm>
          <a:prstGeom prst="rect">
            <a:avLst/>
          </a:prstGeom>
          <a:noFill/>
          <a:ln/>
        </p:spPr>
        <p:txBody>
          <a:bodyPr wrap="square" lIns="0" tIns="0" rIns="0" bIns="0" rtlCol="0" anchor="ctr"/>
          <a:lstStyle/>
          <a:p>
            <a:pPr algn="l" indent="0" marL="0">
              <a:buNone/>
            </a:pPr>
            <a:r>
              <a:rPr lang="en-US" sz="3000" b="1" dirty="0">
                <a:solidFill>
                  <a:schemeClr val="tx1"/>
                </a:solidFill>
              </a:rPr>
              <a:t>Resultados y límites del modelo</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5303520" cy="914400"/>
        </p:xfrm>
        <a:graphic>
          <a:graphicData uri="http://schemas.openxmlformats.org/drawingml/2006/table">
            <a:tbl>
              <a:tblPr/>
              <a:tblGrid>
                <a:gridCol w="2743200"/>
                <a:gridCol w="1280160"/>
                <a:gridCol w="1280160"/>
              </a:tblGrid>
              <a:tr h="457200">
                <a:tc>
                  <a:txBody>
                    <a:bodyPr/>
                    <a:lstStyle/>
                    <a:p>
                      <a:pPr indent="0" marL="0">
                        <a:buNone/>
                      </a:pPr>
                      <a:r>
                        <a:rPr lang="en-US" sz="1400" b="1" dirty="0">
                          <a:solidFill>
                            <a:schemeClr val="bg1"/>
                          </a:solidFill>
                        </a:rPr>
                        <a:t>Clase</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accent2"/>
                    </a:solidFill>
                  </a:tcPr>
                </a:tc>
                <a:tc>
                  <a:txBody>
                    <a:bodyPr/>
                    <a:lstStyle/>
                    <a:p>
                      <a:pPr algn="ctr" indent="0" marL="0">
                        <a:buNone/>
                      </a:pPr>
                      <a:r>
                        <a:rPr lang="en-US" sz="1400" b="1" dirty="0">
                          <a:solidFill>
                            <a:schemeClr val="bg1"/>
                          </a:solidFill>
                        </a:rPr>
                        <a:t>Precisión</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accent2"/>
                    </a:solidFill>
                  </a:tcPr>
                </a:tc>
                <a:tc>
                  <a:txBody>
                    <a:bodyPr/>
                    <a:lstStyle/>
                    <a:p>
                      <a:pPr algn="ctr" indent="0" marL="0">
                        <a:buNone/>
                      </a:pPr>
                      <a:r>
                        <a:rPr lang="en-US" sz="1400" b="1" dirty="0">
                          <a:solidFill>
                            <a:schemeClr val="bg1"/>
                          </a:solidFill>
                        </a:rPr>
                        <a:t>Recall</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accent2"/>
                    </a:solidFill>
                  </a:tcPr>
                </a:tc>
              </a:tr>
              <a:tr h="457200">
                <a:tc>
                  <a:txBody>
                    <a:bodyPr/>
                    <a:lstStyle/>
                    <a:p>
                      <a:pPr indent="0" marL="0">
                        <a:buNone/>
                      </a:pPr>
                      <a:r>
                        <a:rPr lang="en-US" sz="1400" dirty="0">
                          <a:solidFill>
                            <a:schemeClr val="tx1"/>
                          </a:solidFill>
                        </a:rPr>
                        <a:t>General (¿hay defecto?)</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0.997</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0.921</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spaghetti</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0.963</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0.975</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warping</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0.988</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0.988</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stringing</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0.977</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0.959</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dirty="0">
                          <a:solidFill>
                            <a:schemeClr val="tx1"/>
                          </a:solidFill>
                        </a:rPr>
                        <a:t>layer_shift</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1.000</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rPr>
                        <a:t>1.000</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accent5"/>
                          </a:solidFill>
                        </a:rPr>
                        <a:t>under_extrusion</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0.919</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0.685</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accent5"/>
                          </a:solidFill>
                        </a:rPr>
                        <a:t>blob_over_extrusion</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0.562</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5"/>
                          </a:solidFill>
                        </a:rPr>
                        <a:t>0.529</a:t>
                      </a:r>
                      <a:endParaRPr lang="en-US" sz="1400" dirty="0"/>
                    </a:p>
                  </a:txBody>
                  <a:tcPr marL="91440" marR="91440" marT="45720" marB="45720" anchor="ctr">
                    <a:lnL w="9525" cap="flat" cmpd="sng" algn="ctr">
                      <a:solidFill>
                        <a:srgbClr val="D0D8DC"/>
                      </a:solidFill>
                      <a:prstDash val="solid"/>
                      <a:round/>
                      <a:headEnd type="none" w="med" len="med"/>
                      <a:tailEnd type="none" w="med" len="med"/>
                    </a:lnL>
                    <a:lnR w="9525" cap="flat" cmpd="sng" algn="ctr">
                      <a:solidFill>
                        <a:srgbClr val="D0D8DC"/>
                      </a:solidFill>
                      <a:prstDash val="solid"/>
                      <a:round/>
                      <a:headEnd type="none" w="med" len="med"/>
                      <a:tailEnd type="none" w="med" len="med"/>
                    </a:lnR>
                    <a:lnT w="9525" cap="flat" cmpd="sng" algn="ctr">
                      <a:solidFill>
                        <a:srgbClr val="D0D8DC"/>
                      </a:solidFill>
                      <a:prstDash val="solid"/>
                      <a:round/>
                      <a:headEnd type="none" w="med" len="med"/>
                      <a:tailEnd type="none" w="med" len="med"/>
                    </a:lnT>
                    <a:lnB w="9525" cap="flat" cmpd="sng" algn="ctr">
                      <a:solidFill>
                        <a:srgbClr val="D0D8DC"/>
                      </a:solidFill>
                      <a:prstDash val="solid"/>
                      <a:round/>
                      <a:headEnd type="none" w="med" len="med"/>
                      <a:tailEnd type="none" w="med" len="med"/>
                    </a:lnB>
                    <a:solidFill>
                      <a:schemeClr val="bg1"/>
                    </a:solidFill>
                  </a:tcPr>
                </a:tc>
              </a:tr>
            </a:tbl>
          </a:graphicData>
        </a:graphic>
      </p:graphicFrame>
      <p:sp>
        <p:nvSpPr>
          <p:cNvPr id="5" name="Text 1"/>
          <p:cNvSpPr txBox="1"/>
          <p:nvPr/>
        </p:nvSpPr>
        <p:spPr>
          <a:xfrm>
            <a:off x="822960" y="5120640"/>
            <a:ext cx="5303520" cy="320040"/>
          </a:xfrm>
          <a:prstGeom prst="rect">
            <a:avLst/>
          </a:prstGeom>
          <a:noFill/>
          <a:ln/>
        </p:spPr>
        <p:txBody>
          <a:bodyPr wrap="square" lIns="0" tIns="0" rIns="0" bIns="0" rtlCol="0" anchor="t"/>
          <a:lstStyle/>
          <a:p>
            <a:pPr indent="0" marL="0">
              <a:buNone/>
            </a:pPr>
            <a:r>
              <a:rPr lang="en-US" sz="1200" dirty="0">
                <a:solidFill>
                  <a:schemeClr val="tx2"/>
                </a:solidFill>
              </a:rPr>
              <a:t>841 imágenes de prueba · umbral 0.25 · nivel imagen</a:t>
            </a:r>
            <a:endParaRPr lang="en-US" sz="1200" dirty="0"/>
          </a:p>
        </p:txBody>
      </p:sp>
      <p:sp>
        <p:nvSpPr>
          <p:cNvPr id="6" name="Shape 2"/>
          <p:cNvSpPr/>
          <p:nvPr/>
        </p:nvSpPr>
        <p:spPr>
          <a:xfrm>
            <a:off x="6400800" y="1371600"/>
            <a:ext cx="475488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7" name="Text 3"/>
          <p:cNvSpPr txBox="1"/>
          <p:nvPr/>
        </p:nvSpPr>
        <p:spPr>
          <a:xfrm>
            <a:off x="6675120" y="1508760"/>
            <a:ext cx="4297680" cy="365760"/>
          </a:xfrm>
          <a:prstGeom prst="rect">
            <a:avLst/>
          </a:prstGeom>
          <a:noFill/>
          <a:ln/>
        </p:spPr>
        <p:txBody>
          <a:bodyPr wrap="square" lIns="0" tIns="0" rIns="0" bIns="0" rtlCol="0" anchor="t"/>
          <a:lstStyle/>
          <a:p>
            <a:pPr indent="0" marL="0">
              <a:buNone/>
            </a:pPr>
            <a:r>
              <a:rPr lang="en-US" sz="1800" b="1" dirty="0">
                <a:solidFill>
                  <a:schemeClr val="accent5"/>
                </a:solidFill>
              </a:rPr>
              <a:t>Fotos de Roboflow</a:t>
            </a:r>
            <a:endParaRPr lang="en-US" sz="1800" dirty="0"/>
          </a:p>
        </p:txBody>
      </p:sp>
      <p:sp>
        <p:nvSpPr>
          <p:cNvPr id="8" name="Text 4"/>
          <p:cNvSpPr txBox="1"/>
          <p:nvPr/>
        </p:nvSpPr>
        <p:spPr>
          <a:xfrm>
            <a:off x="6675120" y="1938528"/>
            <a:ext cx="4297680" cy="777240"/>
          </a:xfrm>
          <a:prstGeom prst="rect">
            <a:avLst/>
          </a:prstGeom>
          <a:noFill/>
          <a:ln/>
        </p:spPr>
        <p:txBody>
          <a:bodyPr wrap="square" lIns="0" tIns="0" rIns="0" bIns="0" rtlCol="0" anchor="t"/>
          <a:lstStyle/>
          <a:p>
            <a:pPr indent="0" marL="0">
              <a:buNone/>
            </a:pPr>
            <a:r>
              <a:rPr lang="en-US" sz="1600" dirty="0">
                <a:solidFill>
                  <a:schemeClr val="tx2"/>
                </a:solidFill>
              </a:rPr>
              <a:t>No se midió con nuestra cámara ni con spaghetti real.</a:t>
            </a:r>
            <a:endParaRPr lang="en-US" sz="1600" dirty="0"/>
          </a:p>
        </p:txBody>
      </p:sp>
      <p:sp>
        <p:nvSpPr>
          <p:cNvPr id="9" name="Shape 5"/>
          <p:cNvSpPr/>
          <p:nvPr/>
        </p:nvSpPr>
        <p:spPr>
          <a:xfrm>
            <a:off x="6400800" y="2926080"/>
            <a:ext cx="475488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0" name="Text 6"/>
          <p:cNvSpPr txBox="1"/>
          <p:nvPr/>
        </p:nvSpPr>
        <p:spPr>
          <a:xfrm>
            <a:off x="6675120" y="3063240"/>
            <a:ext cx="4297680" cy="365760"/>
          </a:xfrm>
          <a:prstGeom prst="rect">
            <a:avLst/>
          </a:prstGeom>
          <a:noFill/>
          <a:ln/>
        </p:spPr>
        <p:txBody>
          <a:bodyPr wrap="square" lIns="0" tIns="0" rIns="0" bIns="0" rtlCol="0" anchor="t"/>
          <a:lstStyle/>
          <a:p>
            <a:pPr indent="0" marL="0">
              <a:buNone/>
            </a:pPr>
            <a:r>
              <a:rPr lang="en-US" sz="1800" b="1" dirty="0">
                <a:solidFill>
                  <a:schemeClr val="accent5"/>
                </a:solidFill>
              </a:rPr>
              <a:t>Enredo pequeño</a:t>
            </a:r>
            <a:endParaRPr lang="en-US" sz="1800" dirty="0"/>
          </a:p>
        </p:txBody>
      </p:sp>
      <p:sp>
        <p:nvSpPr>
          <p:cNvPr id="11" name="Text 7"/>
          <p:cNvSpPr txBox="1"/>
          <p:nvPr/>
        </p:nvSpPr>
        <p:spPr>
          <a:xfrm>
            <a:off x="6675120" y="3493008"/>
            <a:ext cx="4297680" cy="777240"/>
          </a:xfrm>
          <a:prstGeom prst="rect">
            <a:avLst/>
          </a:prstGeom>
          <a:noFill/>
          <a:ln/>
        </p:spPr>
        <p:txBody>
          <a:bodyPr wrap="square" lIns="0" tIns="0" rIns="0" bIns="0" rtlCol="0" anchor="t"/>
          <a:lstStyle/>
          <a:p>
            <a:pPr indent="0" marL="0">
              <a:buNone/>
            </a:pPr>
            <a:r>
              <a:rPr lang="en-US" sz="1600" dirty="0">
                <a:solidFill>
                  <a:schemeClr val="tx2"/>
                </a:solidFill>
              </a:rPr>
              <a:t>Ocupa 0.22 % de la imagen y no se detecta; el grande pasa por 0.07.</a:t>
            </a:r>
            <a:endParaRPr lang="en-US" sz="1600" dirty="0"/>
          </a:p>
        </p:txBody>
      </p:sp>
      <p:sp>
        <p:nvSpPr>
          <p:cNvPr id="12" name="Shape 8"/>
          <p:cNvSpPr/>
          <p:nvPr/>
        </p:nvSpPr>
        <p:spPr>
          <a:xfrm>
            <a:off x="6400800" y="4480560"/>
            <a:ext cx="4754880" cy="1417320"/>
          </a:xfrm>
          <a:prstGeom prst="roundRect">
            <a:avLst>
              <a:gd name="adj" fmla="val 7742"/>
            </a:avLst>
          </a:prstGeom>
          <a:solidFill>
            <a:schemeClr val="bg1"/>
          </a:solidFill>
          <a:ln w="15875">
            <a:solidFill>
              <a:schemeClr val="accent1"/>
            </a:solidFill>
            <a:prstDash val="solid"/>
          </a:ln>
          <a:effectLst>
            <a:outerShdw sx="100000" sy="100000" kx="0" ky="0" algn="bl" rotWithShape="0" blurRad="76200" dist="25400" dir="5400000">
              <a:srgbClr val="000000">
                <a:alpha val="12000"/>
              </a:srgbClr>
            </a:outerShdw>
          </a:effectLst>
        </p:spPr>
      </p:sp>
      <p:sp>
        <p:nvSpPr>
          <p:cNvPr id="13" name="Text 9"/>
          <p:cNvSpPr txBox="1"/>
          <p:nvPr/>
        </p:nvSpPr>
        <p:spPr>
          <a:xfrm>
            <a:off x="6675120" y="4617720"/>
            <a:ext cx="4297680" cy="365760"/>
          </a:xfrm>
          <a:prstGeom prst="rect">
            <a:avLst/>
          </a:prstGeom>
          <a:noFill/>
          <a:ln/>
        </p:spPr>
        <p:txBody>
          <a:bodyPr wrap="square" lIns="0" tIns="0" rIns="0" bIns="0" rtlCol="0" anchor="t"/>
          <a:lstStyle/>
          <a:p>
            <a:pPr indent="0" marL="0">
              <a:buNone/>
            </a:pPr>
            <a:r>
              <a:rPr lang="en-US" sz="1800" b="1" dirty="0">
                <a:solidFill>
                  <a:schemeClr val="accent5"/>
                </a:solidFill>
              </a:rPr>
              <a:t>Clases débiles</a:t>
            </a:r>
            <a:endParaRPr lang="en-US" sz="1800" dirty="0"/>
          </a:p>
        </p:txBody>
      </p:sp>
      <p:sp>
        <p:nvSpPr>
          <p:cNvPr id="14" name="Text 10"/>
          <p:cNvSpPr txBox="1"/>
          <p:nvPr/>
        </p:nvSpPr>
        <p:spPr>
          <a:xfrm>
            <a:off x="6675120" y="5047488"/>
            <a:ext cx="4297680" cy="777240"/>
          </a:xfrm>
          <a:prstGeom prst="rect">
            <a:avLst/>
          </a:prstGeom>
          <a:noFill/>
          <a:ln/>
        </p:spPr>
        <p:txBody>
          <a:bodyPr wrap="square" lIns="0" tIns="0" rIns="0" bIns="0" rtlCol="0" anchor="t"/>
          <a:lstStyle/>
          <a:p>
            <a:pPr indent="0" marL="0">
              <a:buNone/>
            </a:pPr>
            <a:r>
              <a:rPr lang="en-US" sz="1600" dirty="0">
                <a:solidFill>
                  <a:schemeClr val="tx2"/>
                </a:solidFill>
              </a:rPr>
              <a:t>under_extrusion pierde 1 de cada 3 y blob_over_extrusion solo informa.</a:t>
            </a:r>
            <a:endParaRPr lang="en-US" sz="1600" dirty="0"/>
          </a:p>
        </p:txBody>
      </p:sp>
    </p:spTree>
  </p:cSld>
  <p:clrMapOvr>
    <a:masterClrMapping/>
  </p:clrMapOvr>
</p:sld>
</file>

<file path=ppt/theme/theme1.xml><?xml version="1.0" encoding="utf-8"?>
<a:theme xmlns:a="http://schemas.openxmlformats.org/drawingml/2006/main" name="PrintWatch UIS">
  <a:themeElements>
    <a:clrScheme name="PrintWatch UIS">
      <a:dk1>
        <a:srgbClr val="26343C"/>
      </a:dk1>
      <a:lt1>
        <a:srgbClr val="FFFFFF"/>
      </a:lt1>
      <a:dk2>
        <a:srgbClr val="5F6F77"/>
      </a:dk2>
      <a:lt2>
        <a:srgbClr val="F4F8EC"/>
      </a:lt2>
      <a:accent1>
        <a:srgbClr val="95C12E"/>
      </a:accent1>
      <a:accent2>
        <a:srgbClr val="5B8A0A"/>
      </a:accent2>
      <a:accent3>
        <a:srgbClr val="2E8B9A"/>
      </a:accent3>
      <a:accent4>
        <a:srgbClr val="46586A"/>
      </a:accent4>
      <a:accent5>
        <a:srgbClr val="C96A00"/>
      </a:accent5>
      <a:accent6>
        <a:srgbClr val="E3E9EC"/>
      </a:accent6>
      <a:hlink>
        <a:srgbClr val="2E8B9A"/>
      </a:hlink>
      <a:folHlink>
        <a:srgbClr val="5F6F77"/>
      </a:folHlink>
    </a:clrScheme>
    <a:fontScheme name="PrintWatch UI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PrintWatch: YOLO11 y detección de objetos</dc:title>
  <dc:subject>PptxGenJS Presentation</dc:subject>
  <dc:creator>Samuel Esteban Rodríguez Marín, Adrian Stiven Meneses Ávila</dc:creator>
  <cp:lastModifiedBy>Samuel Esteban Rodríguez Marín, Adrian Stiven Meneses Ávila</cp:lastModifiedBy>
  <cp:revision>1</cp:revision>
  <dcterms:created xsi:type="dcterms:W3CDTF">2026-10-27T03:21:00Z</dcterms:created>
  <dcterms:modified xsi:type="dcterms:W3CDTF">2026-10-27T03:21:00Z</dcterms:modified>
</cp:coreProperties>
</file>